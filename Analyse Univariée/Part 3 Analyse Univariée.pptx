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317" r:id="rId2"/>
    <p:sldId id="325" r:id="rId3"/>
    <p:sldId id="386" r:id="rId4"/>
    <p:sldId id="326" r:id="rId5"/>
    <p:sldId id="339" r:id="rId6"/>
    <p:sldId id="347" r:id="rId7"/>
    <p:sldId id="387" r:id="rId8"/>
    <p:sldId id="352" r:id="rId9"/>
    <p:sldId id="349" r:id="rId10"/>
    <p:sldId id="351" r:id="rId11"/>
    <p:sldId id="330" r:id="rId12"/>
    <p:sldId id="327" r:id="rId13"/>
    <p:sldId id="340" r:id="rId14"/>
    <p:sldId id="355" r:id="rId15"/>
    <p:sldId id="381" r:id="rId16"/>
    <p:sldId id="357" r:id="rId17"/>
    <p:sldId id="359" r:id="rId18"/>
    <p:sldId id="361" r:id="rId19"/>
    <p:sldId id="337" r:id="rId20"/>
    <p:sldId id="328" r:id="rId21"/>
    <p:sldId id="329" r:id="rId22"/>
    <p:sldId id="388" r:id="rId23"/>
    <p:sldId id="353" r:id="rId24"/>
    <p:sldId id="331" r:id="rId25"/>
    <p:sldId id="382" r:id="rId26"/>
    <p:sldId id="363" r:id="rId27"/>
    <p:sldId id="365" r:id="rId28"/>
    <p:sldId id="332" r:id="rId29"/>
    <p:sldId id="389" r:id="rId30"/>
    <p:sldId id="366" r:id="rId31"/>
    <p:sldId id="367" r:id="rId32"/>
    <p:sldId id="371" r:id="rId33"/>
    <p:sldId id="373" r:id="rId34"/>
    <p:sldId id="375" r:id="rId35"/>
    <p:sldId id="377" r:id="rId36"/>
    <p:sldId id="390" r:id="rId37"/>
    <p:sldId id="333" r:id="rId38"/>
    <p:sldId id="384" r:id="rId39"/>
    <p:sldId id="385" r:id="rId40"/>
    <p:sldId id="343" r:id="rId41"/>
    <p:sldId id="338" r:id="rId42"/>
    <p:sldId id="378" r:id="rId43"/>
    <p:sldId id="383" r:id="rId44"/>
    <p:sldId id="379" r:id="rId45"/>
    <p:sldId id="380" r:id="rId46"/>
    <p:sldId id="335" r:id="rId4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1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38FC5-401D-40EE-880A-C1A97711E78B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66857-EDB0-4F4D-9E72-3D6EC927A2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129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103594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2753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4661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0443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2856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86743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6301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65158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5138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3106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7529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557A5-E921-469F-9E6D-34D0ABD122C2}" type="datetimeFigureOut">
              <a:rPr lang="fr-FR" smtClean="0"/>
              <a:t>10/10/2020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A0794-D091-452B-ADAE-6755AFAE202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lloprof.qc.ca/BV/Pages/m1353.asp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1.png"/><Relationship Id="rId4" Type="http://schemas.openxmlformats.org/officeDocument/2006/relationships/package" Target="../embeddings/Microsoft_Word_Document1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486862" y="1674033"/>
            <a:ext cx="8458200" cy="2160240"/>
          </a:xfrm>
        </p:spPr>
        <p:txBody>
          <a:bodyPr>
            <a:noAutofit/>
          </a:bodyPr>
          <a:lstStyle/>
          <a:p>
            <a:pPr marL="857250" indent="-857250"/>
            <a:r>
              <a:rPr lang="fr-FR" sz="8000" dirty="0">
                <a:latin typeface="Times New Roman" pitchFamily="18" charset="0"/>
                <a:cs typeface="Times New Roman" pitchFamily="18" charset="0"/>
              </a:rPr>
              <a:t>Analyse Statistique Univariée</a:t>
            </a:r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4944914" y="4149077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4 ERP-BI</a:t>
            </a:r>
            <a:endParaRPr lang="fr-FR" sz="2400" dirty="0"/>
          </a:p>
        </p:txBody>
      </p:sp>
      <p:sp>
        <p:nvSpPr>
          <p:cNvPr id="7" name="ZoneTexte 6"/>
          <p:cNvSpPr txBox="1"/>
          <p:nvPr/>
        </p:nvSpPr>
        <p:spPr>
          <a:xfrm>
            <a:off x="6816080" y="6488668"/>
            <a:ext cx="3851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Année universitaire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2020/2021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 9" descr="logo-esprit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62" y="609895"/>
            <a:ext cx="1870710" cy="6007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25076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0"/>
            <a:ext cx="10515600" cy="1325563"/>
          </a:xfrm>
        </p:spPr>
        <p:txBody>
          <a:bodyPr/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Principe de l’analyse univariée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879" y="1262129"/>
            <a:ext cx="10515600" cy="469589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sz="3400" dirty="0"/>
              <a:t>L'analyse univariée permet de mieux appréhender une variable. Elle comporte quatre étapes :</a:t>
            </a:r>
          </a:p>
          <a:p>
            <a:pPr marL="0" indent="0">
              <a:buNone/>
            </a:pPr>
            <a:endParaRPr lang="fr-FR" sz="3400" dirty="0"/>
          </a:p>
          <a:p>
            <a:pPr marL="0" indent="0">
              <a:buNone/>
            </a:pPr>
            <a:r>
              <a:rPr lang="fr-FR" sz="3400" dirty="0"/>
              <a:t>1. Calcul des effectifs</a:t>
            </a:r>
          </a:p>
          <a:p>
            <a:pPr marL="0" indent="0">
              <a:buNone/>
            </a:pPr>
            <a:r>
              <a:rPr lang="fr-FR" sz="3400" dirty="0"/>
              <a:t>2. Calcul de la centralité</a:t>
            </a:r>
          </a:p>
          <a:p>
            <a:pPr marL="0" indent="0">
              <a:buNone/>
            </a:pPr>
            <a:r>
              <a:rPr lang="fr-FR" sz="3400" dirty="0"/>
              <a:t>3. Calcul de la dispersion</a:t>
            </a:r>
          </a:p>
          <a:p>
            <a:pPr marL="0" indent="0">
              <a:buNone/>
            </a:pPr>
            <a:r>
              <a:rPr lang="fr-FR" sz="3400" dirty="0"/>
              <a:t>4. Représentation graphique</a:t>
            </a:r>
          </a:p>
          <a:p>
            <a:pPr marL="0" indent="0">
              <a:buNone/>
            </a:pPr>
            <a:endParaRPr lang="fr-FR" sz="3400" dirty="0"/>
          </a:p>
          <a:p>
            <a:pPr marL="0" indent="0">
              <a:buNone/>
            </a:pPr>
            <a:r>
              <a:rPr lang="fr-FR" sz="3400" dirty="0"/>
              <a:t>Ces étapes varient selon le type de variable.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Objectifs :</a:t>
            </a:r>
          </a:p>
          <a:p>
            <a:pPr marL="0" indent="0">
              <a:buNone/>
            </a:pPr>
            <a:endParaRPr lang="fr-FR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3400" b="1" dirty="0"/>
              <a:t>Résumer</a:t>
            </a:r>
            <a:r>
              <a:rPr lang="fr-FR" sz="3400" dirty="0"/>
              <a:t> la distribution observée relative à une variable quantitative au moyen de </a:t>
            </a:r>
            <a:r>
              <a:rPr lang="fr-FR" sz="3400" b="1" dirty="0"/>
              <a:t>valeurs typiques  ou statistiques caractéristiques</a:t>
            </a:r>
            <a:r>
              <a:rPr lang="fr-FR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3400" dirty="0"/>
              <a:t>Faciliter la </a:t>
            </a:r>
            <a:r>
              <a:rPr lang="fr-FR" sz="3400" b="1" dirty="0"/>
              <a:t>comparaison</a:t>
            </a:r>
            <a:r>
              <a:rPr lang="fr-FR" sz="3400" dirty="0"/>
              <a:t> entre des séries statistiques distinctes.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70742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855" y="2695694"/>
            <a:ext cx="55365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800" b="1" dirty="0"/>
              <a:t>1. Calcul des effectifs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035" y="1896563"/>
            <a:ext cx="3525509" cy="3837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4018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589" y="352061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/>
              <a:t>Effectifs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19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effectifs se calculent pour les variables nominale, ordonnée et discrète. Cela se fait grâce a l'instruction </a:t>
            </a:r>
            <a:r>
              <a:rPr lang="fr-FR" b="1" dirty="0"/>
              <a:t>table.</a:t>
            </a:r>
          </a:p>
          <a:p>
            <a:pPr marL="0" indent="0">
              <a:buNone/>
            </a:pPr>
            <a:endParaRPr lang="fr-FR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b="1" dirty="0"/>
              <a:t>Variable qualitative</a:t>
            </a:r>
          </a:p>
          <a:p>
            <a:pPr marL="0" lvl="0" indent="0">
              <a:buNone/>
            </a:pPr>
            <a:endParaRPr lang="fr-FR" dirty="0"/>
          </a:p>
          <a:p>
            <a:pPr marL="0" lvl="0" indent="0">
              <a:buNone/>
            </a:pPr>
            <a:r>
              <a:rPr lang="fr-FR" dirty="0"/>
              <a:t>Un tableau de contingence peut être réalisé pour une variable en utilisant la fonction </a:t>
            </a:r>
            <a:r>
              <a:rPr lang="fr-FR" b="1" dirty="0"/>
              <a:t>table().</a:t>
            </a:r>
          </a:p>
          <a:p>
            <a:pPr marL="0" lvl="0" indent="0">
              <a:buNone/>
            </a:pPr>
            <a:r>
              <a:rPr lang="fr-FR" dirty="0"/>
              <a:t>Quand le nombre de modalités est élevé, on peut ordonner le tri à plat selon les effectifs à l’aide de la fonction </a:t>
            </a:r>
            <a:r>
              <a:rPr lang="fr-FR" b="1" dirty="0"/>
              <a:t>sort</a:t>
            </a:r>
            <a:r>
              <a:rPr lang="fr-FR" dirty="0"/>
              <a:t>. </a:t>
            </a:r>
          </a:p>
          <a:p>
            <a:pPr marL="0" lvl="0" indent="0">
              <a:buNone/>
            </a:pPr>
            <a:r>
              <a:rPr lang="fr-FR" dirty="0"/>
              <a:t>Pour considérer les fréquences, il faut utiliser la fonction </a:t>
            </a:r>
            <a:r>
              <a:rPr lang="fr-FR" b="1" dirty="0" err="1"/>
              <a:t>prop.table</a:t>
            </a:r>
            <a:r>
              <a:rPr lang="fr-FR" b="1" dirty="0"/>
              <a:t>() </a:t>
            </a:r>
          </a:p>
          <a:p>
            <a:pPr marL="0" lv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984867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959" y="365125"/>
            <a:ext cx="10515600" cy="1325563"/>
          </a:xfrm>
        </p:spPr>
        <p:txBody>
          <a:bodyPr/>
          <a:lstStyle/>
          <a:p>
            <a:r>
              <a:rPr lang="fr-FR" b="1" dirty="0"/>
              <a:t>Effectifs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Variable quantitative</a:t>
            </a:r>
          </a:p>
          <a:p>
            <a:pPr marL="0" indent="0">
              <a:buNone/>
            </a:pPr>
            <a:r>
              <a:rPr lang="fr-FR" dirty="0"/>
              <a:t>Il est possible de générer un tableau des effectifs pour chacune des valeurs de la variable quantitative discrète en utilisant la fonction </a:t>
            </a:r>
            <a:r>
              <a:rPr lang="fr-FR" b="1" dirty="0"/>
              <a:t>table( )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Un tableau des effectifs cumulés est réalisé par l’instruction suivante : </a:t>
            </a:r>
            <a:r>
              <a:rPr lang="fr-FR" b="1" dirty="0" err="1"/>
              <a:t>cumsum</a:t>
            </a:r>
            <a:r>
              <a:rPr lang="fr-FR" b="1" dirty="0"/>
              <a:t>(table())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Pour travailler en </a:t>
            </a:r>
            <a:r>
              <a:rPr lang="fr-FR" b="1" dirty="0"/>
              <a:t>fréquences</a:t>
            </a:r>
            <a:r>
              <a:rPr lang="fr-FR" dirty="0"/>
              <a:t> et non en effectifs, il suffit de diviser l’ensemble des résultats par le nombre total d’individus qui constituent l’échantillon : </a:t>
            </a:r>
            <a:r>
              <a:rPr lang="fr-FR" b="1" dirty="0"/>
              <a:t>table()/</a:t>
            </a:r>
            <a:r>
              <a:rPr lang="fr-FR" b="1" dirty="0" err="1"/>
              <a:t>nrow</a:t>
            </a:r>
            <a:r>
              <a:rPr lang="fr-FR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281698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960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b="1" dirty="0"/>
              <a:t>Trois catégories de valeurs typiques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0000"/>
                </a:solidFill>
              </a:rPr>
              <a:t>Les</a:t>
            </a:r>
            <a:r>
              <a:rPr lang="fr-FR" sz="2400" b="1" dirty="0">
                <a:solidFill>
                  <a:srgbClr val="FF0000"/>
                </a:solidFill>
              </a:rPr>
              <a:t> mesures de position</a:t>
            </a:r>
            <a:r>
              <a:rPr lang="fr-FR" sz="2400" dirty="0"/>
              <a:t> sont des valeurs quantifiant certaines caractéristiques de localisation (position) des observations sur l'échelle de mesure. Parmi les mesures de position, on distingue les </a:t>
            </a:r>
            <a:r>
              <a:rPr lang="fr-FR" sz="2400" b="1" dirty="0"/>
              <a:t>mesures de tendance centrale</a:t>
            </a:r>
            <a:r>
              <a:rPr lang="fr-FR" sz="2400" dirty="0"/>
              <a:t> qui correspondent à des valeurs « centrales » parmi les observations.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b="1" dirty="0" smtClean="0">
                <a:solidFill>
                  <a:srgbClr val="FF0000"/>
                </a:solidFill>
              </a:rPr>
              <a:t>Les </a:t>
            </a:r>
            <a:r>
              <a:rPr lang="fr-FR" sz="2400" b="1" dirty="0">
                <a:solidFill>
                  <a:srgbClr val="FF0000"/>
                </a:solidFill>
              </a:rPr>
              <a:t>mesures de dispersion</a:t>
            </a:r>
            <a:r>
              <a:rPr lang="fr-FR" sz="2400" dirty="0"/>
              <a:t> sont des valeurs quantifiant globalement l'importance des écarts entre les observations ou encore leur dispersion autour d'une valeur centrale.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b="1" dirty="0" smtClean="0">
                <a:solidFill>
                  <a:srgbClr val="FF0000"/>
                </a:solidFill>
              </a:rPr>
              <a:t>Les</a:t>
            </a:r>
            <a:r>
              <a:rPr lang="fr-FR" sz="2400" b="1" dirty="0">
                <a:solidFill>
                  <a:srgbClr val="FF0000"/>
                </a:solidFill>
              </a:rPr>
              <a:t> mesures de forme</a:t>
            </a:r>
            <a:r>
              <a:rPr lang="fr-FR" sz="2400" dirty="0"/>
              <a:t> sont des valeurs quantifiant certaines caractéristiques de forme (asymétrie, aplatissement) d'un diagramme en bâtons ou d'un histogramme.</a:t>
            </a:r>
          </a:p>
        </p:txBody>
      </p:sp>
    </p:spTree>
    <p:extLst>
      <p:ext uri="{BB962C8B-B14F-4D97-AF65-F5344CB8AC3E}">
        <p14:creationId xmlns:p14="http://schemas.microsoft.com/office/powerpoint/2010/main" val="23398669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2193" y="2168569"/>
            <a:ext cx="78443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b="1" dirty="0"/>
              <a:t>2. Les mesures de tendance centrale (de position)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1452229"/>
            <a:ext cx="2667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35230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520" y="365125"/>
            <a:ext cx="10515600" cy="1325563"/>
          </a:xfrm>
        </p:spPr>
        <p:txBody>
          <a:bodyPr/>
          <a:lstStyle/>
          <a:p>
            <a:r>
              <a:rPr lang="fr-FR" b="1" dirty="0"/>
              <a:t>Les mesures de tendance centrale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 </a:t>
            </a:r>
            <a:r>
              <a:rPr lang="fr-FR" b="1" dirty="0"/>
              <a:t>mesures de tendance centrale</a:t>
            </a:r>
            <a:r>
              <a:rPr lang="fr-FR" dirty="0"/>
              <a:t> décrivent une mesure statistique autour de laquelle se concentrent les données d'une distribution.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trois mesures de tendance centrale les plus couramment utilisées: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 La moyenne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 Le mode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 La médiane</a:t>
            </a:r>
          </a:p>
          <a:p>
            <a:pPr marL="0" indent="0">
              <a:buNone/>
            </a:pPr>
            <a:endParaRPr lang="fr-FR" dirty="0">
              <a:hlinkClick r:id="rId2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29943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EB36BDC4-96B7-4CB7-AA8A-09CBD863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17" y="443504"/>
            <a:ext cx="10515600" cy="806450"/>
          </a:xfrm>
        </p:spPr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La moyenne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5C410805-03A9-4A0B-82EA-BC7BB3E55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434"/>
            <a:ext cx="10515600" cy="4734529"/>
          </a:xfrm>
        </p:spPr>
        <p:txBody>
          <a:bodyPr/>
          <a:lstStyle/>
          <a:p>
            <a:r>
              <a:rPr lang="fr-FR" dirty="0"/>
              <a:t>La moyenne représente la position de la distribution.</a:t>
            </a:r>
          </a:p>
          <a:p>
            <a:r>
              <a:rPr lang="fr-FR" dirty="0"/>
              <a:t>Le calcul exact de la moyenne d’une distribution d’équation est donné par :</a:t>
            </a:r>
          </a:p>
          <a:p>
            <a:pPr marL="0" indent="0">
              <a:buNone/>
            </a:pPr>
            <a:endParaRPr lang="fr-FR" i="1" dirty="0"/>
          </a:p>
          <a:p>
            <a:endParaRPr lang="fr-FR" i="1" dirty="0"/>
          </a:p>
          <a:p>
            <a:r>
              <a:rPr lang="fr-FR" dirty="0"/>
              <a:t>En réalité, on ne connait que très rarement l’équation de la distribution , mais on dispose d’une série de valeurs.  On calcule donc une approximation de la moyenne en calculant :</a:t>
            </a:r>
          </a:p>
          <a:p>
            <a:endParaRPr lang="fr-FR" i="1" dirty="0"/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2ADC80BD-73E7-421F-B601-F0EE98938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954" y="2585736"/>
            <a:ext cx="2819400" cy="12239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497677" y="5633947"/>
                <a:ext cx="2343955" cy="9658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3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fr-FR" sz="32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fr-FR" sz="32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fr-F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677" y="5633947"/>
                <a:ext cx="2343955" cy="96584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479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D605F00C-E7AF-4D0C-B46E-4984FBDBB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154" y="534944"/>
            <a:ext cx="10515600" cy="768350"/>
          </a:xfrm>
        </p:spPr>
        <p:txBody>
          <a:bodyPr/>
          <a:lstStyle/>
          <a:p>
            <a:r>
              <a:rPr lang="fr-FR" dirty="0"/>
              <a:t>Interprétation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CF39612D-8144-4FCA-ACC7-95549BED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250"/>
            <a:ext cx="10515600" cy="4938713"/>
          </a:xfrm>
        </p:spPr>
        <p:txBody>
          <a:bodyPr/>
          <a:lstStyle/>
          <a:p>
            <a:endParaRPr lang="fr-FR" dirty="0"/>
          </a:p>
          <a:p>
            <a:r>
              <a:rPr lang="fr-FR" dirty="0"/>
              <a:t>Utilisez la moyenne pour décrire l'échantillon avec une seule valeur qui représente le centre des données.</a:t>
            </a:r>
          </a:p>
          <a:p>
            <a:r>
              <a:rPr lang="fr-FR" dirty="0"/>
              <a:t>Les valeurs aberrantes, peuvent avoir davantage d'impact sur la moyenne.</a:t>
            </a:r>
          </a:p>
          <a:p>
            <a:r>
              <a:rPr lang="fr-FR" dirty="0"/>
              <a:t>« l’individu moyen » est un être généralement fictif, dont la seule raison d'être est de représenter un centre, un milieu.</a:t>
            </a:r>
          </a:p>
          <a:p>
            <a:r>
              <a:rPr lang="fr-FR" dirty="0"/>
              <a:t>On peut interpréter la moyenne comme la valeur que devrait être si l’ensemble des données étaient répartis équitablement.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6115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65217" y="456565"/>
            <a:ext cx="10515600" cy="781095"/>
          </a:xfrm>
        </p:spPr>
        <p:txBody>
          <a:bodyPr>
            <a:normAutofit/>
          </a:bodyPr>
          <a:lstStyle/>
          <a:p>
            <a:r>
              <a:rPr lang="fr-FR" dirty="0"/>
              <a:t>Calcul de la moyenne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La moyenne est obtenu en utilisant la fonction </a:t>
            </a:r>
            <a:r>
              <a:rPr lang="fr-FR" b="1" dirty="0" err="1"/>
              <a:t>mean</a:t>
            </a:r>
            <a:r>
              <a:rPr lang="fr-FR" b="1" dirty="0"/>
              <a:t>()</a:t>
            </a:r>
            <a:r>
              <a:rPr lang="fr-FR" dirty="0"/>
              <a:t>. Il faut exclure les valeurs manquantes avec </a:t>
            </a:r>
            <a:r>
              <a:rPr lang="fr-FR" b="1" dirty="0"/>
              <a:t>na.rm=TRUE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Supposons que le vecteur poids contient les poids en kilos de 10 bébés</a:t>
            </a:r>
          </a:p>
          <a:p>
            <a:pPr marL="0" indent="0">
              <a:buNone/>
            </a:pPr>
            <a:r>
              <a:rPr lang="fr-FR" dirty="0"/>
              <a:t>Revenons à notre exemple, la moyenne des poids des bébés est déterminée comme suit:</a:t>
            </a:r>
          </a:p>
          <a:p>
            <a:pPr marL="0" indent="0">
              <a:buNone/>
            </a:pPr>
            <a:r>
              <a:rPr lang="fr-FR" dirty="0"/>
              <a:t>&gt;poids&lt;-c(6.03, 8.77, 6.50, 7.54, 8.53, 7.16, 7.93, 7.65, 8.50, 7.59) </a:t>
            </a:r>
          </a:p>
          <a:p>
            <a:pPr marL="0" indent="0">
              <a:buNone/>
            </a:pPr>
            <a:r>
              <a:rPr lang="fr-FR" dirty="0"/>
              <a:t>&gt;</a:t>
            </a:r>
            <a:r>
              <a:rPr lang="fr-FR" dirty="0" err="1"/>
              <a:t>mean</a:t>
            </a:r>
            <a:r>
              <a:rPr lang="fr-FR" dirty="0"/>
              <a:t>(poids)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81246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25573" y="306434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Le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634" y="1617771"/>
            <a:ext cx="10515600" cy="50288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Le mode de l’échantillon est la valeur la plus fréquente des données. Un échantillon peut avoir plusieurs modes. </a:t>
            </a:r>
          </a:p>
          <a:p>
            <a:pPr marL="0" indent="0">
              <a:buNone/>
            </a:pPr>
            <a:r>
              <a:rPr lang="fr-FR" dirty="0"/>
              <a:t>Le mode est nécessairement égal à l’une des données. </a:t>
            </a:r>
          </a:p>
          <a:p>
            <a:pPr marL="0" indent="0">
              <a:buNone/>
            </a:pPr>
            <a:r>
              <a:rPr lang="fr-FR" dirty="0"/>
              <a:t>On peut aussi définir le mode comme le point milieu de la classe ayant le plus grand effectif.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Le mode s'obtient par lecture de la table des effectifs en prenant le plus grand. Si les modalités sont très nombreuse, on peut trier les effectifs avec l'instruction </a:t>
            </a:r>
            <a:r>
              <a:rPr lang="fr-FR" b="1" dirty="0"/>
              <a:t>sort ().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R ne propose pas de formule directe pour calculer le mode. Il faut donc:</a:t>
            </a:r>
          </a:p>
          <a:p>
            <a:pPr marL="514350" indent="-514350">
              <a:buFont typeface="+mj-lt"/>
              <a:buAutoNum type="arabicParenR"/>
            </a:pPr>
            <a:r>
              <a:rPr lang="fr-FR" dirty="0"/>
              <a:t>Calculer l'effectif de chaque valeur de la variable.</a:t>
            </a:r>
          </a:p>
          <a:p>
            <a:pPr marL="514350" indent="-514350">
              <a:buFont typeface="+mj-lt"/>
              <a:buAutoNum type="arabicParenR"/>
            </a:pPr>
            <a:r>
              <a:rPr lang="fr-FR" dirty="0"/>
              <a:t>Trier ces effectifs pour y voir plus clair.</a:t>
            </a:r>
          </a:p>
          <a:p>
            <a:pPr marL="514350" indent="-514350">
              <a:buFont typeface="+mj-lt"/>
              <a:buAutoNum type="arabicParenR"/>
            </a:pPr>
            <a:r>
              <a:rPr lang="fr-FR" dirty="0"/>
              <a:t>Le mode est la valeur dont l'effectif est le plus grand.</a:t>
            </a:r>
          </a:p>
          <a:p>
            <a:pPr marL="514350" indent="-514350">
              <a:buFont typeface="+mj-lt"/>
              <a:buAutoNum type="arabicParenR"/>
            </a:pPr>
            <a:endParaRPr lang="fr-FR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72455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8569" y="840622"/>
            <a:ext cx="10515600" cy="5584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Soit un vecteur "race" contenant la race de 12 chiens, déterminer le mode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u="sng" dirty="0"/>
              <a:t>Sortie R:</a:t>
            </a:r>
          </a:p>
          <a:p>
            <a:pPr marL="0" indent="0">
              <a:buNone/>
            </a:pPr>
            <a:r>
              <a:rPr lang="fr-FR" dirty="0"/>
              <a:t>race</a:t>
            </a:r>
          </a:p>
          <a:p>
            <a:pPr marL="0" indent="0">
              <a:buNone/>
            </a:pPr>
            <a:r>
              <a:rPr lang="fr-FR" dirty="0"/>
              <a:t>   boxer </a:t>
            </a:r>
            <a:r>
              <a:rPr lang="fr-FR" dirty="0" err="1"/>
              <a:t>epagneul</a:t>
            </a:r>
            <a:r>
              <a:rPr lang="fr-FR" dirty="0"/>
              <a:t>    husky   bichon   teckel    spitz </a:t>
            </a:r>
          </a:p>
          <a:p>
            <a:pPr marL="0" indent="0">
              <a:buNone/>
            </a:pPr>
            <a:r>
              <a:rPr lang="fr-FR" dirty="0"/>
              <a:t>       1         1                     1         2                 2        5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Il est clair, à la lecture du résultat, que le mode correspond à la valeur "spitz".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07572" y="1723473"/>
            <a:ext cx="10945969" cy="64373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race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"teckel"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"teckel"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"bichon"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"boxer"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"spitz"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"husky"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"spitz"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"epagneul"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"spitz"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"spitz"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"bichon"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"spitz"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effectifs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&lt;-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race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sort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effectifs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rgbClr val="687687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kumimoji="0" 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21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134EADB5-978F-4A69-A335-322BCE6A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709" y="548006"/>
            <a:ext cx="10515600" cy="920750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La médiane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D302DE70-F88C-42B3-8401-00B7C5222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677762"/>
            <a:ext cx="10515600" cy="4891087"/>
          </a:xfrm>
        </p:spPr>
        <p:txBody>
          <a:bodyPr/>
          <a:lstStyle/>
          <a:p>
            <a:pPr fontAlgn="base"/>
            <a:r>
              <a:rPr lang="fr-FR" dirty="0"/>
              <a:t>La médiane comme la moyenne représente un paramètre de position de la distribution.</a:t>
            </a:r>
          </a:p>
          <a:p>
            <a:pPr fontAlgn="base"/>
            <a:r>
              <a:rPr lang="fr-FR" dirty="0"/>
              <a:t>La médiane  est le nombre qui sépare la série ordonnée en deux groupes de </a:t>
            </a:r>
            <a:r>
              <a:rPr lang="fr-FR" b="1" dirty="0"/>
              <a:t>même effectif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47F92DBE-CE2C-41AE-8DD8-585A511B3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952" y="3128010"/>
            <a:ext cx="3443097" cy="264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322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56211" y="751391"/>
                <a:ext cx="10515600" cy="57390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dirty="0"/>
                  <a:t>La médiane de l’échantillon, dénotée 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fr-FR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fr-FR" dirty="0"/>
                  <a:t>, est une valeur telle que 50% des observations lui sont supérieures et 50% lui sont inférieures.</a:t>
                </a:r>
              </a:p>
              <a:p>
                <a:pPr marL="0" indent="0">
                  <a:buNone/>
                </a:pPr>
                <a:r>
                  <a:rPr lang="fr-FR" dirty="0"/>
                  <a:t>Si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fr-FR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fr-FR" dirty="0"/>
                  <a:t> sont les données en ordre croissant alors :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̌"/>
                          <m:ctrlPr>
                            <a:rPr lang="fr-FR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fr-FR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b="0" i="1" smtClean="0">
                                              <a:latin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num>
                                        <m:den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fr-FR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fr-FR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fr-FR" b="0" i="1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num>
                                            <m:den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fr-FR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fr-FR" b="0" i="1" smtClean="0">
                                                  <a:latin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num>
                                            <m:den>
                                              <m:r>
                                                <a:rPr lang="fr-F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Si n est impair alors la médiane est égale à l’une des données. Si n est pair, elle n’est pas forcément égale à l’une des données.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6211" y="751391"/>
                <a:ext cx="10515600" cy="5739081"/>
              </a:xfrm>
              <a:blipFill rotWithShape="1">
                <a:blip r:embed="rId2"/>
                <a:stretch>
                  <a:fillRect l="-1159" t="-1699" b="-16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6941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1B38CA3-A1DF-4DD9-A182-151BF2547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015" y="724773"/>
            <a:ext cx="10515600" cy="758825"/>
          </a:xfrm>
        </p:spPr>
        <p:txBody>
          <a:bodyPr/>
          <a:lstStyle/>
          <a:p>
            <a:r>
              <a:rPr lang="fr-FR" dirty="0"/>
              <a:t>Interprétation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E30354B6-6873-4DA0-B21F-B0D02392B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81" y="2025831"/>
            <a:ext cx="10515600" cy="4967288"/>
          </a:xfrm>
        </p:spPr>
        <p:txBody>
          <a:bodyPr/>
          <a:lstStyle/>
          <a:p>
            <a:r>
              <a:rPr lang="fr-FR" altLang="fr-FR" dirty="0"/>
              <a:t>la médiane est une valeur observée contrairement à la moyenne ce qui lui donne un sens concret évident.</a:t>
            </a:r>
          </a:p>
          <a:p>
            <a:r>
              <a:rPr lang="fr-FR" dirty="0"/>
              <a:t>Contrairement à la moyenne, la médiane est insensible à la présence d'une valeur extrême (ou aberrante).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Dès lors, en présence d'une valeur extrême (ou aberrante), le choix de la médiane comme valeur centrale est bien plus indiqué que celui de la moyenne arithmétique.</a:t>
            </a:r>
          </a:p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86FC4546-1106-4A93-A0AF-D2A2D5DE0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5" y="-76200"/>
            <a:ext cx="8572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2">
            <a:extLst>
              <a:ext uri="{FF2B5EF4-FFF2-40B4-BE49-F238E27FC236}">
                <a16:creationId xmlns="" xmlns:a16="http://schemas.microsoft.com/office/drawing/2014/main" id="{DCC04D6C-011E-49B9-9A9F-613E58046A18}"/>
              </a:ext>
            </a:extLst>
          </p:cNvPr>
          <p:cNvSpPr txBox="1">
            <a:spLocks/>
          </p:cNvSpPr>
          <p:nvPr/>
        </p:nvSpPr>
        <p:spPr>
          <a:xfrm>
            <a:off x="1485900" y="2190750"/>
            <a:ext cx="10515600" cy="4967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BCFDA5A0-9EF5-49BC-8A34-F37CB8020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704" y="857965"/>
            <a:ext cx="2519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kumimoji="0" lang="fr-FR" altLang="fr-F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529AFCD6-936C-448D-AFB2-BF3481F04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3328987"/>
            <a:ext cx="60198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308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078B0B5C-9079-45BA-A81E-F2B44C79B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0" y="521880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La symétrie de la distribution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1860C9A3-0299-4095-8A2D-14F3EFED7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457825"/>
          </a:xfrm>
        </p:spPr>
        <p:txBody>
          <a:bodyPr>
            <a:normAutofit fontScale="92500"/>
          </a:bodyPr>
          <a:lstStyle/>
          <a:p>
            <a:r>
              <a:rPr lang="fr-FR" dirty="0"/>
              <a:t>Si vos données sont symétriques, la moyenne et la médiane sont similaires.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Pour la série symétrique, la moyenne (ligne bleue) et la médiane (ligne orange) sont tellement proches qu'il est difficile de distinguer les deux lignes. </a:t>
            </a:r>
          </a:p>
          <a:p>
            <a:pPr marL="0" indent="0">
              <a:buNone/>
            </a:pPr>
            <a:r>
              <a:rPr lang="fr-FR" dirty="0"/>
              <a:t>Toutefois, la série non symétrique présente deux valeurs très différentes de la moyenne et la médiane.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086C43ED-6CB4-44AF-AE03-189374164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762125"/>
            <a:ext cx="85725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58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27EE949-8202-441D-B41B-F8C593FB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337" y="548005"/>
            <a:ext cx="10515600" cy="777875"/>
          </a:xfrm>
        </p:spPr>
        <p:txBody>
          <a:bodyPr/>
          <a:lstStyle/>
          <a:p>
            <a:r>
              <a:rPr lang="fr-FR" dirty="0"/>
              <a:t>Position de la moyenne et la médiane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id="{5753F250-344F-4B42-B5DC-FEA34BF68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1833562"/>
            <a:ext cx="7610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57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08463" y="587193"/>
            <a:ext cx="10515600" cy="781095"/>
          </a:xfrm>
        </p:spPr>
        <p:txBody>
          <a:bodyPr>
            <a:normAutofit/>
          </a:bodyPr>
          <a:lstStyle/>
          <a:p>
            <a:r>
              <a:rPr lang="fr-FR" dirty="0"/>
              <a:t>Calcul de La médiane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6524"/>
            <a:ext cx="10515600" cy="53576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fr-FR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Variable quantitative</a:t>
            </a:r>
          </a:p>
          <a:p>
            <a:pPr marL="0" indent="0">
              <a:buNone/>
            </a:pPr>
            <a:r>
              <a:rPr lang="fr-FR" dirty="0"/>
              <a:t>La médiane se calcule avec la fonction </a:t>
            </a:r>
            <a:r>
              <a:rPr lang="fr-FR" b="1" dirty="0" err="1"/>
              <a:t>median</a:t>
            </a:r>
            <a:r>
              <a:rPr lang="fr-FR" b="1" dirty="0"/>
              <a:t> (). </a:t>
            </a:r>
            <a:r>
              <a:rPr lang="fr-FR" dirty="0"/>
              <a:t>Quand la variable contient des valeurs manquante, il faut préciser a R de les supprimer en ajoutant l'option </a:t>
            </a:r>
            <a:r>
              <a:rPr lang="fr-FR" b="1" dirty="0"/>
              <a:t>na.rm=TRUE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Revenons à notre exemple, la médiane est déterminée comme suit: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&gt;poids&lt;-c(6.03, 8.77, 6.50, 7.54, 8.53, 7.16, 7.93, 7.65, 8.50, 7.59)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On calcul la médiane en utilisant la fonction </a:t>
            </a:r>
            <a:r>
              <a:rPr lang="fr-FR" b="1" dirty="0" err="1"/>
              <a:t>median</a:t>
            </a:r>
            <a:r>
              <a:rPr lang="fr-FR" b="1" dirty="0"/>
              <a:t>().</a:t>
            </a:r>
          </a:p>
          <a:p>
            <a:pPr marL="0" indent="0">
              <a:buNone/>
            </a:pPr>
            <a:r>
              <a:rPr lang="fr-FR" b="1" dirty="0"/>
              <a:t>&gt;</a:t>
            </a:r>
            <a:r>
              <a:rPr lang="fr-FR" b="1" dirty="0" err="1"/>
              <a:t>median</a:t>
            </a:r>
            <a:r>
              <a:rPr lang="fr-FR" b="1" dirty="0"/>
              <a:t>(poids)</a:t>
            </a:r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999190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897" y="776596"/>
            <a:ext cx="11190668" cy="5674687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Variable qualitative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La médiane d'une variable ordonnée n'est pas calculée automatiquement par R. Il faut donc le faire manuellement. Pour cela, trois étapes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1. Calcul du rang de la médiane (après exclustion des valeurs manquantes).</a:t>
            </a:r>
          </a:p>
          <a:p>
            <a:pPr marL="0" indent="0">
              <a:buNone/>
            </a:pPr>
            <a:r>
              <a:rPr lang="fr-FR" dirty="0"/>
              <a:t>2. Ordonnancement de la variable.</a:t>
            </a:r>
          </a:p>
          <a:p>
            <a:pPr marL="0" indent="0">
              <a:buNone/>
            </a:pPr>
            <a:r>
              <a:rPr lang="fr-FR" dirty="0"/>
              <a:t>3. Combinaison de 1 et 2, sélection la modalité du milieu.</a:t>
            </a:r>
          </a:p>
        </p:txBody>
      </p:sp>
    </p:spTree>
    <p:extLst>
      <p:ext uri="{BB962C8B-B14F-4D97-AF65-F5344CB8AC3E}">
        <p14:creationId xmlns:p14="http://schemas.microsoft.com/office/powerpoint/2010/main" val="41710369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7387" y="452969"/>
                <a:ext cx="11183983" cy="58807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dirty="0"/>
                  <a:t>Pour connaitre la longueur d'une variable, on utilise la fonction </a:t>
                </a:r>
                <a:r>
                  <a:rPr lang="fr-FR" b="1" dirty="0" err="1"/>
                  <a:t>length</a:t>
                </a:r>
                <a:r>
                  <a:rPr lang="fr-FR" b="1" dirty="0"/>
                  <a:t>()</a:t>
                </a:r>
              </a:p>
              <a:p>
                <a:pPr marL="0" indent="0">
                  <a:buNone/>
                </a:pPr>
                <a:r>
                  <a:rPr lang="fr-FR" dirty="0"/>
                  <a:t>Le rang de la médiane est l'observation de rang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/>
                  <a:t> . </a:t>
                </a:r>
              </a:p>
              <a:p>
                <a:pPr marL="0" indent="0">
                  <a:buNone/>
                </a:pPr>
                <a:r>
                  <a:rPr lang="fr-FR" dirty="0"/>
                  <a:t>Si le nombre d'individu est pair, nous arrondissons à l'inferieur grâce a la fonction </a:t>
                </a:r>
                <a:r>
                  <a:rPr lang="fr-FR" b="1" dirty="0"/>
                  <a:t>round()</a:t>
                </a:r>
                <a:r>
                  <a:rPr lang="fr-FR" dirty="0"/>
                  <a:t> :</a:t>
                </a:r>
              </a:p>
              <a:p>
                <a:pPr marL="0" indent="0">
                  <a:buNone/>
                </a:pPr>
                <a:r>
                  <a:rPr lang="fr-FR" dirty="0"/>
                  <a:t>&gt;</a:t>
                </a:r>
                <a:r>
                  <a:rPr lang="fr-FR" dirty="0">
                    <a:solidFill>
                      <a:schemeClr val="accent1"/>
                    </a:solidFill>
                  </a:rPr>
                  <a:t>round ( (</a:t>
                </a:r>
                <a:r>
                  <a:rPr lang="fr-FR" dirty="0" err="1">
                    <a:solidFill>
                      <a:schemeClr val="accent1"/>
                    </a:solidFill>
                  </a:rPr>
                  <a:t>length</a:t>
                </a:r>
                <a:r>
                  <a:rPr lang="fr-FR" dirty="0">
                    <a:solidFill>
                      <a:schemeClr val="accent1"/>
                    </a:solidFill>
                  </a:rPr>
                  <a:t>(na. omit ( données $ variable ))+1) /2 )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Ordonner une variable se fait grâce à la fonction </a:t>
                </a:r>
                <a:r>
                  <a:rPr lang="fr-FR" b="1" dirty="0"/>
                  <a:t>sort()</a:t>
                </a:r>
                <a:r>
                  <a:rPr lang="fr-FR" dirty="0"/>
                  <a:t> :</a:t>
                </a:r>
              </a:p>
              <a:p>
                <a:pPr marL="0" indent="0">
                  <a:buNone/>
                </a:pPr>
                <a:r>
                  <a:rPr lang="fr-FR" dirty="0"/>
                  <a:t>&gt;</a:t>
                </a:r>
                <a:r>
                  <a:rPr lang="fr-FR" dirty="0">
                    <a:solidFill>
                      <a:schemeClr val="accent1"/>
                    </a:solidFill>
                  </a:rPr>
                  <a:t>sort ( data $ variable )</a:t>
                </a:r>
              </a:p>
              <a:p>
                <a:pPr marL="0" indent="0">
                  <a:buNone/>
                </a:pPr>
                <a:r>
                  <a:rPr lang="fr-FR" dirty="0"/>
                  <a:t>Il ne nous reste plus qu'a combiner les deux, sélectionner l'observation dont on a calcule le rang dans la variable classée :</a:t>
                </a:r>
              </a:p>
              <a:p>
                <a:pPr marL="0" indent="0">
                  <a:buNone/>
                </a:pPr>
                <a:r>
                  <a:rPr lang="fr-FR" dirty="0"/>
                  <a:t>&gt; </a:t>
                </a:r>
                <a:r>
                  <a:rPr lang="fr-FR" dirty="0">
                    <a:solidFill>
                      <a:schemeClr val="accent1"/>
                    </a:solidFill>
                  </a:rPr>
                  <a:t>sort ( données $ variable )[ round ( (</a:t>
                </a:r>
                <a:r>
                  <a:rPr lang="fr-FR" dirty="0" err="1">
                    <a:solidFill>
                      <a:schemeClr val="accent1"/>
                    </a:solidFill>
                  </a:rPr>
                  <a:t>length</a:t>
                </a:r>
                <a:r>
                  <a:rPr lang="fr-FR" dirty="0">
                    <a:solidFill>
                      <a:schemeClr val="accent1"/>
                    </a:solidFill>
                  </a:rPr>
                  <a:t>(na. omit ( données $ variable ))+1) /2 )]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7387" y="452969"/>
                <a:ext cx="11183983" cy="5880749"/>
              </a:xfrm>
              <a:blipFill rotWithShape="1">
                <a:blip r:embed="rId2"/>
                <a:stretch>
                  <a:fillRect l="-1144" t="-1658" r="-1471" b="-27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1414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2193" y="2168569"/>
            <a:ext cx="78443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b="1" dirty="0" smtClean="0"/>
              <a:t>3. </a:t>
            </a:r>
            <a:r>
              <a:rPr lang="fr-FR" sz="4800" b="1" dirty="0"/>
              <a:t>Les mesures de </a:t>
            </a:r>
            <a:r>
              <a:rPr lang="fr-FR" sz="4800" b="1" dirty="0" smtClean="0"/>
              <a:t>dispersion</a:t>
            </a:r>
            <a:endParaRPr lang="fr-FR" sz="48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655" y="3291839"/>
            <a:ext cx="5703026" cy="296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69730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583" y="339000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Les mesures de Dispersion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1223"/>
            <a:ext cx="10515600" cy="46057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Les </a:t>
            </a:r>
            <a:r>
              <a:rPr lang="fr-FR" b="1" dirty="0"/>
              <a:t>mesures de dispersion </a:t>
            </a:r>
            <a:r>
              <a:rPr lang="fr-FR" dirty="0"/>
              <a:t>servent à caractériser l’étalement des valeurs présentes dans une distribution. Plus la distribution sera étalée, plus la valeur de la mesure de dispersion sera élevée.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mesures de dispersion: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Les quantiles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 La variance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 L’écart type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/>
              <a:t> L’étendue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72455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249" y="444137"/>
            <a:ext cx="10515600" cy="80685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Les quantiles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319166"/>
            <a:ext cx="11597640" cy="52496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dirty="0"/>
              <a:t>L'approche suivie pour la médiane (50% de valeurs inférieures) et pour les quartiles (25% et 75% de valeurs inférieures) peut être généralisée à d'autres pourcentages. 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En fonction de la valeur choisie pour p, on obtient une valeur de x telle que une proportion p de l'échantillon lui est inférieure (et une proportion (1-p) lui est supérieure).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La fonction </a:t>
            </a:r>
            <a:r>
              <a:rPr lang="fr-FR" b="1" dirty="0"/>
              <a:t>quantile(</a:t>
            </a:r>
            <a:r>
              <a:rPr lang="fr-FR" b="1" dirty="0" err="1"/>
              <a:t>x,p</a:t>
            </a:r>
            <a:r>
              <a:rPr lang="fr-FR" b="1" dirty="0"/>
              <a:t>)</a:t>
            </a:r>
            <a:r>
              <a:rPr lang="fr-FR" dirty="0"/>
              <a:t> calcule le quantile du vecteur x tel qu'une proportion p de l'échantillon lui soit inférieure.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Voici quelque illustrations avec notre exemple des poids des bébés: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&gt;quantile (poids,0.1)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&gt;quantile(poids,0.5)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&gt;quantile(poids,0.25)</a:t>
            </a:r>
          </a:p>
        </p:txBody>
      </p:sp>
    </p:spTree>
    <p:extLst>
      <p:ext uri="{BB962C8B-B14F-4D97-AF65-F5344CB8AC3E}">
        <p14:creationId xmlns:p14="http://schemas.microsoft.com/office/powerpoint/2010/main" val="29661183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484" y="261257"/>
            <a:ext cx="10515600" cy="1064306"/>
          </a:xfrm>
        </p:spPr>
        <p:txBody>
          <a:bodyPr/>
          <a:lstStyle/>
          <a:p>
            <a:r>
              <a:rPr lang="fr-FR" dirty="0"/>
              <a:t>Interprétation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42659" t="43521" r="9556" b="25015"/>
          <a:stretch/>
        </p:blipFill>
        <p:spPr bwMode="auto">
          <a:xfrm>
            <a:off x="3052293" y="4608077"/>
            <a:ext cx="5718219" cy="21636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5371" y="1272319"/>
                <a:ext cx="11410682" cy="3505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/>
                  <a:t>Soit une série statistique  ordonnée suivant les valeurs croissantes, d’effectif total n.</a:t>
                </a:r>
              </a:p>
              <a:p>
                <a:endParaRPr lang="fr-FR" sz="24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2400" dirty="0"/>
                  <a:t>Le 1er quartile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sz="240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fr-FR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2400" dirty="0"/>
                  <a:t> est la plus petite valeur de la série telle qu’au moins 25% des valeurs de la série lui sont inférieures.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2400" dirty="0"/>
                  <a:t>Le 3ème quartile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sz="240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fr-FR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fr-FR" sz="2400" dirty="0"/>
                  <a:t> est la plus petite valeur de la série telle qu’au moins 75 % des valeurs de la série lui sont inférieures.</a:t>
                </a:r>
              </a:p>
              <a:p>
                <a:endParaRPr lang="fr-FR" sz="2400" dirty="0"/>
              </a:p>
              <a:p>
                <a:r>
                  <a:rPr lang="fr-FR" sz="2400" dirty="0"/>
                  <a:t>Pour rendre compte graphiquement de cela, on reporte ces données sur un diagramme en boîte rassemblant sur un même schéma le minimum,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sz="240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fr-FR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2400" dirty="0"/>
                  <a:t>​, la médiane,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fr-FR" sz="240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fr-FR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fr-FR" sz="2400" dirty="0"/>
                  <a:t> et le maximum.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71" y="1272319"/>
                <a:ext cx="11410682" cy="3505575"/>
              </a:xfrm>
              <a:prstGeom prst="rect">
                <a:avLst/>
              </a:prstGeom>
              <a:blipFill rotWithShape="1">
                <a:blip r:embed="rId3"/>
                <a:stretch>
                  <a:fillRect l="-855" t="-1391" r="-909" b="-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1929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B021449-E983-4690-9C51-E832FC9F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132" y="503872"/>
            <a:ext cx="10515600" cy="796924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L’écart 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76BE1174-2B05-4088-A1C6-07F926A47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97" y="1478824"/>
            <a:ext cx="10515600" cy="5810250"/>
          </a:xfrm>
        </p:spPr>
        <p:txBody>
          <a:bodyPr/>
          <a:lstStyle/>
          <a:p>
            <a:r>
              <a:rPr lang="fr-FR" dirty="0"/>
              <a:t>L’écart-type de la distribution est une caractéristique de la dispersion de cette distribution. </a:t>
            </a:r>
          </a:p>
          <a:p>
            <a:r>
              <a:rPr lang="fr-FR" dirty="0"/>
              <a:t>Le calcul exact de l’écart type d’une distribution d’équation est donné par :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En réalité, comme pour le calcul de la moyenne on ne connait que très rarement l’équation de la distribution , mais on dispose d’une série de valeurs  On calcule donc une approximation de l’écart-type en calculant 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C033E351-0DA9-4C2D-BAAA-ED92E6921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995612"/>
            <a:ext cx="2533650" cy="100488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="" xmlns:a16="http://schemas.microsoft.com/office/drawing/2014/main" id="{D6508672-730D-4A25-A65C-F585B541D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25" y="5362575"/>
            <a:ext cx="253365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44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B021449-E983-4690-9C51-E832FC9F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263" y="456566"/>
            <a:ext cx="10515600" cy="796924"/>
          </a:xfrm>
        </p:spPr>
        <p:txBody>
          <a:bodyPr>
            <a:normAutofit/>
          </a:bodyPr>
          <a:lstStyle/>
          <a:p>
            <a:r>
              <a:rPr lang="fr-FR" dirty="0"/>
              <a:t>Interprétation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76BE1174-2B05-4088-A1C6-07F926A47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6"/>
            <a:ext cx="10515600" cy="4891087"/>
          </a:xfrm>
        </p:spPr>
        <p:txBody>
          <a:bodyPr/>
          <a:lstStyle/>
          <a:p>
            <a:r>
              <a:rPr lang="fr-FR" dirty="0"/>
              <a:t>Plus l’écart-type est grand plus la dispersion est large.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="" xmlns:a16="http://schemas.microsoft.com/office/drawing/2014/main" id="{21ECAE52-0826-43A0-8250-870DFF536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2019300"/>
            <a:ext cx="7915275" cy="4062413"/>
          </a:xfrm>
          <a:prstGeom prst="rect">
            <a:avLst/>
          </a:prstGeom>
        </p:spPr>
      </p:pic>
      <p:sp>
        <p:nvSpPr>
          <p:cNvPr id="5" name="Flèche : gauche 4">
            <a:extLst>
              <a:ext uri="{FF2B5EF4-FFF2-40B4-BE49-F238E27FC236}">
                <a16:creationId xmlns="" xmlns:a16="http://schemas.microsoft.com/office/drawing/2014/main" id="{E8E04A5C-DB44-4D56-BA4B-64FDB0FD7A3E}"/>
              </a:ext>
            </a:extLst>
          </p:cNvPr>
          <p:cNvSpPr/>
          <p:nvPr/>
        </p:nvSpPr>
        <p:spPr>
          <a:xfrm>
            <a:off x="8943975" y="3429000"/>
            <a:ext cx="685800" cy="228600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gauche 5">
            <a:extLst>
              <a:ext uri="{FF2B5EF4-FFF2-40B4-BE49-F238E27FC236}">
                <a16:creationId xmlns="" xmlns:a16="http://schemas.microsoft.com/office/drawing/2014/main" id="{EEA7AA29-7098-4AB3-A29B-AD2657D118B2}"/>
              </a:ext>
            </a:extLst>
          </p:cNvPr>
          <p:cNvSpPr/>
          <p:nvPr/>
        </p:nvSpPr>
        <p:spPr>
          <a:xfrm>
            <a:off x="8943975" y="5343524"/>
            <a:ext cx="685800" cy="228600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="" xmlns:a16="http://schemas.microsoft.com/office/drawing/2014/main" id="{FB390572-8D5E-46B3-BD09-AFFE978B0DFE}"/>
              </a:ext>
            </a:extLst>
          </p:cNvPr>
          <p:cNvSpPr txBox="1"/>
          <p:nvPr/>
        </p:nvSpPr>
        <p:spPr>
          <a:xfrm>
            <a:off x="9739313" y="3352562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 Ecart type = 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CED84CA3-7E21-4CB5-8A76-55EDB7DAAAE0}"/>
              </a:ext>
            </a:extLst>
          </p:cNvPr>
          <p:cNvSpPr txBox="1"/>
          <p:nvPr/>
        </p:nvSpPr>
        <p:spPr>
          <a:xfrm>
            <a:off x="9739313" y="5273158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 Ecart type = 3</a:t>
            </a:r>
          </a:p>
        </p:txBody>
      </p:sp>
    </p:spTree>
    <p:extLst>
      <p:ext uri="{BB962C8B-B14F-4D97-AF65-F5344CB8AC3E}">
        <p14:creationId xmlns:p14="http://schemas.microsoft.com/office/powerpoint/2010/main" val="36582060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05248" y="420874"/>
            <a:ext cx="10515600" cy="80685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Calcul de la variance, l’écart type et l’étendue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263" y="1354857"/>
            <a:ext cx="10515600" cy="50049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Ecart type et variance</a:t>
            </a:r>
          </a:p>
          <a:p>
            <a:pPr marL="0" indent="0">
              <a:buNone/>
            </a:pPr>
            <a:r>
              <a:rPr lang="fr-FR" dirty="0"/>
              <a:t>La fonction </a:t>
            </a:r>
            <a:r>
              <a:rPr lang="fr-FR" b="1" dirty="0"/>
              <a:t>var(x)</a:t>
            </a:r>
            <a:r>
              <a:rPr lang="fr-FR" dirty="0"/>
              <a:t> calcule la variance du vecteur x.</a:t>
            </a:r>
            <a:br>
              <a:rPr lang="fr-FR" dirty="0"/>
            </a:br>
            <a:r>
              <a:rPr lang="fr-FR" dirty="0"/>
              <a:t>La fonction </a:t>
            </a:r>
            <a:r>
              <a:rPr lang="fr-FR" b="1" dirty="0" err="1"/>
              <a:t>sd</a:t>
            </a:r>
            <a:r>
              <a:rPr lang="fr-FR" b="1" dirty="0"/>
              <a:t>(x)</a:t>
            </a:r>
            <a:r>
              <a:rPr lang="fr-FR" dirty="0"/>
              <a:t> calcule l'écart-type du vecteur x.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dirty="0"/>
              <a:t>La variance et l'écart-type sont deux paramètres reliés car l'écart-type est égal à la racine carré de la variance. Si on reprend l'exemple des poids des 10 bébés :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&gt;var(poids)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&gt;</a:t>
            </a:r>
            <a:r>
              <a:rPr lang="fr-FR" dirty="0" err="1">
                <a:solidFill>
                  <a:schemeClr val="accent1"/>
                </a:solidFill>
              </a:rPr>
              <a:t>sd</a:t>
            </a:r>
            <a:r>
              <a:rPr lang="fr-FR" dirty="0">
                <a:solidFill>
                  <a:schemeClr val="accent1"/>
                </a:solidFill>
              </a:rPr>
              <a:t>(poids)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L’étendue</a:t>
            </a:r>
            <a:r>
              <a:rPr lang="fr-FR" dirty="0"/>
              <a:t> : L'étendue est la différence entre la valeur maximum et la valeur minimum d'une série de données.</a:t>
            </a:r>
          </a:p>
          <a:p>
            <a:pPr marL="0" indent="0">
              <a:buNone/>
            </a:pPr>
            <a:r>
              <a:rPr lang="fr-FR" dirty="0"/>
              <a:t>Dans notre exemple des poids des bébés: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&gt;max(poids)-min(poids)</a:t>
            </a:r>
          </a:p>
        </p:txBody>
      </p:sp>
    </p:spTree>
    <p:extLst>
      <p:ext uri="{BB962C8B-B14F-4D97-AF65-F5344CB8AC3E}">
        <p14:creationId xmlns:p14="http://schemas.microsoft.com/office/powerpoint/2010/main" val="4248961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2193" y="2168569"/>
            <a:ext cx="78443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b="1" dirty="0" smtClean="0"/>
              <a:t>4. </a:t>
            </a:r>
            <a:r>
              <a:rPr lang="fr-FR" sz="4800" b="1" dirty="0"/>
              <a:t>Les mesures de </a:t>
            </a:r>
            <a:r>
              <a:rPr lang="fr-FR" sz="4800" b="1" dirty="0" smtClean="0"/>
              <a:t>forme</a:t>
            </a:r>
            <a:endParaRPr lang="fr-FR" sz="48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875" y="3363686"/>
            <a:ext cx="6318253" cy="2488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75676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274" y="312874"/>
            <a:ext cx="10515600" cy="1325563"/>
          </a:xfrm>
        </p:spPr>
        <p:txBody>
          <a:bodyPr/>
          <a:lstStyle/>
          <a:p>
            <a:r>
              <a:rPr lang="fr-FR" dirty="0"/>
              <a:t>Les mesures de formes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On distingue généralement deux catégories de mesures de forme : les </a:t>
            </a:r>
            <a:r>
              <a:rPr lang="fr-FR" b="1" dirty="0"/>
              <a:t>mesures d'asymétrie</a:t>
            </a:r>
            <a:r>
              <a:rPr lang="fr-FR" dirty="0"/>
              <a:t> et les </a:t>
            </a:r>
            <a:r>
              <a:rPr lang="fr-FR" b="1" dirty="0"/>
              <a:t>mesures d'aplatissement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mesures de forme n'ont de sens que lorsqu'on étudie des variables quantitatives mesurées sur une échelle d'intervalles.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On analyse l’asymétrie d’une distribution par le coefficient (</a:t>
            </a:r>
            <a:r>
              <a:rPr lang="fr-FR" b="1" dirty="0" err="1"/>
              <a:t>skewness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On mesure l’aplatissement d’une distribution par le coefficient (</a:t>
            </a:r>
            <a:r>
              <a:rPr lang="fr-FR" b="1" dirty="0" err="1"/>
              <a:t>kurtosis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9796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8181" y="352062"/>
            <a:ext cx="10515600" cy="1325563"/>
          </a:xfrm>
        </p:spPr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L'asymétrie évalue dans quelle mesure les données ne sont pas symétriques.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187" y="5190343"/>
            <a:ext cx="113720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l'analyse de l'histogramme permet de se rendre compte du caractère symétrique ou non d'une distribution. 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l="33565" t="36464" r="39649" b="47509"/>
          <a:stretch/>
        </p:blipFill>
        <p:spPr bwMode="auto">
          <a:xfrm>
            <a:off x="2936383" y="2805112"/>
            <a:ext cx="5329412" cy="18827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499146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Distributions positives ou asymétriques à droite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3399" t="17937" r="53869" b="65595"/>
          <a:stretch/>
        </p:blipFill>
        <p:spPr bwMode="auto">
          <a:xfrm>
            <a:off x="721217" y="2170625"/>
            <a:ext cx="3322749" cy="35089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53060" y="2801718"/>
            <a:ext cx="75645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Les données présentant une asymétrie positive ou asymétriques à droite doivent leur appellation au fait que la "queue" de la loi de distribution pointe vers la droite et que leur valeur d'asymétrie est supérieure à 0 (ou est positive). </a:t>
            </a:r>
          </a:p>
        </p:txBody>
      </p:sp>
    </p:spTree>
    <p:extLst>
      <p:ext uri="{BB962C8B-B14F-4D97-AF65-F5344CB8AC3E}">
        <p14:creationId xmlns:p14="http://schemas.microsoft.com/office/powerpoint/2010/main" val="38649773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129" y="456565"/>
            <a:ext cx="10515600" cy="1325563"/>
          </a:xfrm>
        </p:spPr>
        <p:txBody>
          <a:bodyPr/>
          <a:lstStyle/>
          <a:p>
            <a:r>
              <a:rPr lang="fr-FR" dirty="0"/>
              <a:t>Distributions négatives ou asymétriques à gauche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33564" t="33522" r="53539" b="50304"/>
          <a:stretch/>
        </p:blipFill>
        <p:spPr bwMode="auto">
          <a:xfrm>
            <a:off x="1174372" y="2430919"/>
            <a:ext cx="3217323" cy="36092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778062" y="2794715"/>
            <a:ext cx="67871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Les données asymétriques à gauche ou présentant une asymétrie négative doivent leur nom au fait que la "queue" de leur loi de distribution pointe vers la gauche et qu'elles génèrent une valeur d'asymétrie négative.</a:t>
            </a:r>
          </a:p>
        </p:txBody>
      </p:sp>
    </p:spTree>
    <p:extLst>
      <p:ext uri="{BB962C8B-B14F-4D97-AF65-F5344CB8AC3E}">
        <p14:creationId xmlns:p14="http://schemas.microsoft.com/office/powerpoint/2010/main" val="21137978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515" y="443502"/>
            <a:ext cx="10515600" cy="1325563"/>
          </a:xfrm>
        </p:spPr>
        <p:txBody>
          <a:bodyPr/>
          <a:lstStyle/>
          <a:p>
            <a:r>
              <a:rPr lang="fr-FR" dirty="0"/>
              <a:t>Aplatissement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6372"/>
            <a:ext cx="10515600" cy="537048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/>
              <a:t>L'aplatissement indique dans quelle mesure les queues d'une loi diffèrent de la loi normale.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Interprétation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Une valeur d'aplatissement de 0 indique que les données suivent parfaitement la loi de distribution normale. </a:t>
            </a:r>
          </a:p>
          <a:p>
            <a:pPr marL="0" indent="0">
              <a:buNone/>
            </a:pPr>
            <a:r>
              <a:rPr lang="fr-FR" dirty="0"/>
              <a:t>Une valeur d'aplatissement déviant significativement de la valeur 0 peut indiquer que les données ne sont pas distribuées normalement.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3234" t="17643" r="46098" b="57067"/>
          <a:stretch/>
        </p:blipFill>
        <p:spPr bwMode="auto">
          <a:xfrm>
            <a:off x="4159876" y="2130782"/>
            <a:ext cx="2292439" cy="12692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676807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933" y="247559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Aplatissement positif- négatif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9722" y="2073499"/>
            <a:ext cx="7740203" cy="2215166"/>
          </a:xfrm>
        </p:spPr>
        <p:txBody>
          <a:bodyPr/>
          <a:lstStyle/>
          <a:p>
            <a:r>
              <a:rPr lang="fr-FR" b="1" dirty="0"/>
              <a:t>Aplatissement positif</a:t>
            </a:r>
          </a:p>
          <a:p>
            <a:pPr marL="0" indent="0">
              <a:buNone/>
            </a:pPr>
            <a:r>
              <a:rPr lang="fr-FR" dirty="0"/>
              <a:t>Les données possédant une valeur d'aplatissement positive présentent des queues plus lourdes qu'avec la loi normale.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3565" t="17643" r="45767" b="57067"/>
          <a:stretch/>
        </p:blipFill>
        <p:spPr bwMode="auto">
          <a:xfrm>
            <a:off x="1229933" y="1970468"/>
            <a:ext cx="2588654" cy="19060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/>
          <a:srcRect l="33565" t="17349" r="45767" b="57067"/>
          <a:stretch/>
        </p:blipFill>
        <p:spPr bwMode="auto">
          <a:xfrm>
            <a:off x="1300767" y="4658900"/>
            <a:ext cx="2517820" cy="17547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297254" y="4658900"/>
            <a:ext cx="789474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/>
              <a:t>Aplatissement négatif</a:t>
            </a:r>
          </a:p>
          <a:p>
            <a:r>
              <a:rPr lang="fr-FR" sz="2800" dirty="0"/>
              <a:t>Les données ayant une valeur d'aplatissement négative présentent des queues plus légères qu'avec la loi normale.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7762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5363" y="2418082"/>
            <a:ext cx="767344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800" b="1" dirty="0"/>
              <a:t>5. Représentation Graphique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3513907"/>
            <a:ext cx="4853577" cy="273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9663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0086" y="299811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Représentation graphique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1070"/>
            <a:ext cx="10515600" cy="46958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la représentation graphique dépend du type de variable.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/>
              <a:t>Variable qualitative</a:t>
            </a:r>
          </a:p>
          <a:p>
            <a:r>
              <a:rPr lang="fr-FR" sz="3000" dirty="0">
                <a:latin typeface="Times New Roman"/>
                <a:cs typeface="Times New Roman"/>
              </a:rPr>
              <a:t>Diagramme en bâtons</a:t>
            </a:r>
          </a:p>
          <a:p>
            <a:pPr marL="0" indent="0">
              <a:buNone/>
            </a:pPr>
            <a:r>
              <a:rPr lang="fr-FR" dirty="0"/>
              <a:t>Pour les variables pour lesquelles il est possible de calculer les effectifs, on peut tracer un diagramme en bâton :</a:t>
            </a:r>
          </a:p>
          <a:p>
            <a:pPr marL="0" indent="0">
              <a:buNone/>
            </a:pPr>
            <a:r>
              <a:rPr lang="fr-FR" sz="2800" b="1" dirty="0">
                <a:latin typeface="Times New Roman"/>
                <a:cs typeface="Times New Roman"/>
              </a:rPr>
              <a:t>Commande: </a:t>
            </a:r>
            <a:r>
              <a:rPr lang="fr-FR" sz="2800" b="1" dirty="0" err="1">
                <a:latin typeface="Times New Roman"/>
                <a:cs typeface="Times New Roman"/>
              </a:rPr>
              <a:t>barplot</a:t>
            </a:r>
            <a:r>
              <a:rPr lang="fr-FR" sz="2800" b="1" dirty="0">
                <a:latin typeface="Times New Roman"/>
                <a:cs typeface="Times New Roman"/>
              </a:rPr>
              <a:t>(table(    ))</a:t>
            </a:r>
          </a:p>
          <a:p>
            <a:r>
              <a:rPr lang="fr-FR" dirty="0">
                <a:latin typeface="Times New Roman"/>
                <a:cs typeface="Times New Roman"/>
              </a:rPr>
              <a:t>Diagramme circulaire</a:t>
            </a:r>
            <a:endParaRPr lang="fr-FR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fr-FR" dirty="0"/>
              <a:t>Il est également possible de tracer des camemberts, cela peut se faire avec la</a:t>
            </a:r>
          </a:p>
          <a:p>
            <a:pPr marL="0" indent="0">
              <a:buNone/>
            </a:pPr>
            <a:r>
              <a:rPr lang="fr-FR" b="1" dirty="0">
                <a:latin typeface="Times New Roman"/>
                <a:cs typeface="Times New Roman"/>
              </a:rPr>
              <a:t>Commande:</a:t>
            </a:r>
            <a:r>
              <a:rPr lang="fr-FR" dirty="0"/>
              <a:t> </a:t>
            </a:r>
            <a:r>
              <a:rPr lang="fr-FR" b="1" dirty="0">
                <a:latin typeface="Times New Roman"/>
                <a:cs typeface="Times New Roman"/>
              </a:rPr>
              <a:t>pie ( )</a:t>
            </a:r>
          </a:p>
        </p:txBody>
      </p:sp>
    </p:spTree>
    <p:extLst>
      <p:ext uri="{BB962C8B-B14F-4D97-AF65-F5344CB8AC3E}">
        <p14:creationId xmlns:p14="http://schemas.microsoft.com/office/powerpoint/2010/main" val="33739074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962" y="286747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Diagramme en bâtons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5786" y="1533488"/>
            <a:ext cx="110373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dirty="0">
                <a:latin typeface="+mn-lt"/>
              </a:rPr>
              <a:t>Les diagrammes en bâtons sont utilisés pour représenter des séries à variable  discrète.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dirty="0">
                <a:latin typeface="+mn-lt"/>
              </a:rPr>
              <a:t>On dit aussi 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fr-FR" sz="2400" dirty="0">
                <a:latin typeface="+mn-lt"/>
              </a:rPr>
              <a:t>Les diagrammes en bâtons sont utilisés pour représenter des séries à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dirty="0">
                <a:latin typeface="+mn-lt"/>
              </a:rPr>
              <a:t>caractère discret 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fr-FR" sz="2400" dirty="0">
                <a:latin typeface="+mn-lt"/>
              </a:rPr>
              <a:t>Les diagrammes en bâtons sont utilisés pour représenter des séries à caractère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dirty="0">
                <a:latin typeface="+mn-lt"/>
              </a:rPr>
              <a:t>( variable) discontinu</a:t>
            </a:r>
            <a:r>
              <a:rPr lang="fr-FR" sz="1400" b="1" dirty="0">
                <a:solidFill>
                  <a:srgbClr val="000000"/>
                </a:solidFill>
                <a:latin typeface="Agency FB"/>
                <a:cs typeface="Times New Roman" panose="02020603050405020304" pitchFamily="18" charset="0"/>
              </a:rPr>
              <a:t>.</a:t>
            </a: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40675" t="31759" r="27249" b="29131"/>
          <a:stretch/>
        </p:blipFill>
        <p:spPr bwMode="auto">
          <a:xfrm>
            <a:off x="1571223" y="4146997"/>
            <a:ext cx="3657599" cy="21636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640945" y="4318331"/>
            <a:ext cx="6207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Les valeurs x prises par les variables sont placées sur l'axe des abscisses, et les effectifs (ou les fréquences) sur l'axe des ordonnées. La hauteur du bâton est proportionnelle à l'effectif. </a:t>
            </a:r>
          </a:p>
        </p:txBody>
      </p:sp>
    </p:spTree>
    <p:extLst>
      <p:ext uri="{BB962C8B-B14F-4D97-AF65-F5344CB8AC3E}">
        <p14:creationId xmlns:p14="http://schemas.microsoft.com/office/powerpoint/2010/main" val="14825802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771" y="339000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Diagramme circulaire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Le diagramme circulaire peut être un camembert ou un </a:t>
            </a:r>
            <a:r>
              <a:rPr lang="fr-FR" dirty="0" err="1"/>
              <a:t>donut</a:t>
            </a:r>
            <a:r>
              <a:rPr lang="fr-FR" dirty="0"/>
              <a:t> </a:t>
            </a:r>
            <a:r>
              <a:rPr lang="fr-FR" dirty="0" err="1"/>
              <a:t>chart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 diagramme circulaire ou camembert permet de représenter des proportions. Dans un camembert, c'est l'angle qui représente la part de chaque catégorie dans un tout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14219" t="54401" r="74868" b="30308"/>
          <a:stretch/>
        </p:blipFill>
        <p:spPr bwMode="auto">
          <a:xfrm>
            <a:off x="5087155" y="4438316"/>
            <a:ext cx="2305319" cy="1738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58353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652" y="241487"/>
            <a:ext cx="10515600" cy="1325563"/>
          </a:xfrm>
        </p:spPr>
        <p:txBody>
          <a:bodyPr/>
          <a:lstStyle/>
          <a:p>
            <a:r>
              <a:rPr lang="fr-FR" dirty="0"/>
              <a:t>Application : Diagramme en bâtons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727" y="1539209"/>
            <a:ext cx="11126273" cy="51080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Soit la base de données « hdv2003 » du package </a:t>
            </a:r>
            <a:r>
              <a:rPr lang="fr-FR" dirty="0" err="1"/>
              <a:t>questionr</a:t>
            </a:r>
            <a:endParaRPr lang="fr-FR" dirty="0"/>
          </a:p>
          <a:p>
            <a:pPr marL="109728" indent="0">
              <a:buNone/>
            </a:pPr>
            <a:r>
              <a:rPr lang="fr-FR" dirty="0">
                <a:latin typeface="Times New Roman"/>
                <a:cs typeface="Times New Roman"/>
              </a:rPr>
              <a:t>Représenter le diagramme en bâtons de la variable qualitative </a:t>
            </a:r>
            <a:r>
              <a:rPr lang="fr-FR" dirty="0" err="1">
                <a:latin typeface="Times New Roman"/>
                <a:cs typeface="Times New Roman"/>
              </a:rPr>
              <a:t>occup</a:t>
            </a:r>
            <a:r>
              <a:rPr lang="fr-FR" dirty="0">
                <a:latin typeface="Times New Roman"/>
                <a:cs typeface="Times New Roman"/>
              </a:rPr>
              <a:t>.</a:t>
            </a:r>
          </a:p>
          <a:p>
            <a:pPr marL="109728" indent="0">
              <a:buNone/>
            </a:pPr>
            <a:endParaRPr lang="fr-FR" b="1" dirty="0">
              <a:latin typeface="Times New Roman"/>
              <a:cs typeface="Times New Roman"/>
            </a:endParaRP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&gt;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library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(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questionr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)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&gt;data(hdv2003) # Chargement des données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&gt;hdv2003.bis &lt;- hdv2003[,-1] # Efface la variable id (colonne 1)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&gt; 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barplot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(table(hdv2003.bis$occup), 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+             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horiz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 = 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TRUE,las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=1, 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+             col = "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purple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", 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+             border = "white",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+             main ="Effectif par situation 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professionelle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",</a:t>
            </a:r>
          </a:p>
          <a:p>
            <a:pPr marL="109728" indent="0">
              <a:buNone/>
            </a:pP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+             </a:t>
            </a:r>
            <a:r>
              <a:rPr lang="fr-FR" b="1" dirty="0" err="1">
                <a:solidFill>
                  <a:schemeClr val="accent1"/>
                </a:solidFill>
                <a:latin typeface="Times New Roman"/>
                <a:cs typeface="Times New Roman"/>
              </a:rPr>
              <a:t>xlab</a:t>
            </a:r>
            <a:r>
              <a:rPr lang="fr-FR" b="1" dirty="0">
                <a:solidFill>
                  <a:schemeClr val="accent1"/>
                </a:solidFill>
                <a:latin typeface="Times New Roman"/>
                <a:cs typeface="Times New Roman"/>
              </a:rPr>
              <a:t> = "Effectifs")</a:t>
            </a:r>
          </a:p>
          <a:p>
            <a:pPr marL="109728" indent="0">
              <a:buNone/>
            </a:pPr>
            <a:endParaRPr lang="fr-FR" b="1" dirty="0">
              <a:latin typeface="Times New Roman"/>
              <a:cs typeface="Times New Roman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51963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6212" y="178750"/>
            <a:ext cx="10515600" cy="1325563"/>
          </a:xfrm>
        </p:spPr>
        <p:txBody>
          <a:bodyPr/>
          <a:lstStyle/>
          <a:p>
            <a:r>
              <a:rPr lang="fr-FR" dirty="0"/>
              <a:t>Représentation graphique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478187"/>
            <a:ext cx="10515600" cy="5155976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fr-FR" sz="2800" b="1" dirty="0"/>
              <a:t>Variable quantitative</a:t>
            </a:r>
            <a:endParaRPr lang="fr-FR" sz="2800" dirty="0">
              <a:latin typeface="Times New Roman"/>
              <a:cs typeface="Times New Roman"/>
            </a:endParaRPr>
          </a:p>
          <a:p>
            <a:pPr lvl="1"/>
            <a:r>
              <a:rPr lang="fr-FR" sz="2800" dirty="0">
                <a:latin typeface="Times New Roman"/>
                <a:cs typeface="Times New Roman"/>
              </a:rPr>
              <a:t>Histogramme:</a:t>
            </a:r>
          </a:p>
          <a:p>
            <a:pPr marL="457200" lvl="1" indent="0">
              <a:buNone/>
            </a:pPr>
            <a:r>
              <a:rPr lang="fr-FR" sz="2800" dirty="0">
                <a:latin typeface="Times New Roman"/>
                <a:cs typeface="Times New Roman"/>
              </a:rPr>
              <a:t> </a:t>
            </a:r>
            <a:r>
              <a:rPr lang="fr-FR" sz="2800" dirty="0"/>
              <a:t>Un histogramme d’une série statistique est donné par la</a:t>
            </a:r>
            <a:r>
              <a:rPr lang="fr-FR" sz="2800" dirty="0">
                <a:latin typeface="Times New Roman"/>
                <a:cs typeface="Times New Roman"/>
              </a:rPr>
              <a:t> fonction : </a:t>
            </a:r>
            <a:r>
              <a:rPr lang="fr-FR" sz="2800" b="1" i="1" dirty="0" err="1">
                <a:latin typeface="Times New Roman"/>
                <a:cs typeface="Times New Roman"/>
              </a:rPr>
              <a:t>hist</a:t>
            </a:r>
            <a:r>
              <a:rPr lang="fr-FR" sz="2800" b="1" i="1" dirty="0">
                <a:latin typeface="Times New Roman"/>
                <a:cs typeface="Times New Roman"/>
              </a:rPr>
              <a:t>( )</a:t>
            </a:r>
          </a:p>
          <a:p>
            <a:pPr marL="457200" lvl="1" indent="0">
              <a:buNone/>
            </a:pPr>
            <a:endParaRPr lang="fr-FR" sz="2800" b="1" i="1" dirty="0">
              <a:latin typeface="Times New Roman"/>
              <a:cs typeface="Times New Roman"/>
            </a:endParaRPr>
          </a:p>
          <a:p>
            <a:pPr marL="109728" indent="0">
              <a:buNone/>
            </a:pPr>
            <a:r>
              <a:rPr lang="fr-FR" b="1" dirty="0">
                <a:latin typeface="Times New Roman"/>
                <a:cs typeface="Times New Roman"/>
              </a:rPr>
              <a:t>Exemple</a:t>
            </a:r>
            <a:r>
              <a:rPr lang="fr-FR" dirty="0">
                <a:latin typeface="Times New Roman"/>
                <a:cs typeface="Times New Roman"/>
              </a:rPr>
              <a:t>: Les données « cars »  </a:t>
            </a:r>
          </a:p>
          <a:p>
            <a:pPr marL="109728" indent="0">
              <a:buNone/>
            </a:pPr>
            <a:r>
              <a:rPr lang="fr-FR" dirty="0">
                <a:latin typeface="Times New Roman"/>
                <a:cs typeface="Times New Roman"/>
              </a:rPr>
              <a:t>Représenter l’histogramme de la variable quantitative </a:t>
            </a:r>
            <a:r>
              <a:rPr lang="fr-FR" b="1" i="1" dirty="0">
                <a:latin typeface="Times New Roman"/>
                <a:cs typeface="Times New Roman"/>
              </a:rPr>
              <a:t>speed</a:t>
            </a:r>
            <a:r>
              <a:rPr lang="fr-FR" dirty="0">
                <a:latin typeface="Times New Roman"/>
                <a:cs typeface="Times New Roman"/>
              </a:rPr>
              <a:t>.</a:t>
            </a:r>
          </a:p>
          <a:p>
            <a:pPr marL="109728" indent="0">
              <a:buNone/>
            </a:pPr>
            <a:r>
              <a:rPr lang="fr-FR" dirty="0">
                <a:solidFill>
                  <a:schemeClr val="accent1"/>
                </a:solidFill>
                <a:latin typeface="Andale Mono"/>
                <a:cs typeface="Andale Mono"/>
              </a:rPr>
              <a:t>&gt;</a:t>
            </a:r>
            <a:r>
              <a:rPr lang="fr-FR" dirty="0" err="1">
                <a:solidFill>
                  <a:schemeClr val="accent1"/>
                </a:solidFill>
                <a:latin typeface="Andale Mono"/>
                <a:cs typeface="Andale Mono"/>
              </a:rPr>
              <a:t>hist</a:t>
            </a:r>
            <a:r>
              <a:rPr lang="fr-FR" dirty="0">
                <a:solidFill>
                  <a:schemeClr val="accent1"/>
                </a:solidFill>
                <a:latin typeface="Andale Mono"/>
                <a:cs typeface="Andale Mono"/>
              </a:rPr>
              <a:t>(</a:t>
            </a:r>
            <a:r>
              <a:rPr lang="fr-FR" dirty="0" err="1">
                <a:solidFill>
                  <a:schemeClr val="accent1"/>
                </a:solidFill>
                <a:latin typeface="Andale Mono"/>
                <a:cs typeface="Andale Mono"/>
              </a:rPr>
              <a:t>cars$speed</a:t>
            </a:r>
            <a:r>
              <a:rPr lang="fr-FR" dirty="0">
                <a:solidFill>
                  <a:schemeClr val="accent1"/>
                </a:solidFill>
                <a:latin typeface="Andale Mono"/>
                <a:cs typeface="Andale Mono"/>
              </a:rPr>
              <a:t>, main="histogramme")</a:t>
            </a:r>
          </a:p>
          <a:p>
            <a:pPr marL="109728" indent="0">
              <a:buNone/>
            </a:pPr>
            <a:endParaRPr lang="fr-FR" sz="2800" dirty="0"/>
          </a:p>
          <a:p>
            <a:pPr lvl="1"/>
            <a:r>
              <a:rPr lang="fr-FR" sz="2800" dirty="0"/>
              <a:t>Boîte à moustache :</a:t>
            </a:r>
          </a:p>
          <a:p>
            <a:pPr marL="457200" lvl="1" indent="0">
              <a:buNone/>
            </a:pPr>
            <a:r>
              <a:rPr lang="fr-FR" sz="2800" dirty="0"/>
              <a:t>Une boîte à moustache est réalisée en utilisant la fonction </a:t>
            </a:r>
            <a:r>
              <a:rPr lang="fr-FR" sz="2800" b="1" dirty="0" err="1"/>
              <a:t>boxplot</a:t>
            </a:r>
            <a:r>
              <a:rPr lang="fr-FR" sz="2800" dirty="0"/>
              <a:t> ()</a:t>
            </a:r>
            <a:endParaRPr lang="fr-FR" sz="2800" b="1" i="1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62473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486" y="18218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Histogramme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2434"/>
            <a:ext cx="10515600" cy="47345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Un histogramme divise les valeurs des échantillons en plusieurs intervalles et représente l'effectif des valeurs contenues dans chaque intervalle par une barre.</a:t>
            </a:r>
          </a:p>
          <a:p>
            <a:pPr marL="0" indent="0">
              <a:buNone/>
            </a:pPr>
            <a:r>
              <a:rPr lang="fr-FR" dirty="0"/>
              <a:t>un </a:t>
            </a:r>
            <a:r>
              <a:rPr lang="fr-FR" b="1" dirty="0"/>
              <a:t>histogramme</a:t>
            </a:r>
            <a:r>
              <a:rPr lang="fr-FR" dirty="0"/>
              <a:t> est une </a:t>
            </a:r>
            <a:r>
              <a:rPr lang="fr-FR" b="1" dirty="0"/>
              <a:t>représentation graphique</a:t>
            </a:r>
            <a:r>
              <a:rPr lang="fr-FR" dirty="0"/>
              <a:t> permettant de représenter la répartition d'une </a:t>
            </a:r>
            <a:r>
              <a:rPr lang="fr-FR" b="1" dirty="0"/>
              <a:t>variable continue </a:t>
            </a:r>
            <a:r>
              <a:rPr lang="fr-FR" dirty="0"/>
              <a:t>en la représentant avec des colonnes verticales.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Interprétation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Utilisez un histogramme pour évaluer la forme et la dispersion des données. Les histogrammes sont plus adaptés lorsque l'effectif d'échantillon est supérieur à 20.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0588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l="26125" t="10292" r="27083" b="23839"/>
          <a:stretch/>
        </p:blipFill>
        <p:spPr bwMode="auto">
          <a:xfrm>
            <a:off x="3721995" y="1679757"/>
            <a:ext cx="4018208" cy="33109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01331" y="563212"/>
            <a:ext cx="106712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>
                <a:solidFill>
                  <a:srgbClr val="FF0000"/>
                </a:solidFill>
              </a:rPr>
              <a:t>Exemple </a:t>
            </a:r>
            <a:r>
              <a:rPr lang="fr-FR" sz="2600" dirty="0" smtClean="0">
                <a:solidFill>
                  <a:srgbClr val="FF0000"/>
                </a:solidFill>
              </a:rPr>
              <a:t>d'histogramme</a:t>
            </a:r>
            <a:r>
              <a:rPr lang="fr-FR" sz="2600" dirty="0" smtClean="0"/>
              <a:t>: </a:t>
            </a:r>
            <a:r>
              <a:rPr lang="fr-FR" sz="2600" dirty="0"/>
              <a:t>pour un échantillon de 100 valeurs générées pour une distribution normale N(0,1).</a:t>
            </a:r>
          </a:p>
          <a:p>
            <a:endParaRPr lang="fr-FR" dirty="0"/>
          </a:p>
        </p:txBody>
      </p:sp>
      <p:sp>
        <p:nvSpPr>
          <p:cNvPr id="8" name="TextBox 7"/>
          <p:cNvSpPr txBox="1"/>
          <p:nvPr/>
        </p:nvSpPr>
        <p:spPr>
          <a:xfrm>
            <a:off x="519448" y="5280338"/>
            <a:ext cx="1115310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dirty="0"/>
              <a:t>En théorie, l'histogramme est la représentation graphique de la densité en tant que fonction des différents intervalles de la partition de l'ensemble des modalités. </a:t>
            </a:r>
          </a:p>
        </p:txBody>
      </p:sp>
    </p:spTree>
    <p:extLst>
      <p:ext uri="{BB962C8B-B14F-4D97-AF65-F5344CB8AC3E}">
        <p14:creationId xmlns:p14="http://schemas.microsoft.com/office/powerpoint/2010/main" val="16236477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337" y="169817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Boîte à moustache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268" y="1394415"/>
            <a:ext cx="10515600" cy="5030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 boîte à moustaches indique la forme, la tendance centrale et la variabilité des données. Elle examine </a:t>
            </a:r>
            <a:r>
              <a:rPr lang="fr-FR" sz="2800" dirty="0"/>
              <a:t>la dispersion des données pour déterminer si elles semblent  asymétriques. 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dirty="0"/>
              <a:t>Lorsque les données sont asymétriques, la majorité d'entre elles sont situées 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dirty="0"/>
              <a:t>sur le côté supérieur ou inférieur du graphique.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33565" t="40874" r="37334" b="37071"/>
          <a:stretch/>
        </p:blipFill>
        <p:spPr bwMode="auto">
          <a:xfrm>
            <a:off x="2466120" y="2596139"/>
            <a:ext cx="6014434" cy="26272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687313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337" y="378188"/>
            <a:ext cx="10515600" cy="1325563"/>
          </a:xfrm>
        </p:spPr>
        <p:txBody>
          <a:bodyPr/>
          <a:lstStyle/>
          <a:p>
            <a:r>
              <a:rPr lang="fr-FR" dirty="0"/>
              <a:t>Interprétation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4105" y="1984367"/>
            <a:ext cx="12105320" cy="3930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2830" tIns="36501" rIns="9144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/>
              <a:t>Utilisez une boîte à moustaches pour examiner la dispersion des données et pour </a:t>
            </a:r>
          </a:p>
          <a:p>
            <a:pPr marL="0" indent="0">
              <a:buNone/>
            </a:pPr>
            <a:r>
              <a:rPr lang="fr-FR" sz="2400" dirty="0"/>
              <a:t>détecter d'éventuelles valeurs aberrantes. </a:t>
            </a:r>
          </a:p>
          <a:p>
            <a:pPr marL="0" indent="0">
              <a:buNone/>
            </a:pPr>
            <a:endParaRPr lang="fr-FR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/>
              <a:t>Les boîtes à moustaches sont plus adaptées lorsque l'effectif d'échantillon est supérieur à 20.</a:t>
            </a:r>
          </a:p>
          <a:p>
            <a:pPr marL="0" indent="0">
              <a:buNone/>
            </a:pPr>
            <a:endParaRPr lang="fr-FR" sz="2400" dirty="0"/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fr-FR" dirty="0"/>
              <a:t>En général, l'asymétrie des données est plus facile à détecter avec un histogramme </a:t>
            </a:r>
          </a:p>
          <a:p>
            <a:pPr marL="4572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dirty="0"/>
              <a:t>ou une boîte à moustaches.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8313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337" y="338998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Quelques fonctions statistiques avec R </a:t>
            </a:r>
          </a:p>
        </p:txBody>
      </p:sp>
      <p:graphicFrame>
        <p:nvGraphicFramePr>
          <p:cNvPr id="4" name="Objet 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512057"/>
              </p:ext>
            </p:extLst>
          </p:nvPr>
        </p:nvGraphicFramePr>
        <p:xfrm>
          <a:off x="3143250" y="2160588"/>
          <a:ext cx="5905500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Document" r:id="rId4" imgW="5905500" imgH="3683000" progId="Word.Document.12">
                  <p:embed/>
                </p:oleObj>
              </mc:Choice>
              <mc:Fallback>
                <p:oleObj name="Document" r:id="rId4" imgW="5905500" imgH="36830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43250" y="2160588"/>
                        <a:ext cx="5905500" cy="368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09177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ESPRIT (1)</Template>
  <TotalTime>4597</TotalTime>
  <Words>1758</Words>
  <Application>Microsoft Office PowerPoint</Application>
  <PresentationFormat>Personnalisé</PresentationFormat>
  <Paragraphs>314</Paragraphs>
  <Slides>46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48" baseType="lpstr">
      <vt:lpstr>Thème Office</vt:lpstr>
      <vt:lpstr>Document</vt:lpstr>
      <vt:lpstr>Analyse Statistique Univariée</vt:lpstr>
      <vt:lpstr>Principe de l’analyse univariée</vt:lpstr>
      <vt:lpstr>Présentation PowerPoint</vt:lpstr>
      <vt:lpstr>Effectifs</vt:lpstr>
      <vt:lpstr>Effectifs</vt:lpstr>
      <vt:lpstr>Trois catégories de valeurs typiques</vt:lpstr>
      <vt:lpstr>Présentation PowerPoint</vt:lpstr>
      <vt:lpstr>Les mesures de tendance centrale</vt:lpstr>
      <vt:lpstr>La moyenne</vt:lpstr>
      <vt:lpstr>Interprétation </vt:lpstr>
      <vt:lpstr>Calcul de la moyenne</vt:lpstr>
      <vt:lpstr>Le Mode</vt:lpstr>
      <vt:lpstr>Présentation PowerPoint</vt:lpstr>
      <vt:lpstr>La médiane</vt:lpstr>
      <vt:lpstr>Présentation PowerPoint</vt:lpstr>
      <vt:lpstr>Interprétation </vt:lpstr>
      <vt:lpstr>La symétrie de la distribution</vt:lpstr>
      <vt:lpstr>Position de la moyenne et la médiane </vt:lpstr>
      <vt:lpstr>Calcul de La médiane</vt:lpstr>
      <vt:lpstr>Présentation PowerPoint</vt:lpstr>
      <vt:lpstr>Présentation PowerPoint</vt:lpstr>
      <vt:lpstr>Présentation PowerPoint</vt:lpstr>
      <vt:lpstr>Les mesures de Dispersion</vt:lpstr>
      <vt:lpstr>Les quantiles</vt:lpstr>
      <vt:lpstr>Interprétation</vt:lpstr>
      <vt:lpstr>L’écart type</vt:lpstr>
      <vt:lpstr>Interprétation</vt:lpstr>
      <vt:lpstr>Calcul de la variance, l’écart type et l’étendue</vt:lpstr>
      <vt:lpstr>Présentation PowerPoint</vt:lpstr>
      <vt:lpstr>Les mesures de formes</vt:lpstr>
      <vt:lpstr>Asymétrie</vt:lpstr>
      <vt:lpstr>Distributions positives ou asymétriques à droite</vt:lpstr>
      <vt:lpstr>Distributions négatives ou asymétriques à gauche</vt:lpstr>
      <vt:lpstr>Aplatissement </vt:lpstr>
      <vt:lpstr>Aplatissement positif- négatif</vt:lpstr>
      <vt:lpstr>Présentation PowerPoint</vt:lpstr>
      <vt:lpstr>Représentation graphique</vt:lpstr>
      <vt:lpstr>Diagramme en bâtons</vt:lpstr>
      <vt:lpstr>Diagramme circulaire</vt:lpstr>
      <vt:lpstr>Application : Diagramme en bâtons</vt:lpstr>
      <vt:lpstr>Représentation graphique</vt:lpstr>
      <vt:lpstr>Histogramme</vt:lpstr>
      <vt:lpstr>Présentation PowerPoint</vt:lpstr>
      <vt:lpstr>Boîte à moustache</vt:lpstr>
      <vt:lpstr>Interprétation</vt:lpstr>
      <vt:lpstr>Quelques fonctions statistiques avec R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Utilisateur Windows</cp:lastModifiedBy>
  <cp:revision>111</cp:revision>
  <dcterms:created xsi:type="dcterms:W3CDTF">2019-09-14T11:01:43Z</dcterms:created>
  <dcterms:modified xsi:type="dcterms:W3CDTF">2020-10-10T16:58:58Z</dcterms:modified>
</cp:coreProperties>
</file>