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59" r:id="rId8"/>
    <p:sldId id="264" r:id="rId9"/>
    <p:sldId id="262" r:id="rId10"/>
    <p:sldId id="263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6" r:id="rId20"/>
    <p:sldId id="279" r:id="rId21"/>
    <p:sldId id="278" r:id="rId22"/>
    <p:sldId id="280" r:id="rId23"/>
    <p:sldId id="281" r:id="rId24"/>
    <p:sldId id="282" r:id="rId25"/>
    <p:sldId id="283" r:id="rId26"/>
    <p:sldId id="284" r:id="rId27"/>
  </p:sldIdLst>
  <p:sldSz cx="12192000" cy="6858000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-618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0359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2753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4661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044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2856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86743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6301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5158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5138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3106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752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C7FC5-1F46-40E5-8DC0-957281E9B0DB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0441-4E6B-4F28-90FA-E0533D1BE6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43B75BB-8EF7-46A9-AB3A-084887C51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162" y="2178183"/>
            <a:ext cx="9144000" cy="1551263"/>
          </a:xfrm>
        </p:spPr>
        <p:txBody>
          <a:bodyPr>
            <a:normAutofit fontScale="90000"/>
          </a:bodyPr>
          <a:lstStyle/>
          <a:p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Analyse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statistique </a:t>
            </a:r>
            <a:r>
              <a:rPr lang="fr-FR" sz="8000" dirty="0" err="1" smtClean="0">
                <a:latin typeface="Times New Roman" pitchFamily="18" charset="0"/>
                <a:cs typeface="Times New Roman" pitchFamily="18" charset="0"/>
              </a:rPr>
              <a:t>Bivariée</a:t>
            </a:r>
            <a:endParaRPr lang="fr-FR" sz="8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Image 2" descr="logo-esprit">
            <a:extLst>
              <a:ext uri="{FF2B5EF4-FFF2-40B4-BE49-F238E27FC236}">
                <a16:creationId xmlns:a16="http://schemas.microsoft.com/office/drawing/2014/main" xmlns="" id="{028F5817-BD5E-4088-97E6-2BE91A8C418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103" y="622785"/>
            <a:ext cx="2000794" cy="7032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5FF1F786-37CB-471F-9A45-3F6D10AF3D48}"/>
              </a:ext>
            </a:extLst>
          </p:cNvPr>
          <p:cNvSpPr txBox="1"/>
          <p:nvPr/>
        </p:nvSpPr>
        <p:spPr>
          <a:xfrm>
            <a:off x="3905250" y="3857408"/>
            <a:ext cx="3933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4 ERP-BI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FDB04DC8-F0D9-438B-9A42-204E1AD0C25D}"/>
              </a:ext>
            </a:extLst>
          </p:cNvPr>
          <p:cNvSpPr txBox="1"/>
          <p:nvPr/>
        </p:nvSpPr>
        <p:spPr>
          <a:xfrm>
            <a:off x="7839075" y="5729737"/>
            <a:ext cx="451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2019-2020</a:t>
            </a:r>
          </a:p>
        </p:txBody>
      </p:sp>
    </p:spTree>
    <p:extLst>
      <p:ext uri="{BB962C8B-B14F-4D97-AF65-F5344CB8AC3E}">
        <p14:creationId xmlns:p14="http://schemas.microsoft.com/office/powerpoint/2010/main" val="3544247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94778BC-6D84-4B09-ADDD-741C3CB2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460" y="744991"/>
            <a:ext cx="10515600" cy="615950"/>
          </a:xfrm>
        </p:spPr>
        <p:txBody>
          <a:bodyPr>
            <a:no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commencer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C0CB59F6-CCFD-417A-BFC2-96BAC75E9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57" y="1419225"/>
            <a:ext cx="11827565" cy="4824413"/>
          </a:xfrm>
        </p:spPr>
        <p:txBody>
          <a:bodyPr>
            <a:normAutofit/>
          </a:bodyPr>
          <a:lstStyle/>
          <a:p>
            <a:endParaRPr lang="fr-FR" sz="4000" dirty="0"/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statistique bivariée est l’étude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relations 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deux variables, quantitatives ou qualitatives. </a:t>
            </a:r>
          </a:p>
          <a:p>
            <a:pPr marL="0" indent="0">
              <a:buNone/>
            </a:pP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statistique bivariée fait partie de la statistique descriptive.</a:t>
            </a:r>
          </a:p>
        </p:txBody>
      </p:sp>
    </p:spTree>
    <p:extLst>
      <p:ext uri="{BB962C8B-B14F-4D97-AF65-F5344CB8AC3E}">
        <p14:creationId xmlns:p14="http://schemas.microsoft.com/office/powerpoint/2010/main" val="35190945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0BB3077-6F54-4366-894D-E07C54B88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417378"/>
            <a:ext cx="10515600" cy="977900"/>
          </a:xfrm>
        </p:spPr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Deux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quantitatives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2CA837B-EF59-4B67-9A54-73753CB81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605338"/>
          </a:xfrm>
        </p:spPr>
        <p:txBody>
          <a:bodyPr>
            <a:normAutofit fontScale="92500" lnSpcReduction="20000"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deux caractères quantitatifs X et Y.</a:t>
            </a:r>
          </a:p>
          <a:p>
            <a:pPr marL="0" indent="0">
              <a:buNone/>
            </a:pP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dit qu'il existe une 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entre X et Y si l'attribution des modalités de X et de Y ne se fait pas au hasard, c'est à dire si les valeurs de X 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dépendent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des valeurs de Y ou si les valeurs de Y 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dépendent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valeurs de X.</a:t>
            </a:r>
          </a:p>
          <a:p>
            <a:pPr marL="0" indent="0">
              <a:buNone/>
            </a:pP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d'autres termes, si Y dépend de X, on peut trouver une fonction f telle que :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Y=f(X)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DFA23E7-D318-43C0-85C4-5AAA49C5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938" y="540768"/>
            <a:ext cx="10515600" cy="768350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Représentation graphique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F4C2810-1CB5-4C18-B9DE-F33FE195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924"/>
            <a:ext cx="10515600" cy="5187949"/>
          </a:xfrm>
        </p:spPr>
        <p:txBody>
          <a:bodyPr>
            <a:normAutofit fontScale="77500" lnSpcReduction="20000"/>
          </a:bodyPr>
          <a:lstStyle/>
          <a:p>
            <a:endParaRPr lang="fr-FR" sz="3200" dirty="0"/>
          </a:p>
          <a:p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comparaison de deux variables quantitatives se fait en premier lieu graphiquement, en représentant l’ensemble des couples de valeurs sous forme d’un nuage de points.</a:t>
            </a:r>
          </a:p>
          <a:p>
            <a:pPr marL="0" indent="0">
              <a:buNone/>
            </a:pPr>
            <a:endParaRPr lang="fr-FR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L'ensemble des points forme un nuage de points dont la forme permet de caractériser la relation à l'aide de trois critères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intensité de la relation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 de la relation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 de la relation</a:t>
            </a:r>
            <a:r>
              <a:rPr lang="fr-FR" sz="2400" dirty="0"/>
              <a:t/>
            </a:r>
            <a:br>
              <a:rPr lang="fr-FR" sz="2400" dirty="0"/>
            </a:br>
            <a:r>
              <a:rPr lang="fr-FR" dirty="0"/>
              <a:t> 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688281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CF843F6-2DFC-443C-B05E-6B84B26B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071" y="629104"/>
            <a:ext cx="10515600" cy="615949"/>
          </a:xfrm>
        </p:spPr>
        <p:txBody>
          <a:bodyPr>
            <a:no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Intensité de la corrélation 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xmlns="" id="{0EB080A8-575B-4812-A4C2-046355899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124" y="4109843"/>
            <a:ext cx="10515600" cy="238303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E8EA1360-797B-468F-B001-7D53E8D84144}"/>
              </a:ext>
            </a:extLst>
          </p:cNvPr>
          <p:cNvSpPr txBox="1"/>
          <p:nvPr/>
        </p:nvSpPr>
        <p:spPr>
          <a:xfrm>
            <a:off x="619124" y="1466801"/>
            <a:ext cx="1010602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relation est forte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 les valeurs prises par X sont proches aux valeurs prises par Y.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le nuage de point prend alors la forme d'une ligne ou d'une courbe dont les points s'écartent peu.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relation est faible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les valeurs prises par X sont éloignées des valeurs prises par Y.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le nuage de point n'a pas la forme d'une ligne ou d'une courbe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relation est nulle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 les valeurs de X ne permettent d’avoir aucune information sur les valeurs de Y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=&gt;le nuage de point a la forme d'un carré, d'un cercle, sans véritables lignes directrices.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13886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3F5DC348-1FEE-4647-AB9E-60D9B3912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2962275"/>
            <a:ext cx="11496675" cy="3525044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xmlns="" id="{9E4B9540-CC4B-4BF8-89E2-E69F8903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86" y="561069"/>
            <a:ext cx="10515600" cy="615949"/>
          </a:xfrm>
        </p:spPr>
        <p:txBody>
          <a:bodyPr>
            <a:no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 de la corrélation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xmlns="" id="{3C1F582F-A9E1-492F-A507-595472068F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438388"/>
                  </p:ext>
                </p:extLst>
              </p:nvPr>
            </p:nvGraphicFramePr>
            <p:xfrm>
              <a:off x="619124" y="1276350"/>
              <a:ext cx="10839451" cy="1613408"/>
            </p:xfrm>
            <a:graphic>
              <a:graphicData uri="http://schemas.openxmlformats.org/drawingml/2006/table">
                <a:tbl>
                  <a:tblPr/>
                  <a:tblGrid>
                    <a:gridCol w="10839451">
                      <a:extLst>
                        <a:ext uri="{9D8B030D-6E8A-4147-A177-3AD203B41FA5}">
                          <a16:colId xmlns:a16="http://schemas.microsoft.com/office/drawing/2014/main" xmlns="" val="528846469"/>
                        </a:ext>
                      </a:extLst>
                    </a:gridCol>
                  </a:tblGrid>
                  <a:tr h="1524000">
                    <a:tc>
                      <a:txBody>
                        <a:bodyPr/>
                        <a:lstStyle/>
                        <a:p>
                          <a:r>
                            <a:rPr lang="fr-FR" sz="24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Une relation positive</a:t>
                          </a:r>
                          <a:r>
                            <a:rPr lang="fr-FR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si les deux caractères varient dans le même sens, c'est à dire si l'on observe en général que 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⇒</m:t>
                              </m:r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fr-FR" sz="24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fr-FR" sz="24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Une relation négative</a:t>
                          </a:r>
                          <a:r>
                            <a:rPr lang="fr-FR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si les deux caractères varient en sens inverse, c'est à dire si l'on observe en général que: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⇒</m:t>
                              </m:r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sz="2400" b="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fr-FR" sz="2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fr-FR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735277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3C1F582F-A9E1-492F-A507-595472068F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438388"/>
                  </p:ext>
                </p:extLst>
              </p:nvPr>
            </p:nvGraphicFramePr>
            <p:xfrm>
              <a:off x="619124" y="1276350"/>
              <a:ext cx="10839451" cy="1613408"/>
            </p:xfrm>
            <a:graphic>
              <a:graphicData uri="http://schemas.openxmlformats.org/drawingml/2006/table">
                <a:tbl>
                  <a:tblPr/>
                  <a:tblGrid>
                    <a:gridCol w="10839451">
                      <a:extLst>
                        <a:ext uri="{9D8B030D-6E8A-4147-A177-3AD203B41FA5}">
                          <a16:colId xmlns:a16="http://schemas.microsoft.com/office/drawing/2014/main" val="528846469"/>
                        </a:ext>
                      </a:extLst>
                    </a:gridCol>
                  </a:tblGrid>
                  <a:tr h="1613408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008" b="-6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5277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87292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82FCB24-41EC-4192-8B9D-7E6FB3EC5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4" y="495754"/>
            <a:ext cx="10515600" cy="835025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graphique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xmlns="" id="{6B457FE6-5D25-4E11-BA30-A4DC19E25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292218"/>
            <a:ext cx="8329612" cy="392748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243D3542-E49C-45C3-8A8A-BCF54FF7D22E}"/>
              </a:ext>
            </a:extLst>
          </p:cNvPr>
          <p:cNvSpPr txBox="1"/>
          <p:nvPr/>
        </p:nvSpPr>
        <p:spPr>
          <a:xfrm>
            <a:off x="476250" y="5210175"/>
            <a:ext cx="108775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Liaison linéaire positive: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et Y évoluent dans le même sens, une augmentation de X entraîne une augmentation de Y , du même ordre quelle que soit la valeur de X. le nuage de point peut s’ajuster à une droite.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Liaison linéaire négative: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et Y évoluent en sens inverse.</a:t>
            </a:r>
          </a:p>
        </p:txBody>
      </p:sp>
    </p:spTree>
    <p:extLst>
      <p:ext uri="{BB962C8B-B14F-4D97-AF65-F5344CB8AC3E}">
        <p14:creationId xmlns:p14="http://schemas.microsoft.com/office/powerpoint/2010/main" val="34129835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xmlns="" id="{38487E17-BD6B-4A2F-B356-8D41C21E5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550" y="1200150"/>
            <a:ext cx="8134350" cy="4086225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xmlns="" id="{105650D5-0CB4-4636-8388-3A565E821029}"/>
              </a:ext>
            </a:extLst>
          </p:cNvPr>
          <p:cNvSpPr txBox="1">
            <a:spLocks/>
          </p:cNvSpPr>
          <p:nvPr/>
        </p:nvSpPr>
        <p:spPr>
          <a:xfrm>
            <a:off x="1230085" y="521879"/>
            <a:ext cx="10515600" cy="835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graphique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CA80905B-DBD3-4674-B834-A59EEB8C1A1C}"/>
              </a:ext>
            </a:extLst>
          </p:cNvPr>
          <p:cNvSpPr txBox="1"/>
          <p:nvPr/>
        </p:nvSpPr>
        <p:spPr>
          <a:xfrm>
            <a:off x="657225" y="5153025"/>
            <a:ext cx="10763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Liaison monotone non-linéaire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 si elle est strictement croissante ou strictement décroissante, c'est-à-dire si elle ne comporte pas de minima ou de maxima. Toutes les relations linéaires sont monotones.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Liaison non-linéaire non-monotone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Il y a une relation fonctionnelle entre X et Y . Mais la relation n'est pas monotone, Y peut augmenter ou diminuer selon la valeur de X.</a:t>
            </a:r>
          </a:p>
        </p:txBody>
      </p:sp>
    </p:spTree>
    <p:extLst>
      <p:ext uri="{BB962C8B-B14F-4D97-AF65-F5344CB8AC3E}">
        <p14:creationId xmlns:p14="http://schemas.microsoft.com/office/powerpoint/2010/main" val="1742861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82FCB24-41EC-4192-8B9D-7E6FB3EC5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23" y="482691"/>
            <a:ext cx="10515600" cy="835025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graphique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xmlns="" id="{6B457FE6-5D25-4E11-BA30-A4DC19E25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562" y="1419225"/>
            <a:ext cx="8524875" cy="401955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A0551BF1-953D-47E4-9F79-88BA5AFB8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62" y="1423987"/>
            <a:ext cx="8829675" cy="401002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7E99B385-3CAF-4A6C-80C9-8254F3D9B2A5}"/>
              </a:ext>
            </a:extLst>
          </p:cNvPr>
          <p:cNvSpPr txBox="1"/>
          <p:nvPr/>
        </p:nvSpPr>
        <p:spPr>
          <a:xfrm>
            <a:off x="838199" y="5334207"/>
            <a:ext cx="107346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valeur de X ne donne pas une  indication sur la valeur de Y , et inversement.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(ou Y ) est constant quelle que soit la valeur de la seconde variable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24113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DFA23E7-D318-43C0-85C4-5AAA49C5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11" y="521881"/>
            <a:ext cx="10515600" cy="768350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d’indicateur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F4C2810-1CB5-4C18-B9DE-F33FE195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533525"/>
            <a:ext cx="10515600" cy="4872038"/>
          </a:xfrm>
        </p:spPr>
        <p:txBody>
          <a:bodyPr>
            <a:norm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plus d’une représentation graphique, on peut calculer certains indicateurs permettant de mesurer le degré d’association de deux variables quantitatives.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 calcul du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de corrélation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peut être effectué en utilisant deux méthodes: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corrélation r de Pearson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 de corrélation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Spearman</a:t>
            </a:r>
          </a:p>
          <a:p>
            <a:pPr marL="0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284748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370C7B8-350A-4531-95E7-CF5F0EDE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de corrélation de Pearson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="" id="{E63E6DFF-FA29-41D8-B927-A8857F128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0649"/>
                <a:ext cx="10515600" cy="523875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 coefficient permet de détecter la présence ou l'absence d'une </a:t>
                </a:r>
                <a:r>
                  <a:rPr lang="fr-FR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 linéaire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entre deux caractères quantitatifs.</a:t>
                </a:r>
              </a:p>
              <a:p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Pour calculer ce coefficient il faut tout d'abord calculer la covariance.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 coefficient de Pearson est alors: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est l ’écart type de la variable X (respectivement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63E6DFF-FA29-41D8-B927-A8857F128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0649"/>
                <a:ext cx="10515600" cy="5238751"/>
              </a:xfrm>
              <a:blipFill>
                <a:blip r:embed="rId2"/>
                <a:stretch>
                  <a:fillRect l="-1217" t="-27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8283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1B9BF91-FEF3-4839-951F-6D6B9638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23" y="600257"/>
            <a:ext cx="10515600" cy="730250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Interprétation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F5B92D6-24A2-4137-ABD8-D7A77000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62" y="1095376"/>
            <a:ext cx="10515600" cy="4805363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coefficient de Pearson varie entre -1 et +1. Son interprétation est la suivante :</a:t>
            </a:r>
          </a:p>
          <a:p>
            <a:pPr marL="0" indent="0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 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est proche de 0, il n'y a pas de relation linéaire entre X et 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 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proche de -1, il existe une forte relation linéaire négative entre X et 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 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est proche de 1, il existe une forte relation linéaire positive entre X et Y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 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indique le sens de la relation tandis que la valeur absolue de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 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indique l'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intensité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 la relation.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F6420A03-BE8A-4B1C-967F-119A0C6DC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4479131"/>
            <a:ext cx="8848725" cy="190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84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10F57AC-466E-4E1A-A89B-F8D38E0D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149" y="534944"/>
            <a:ext cx="10515600" cy="730250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du coefficient de Pearson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C8470A8-DCCF-489F-A122-CFE0CAA06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1786"/>
            <a:ext cx="10515600" cy="4891088"/>
          </a:xfrm>
        </p:spPr>
        <p:txBody>
          <a:bodyPr>
            <a:normAutofit/>
          </a:bodyPr>
          <a:lstStyle/>
          <a:p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de Pearson n'est applicable que pour mesurer la relation entre deux variables X et Y ayant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distribution normale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ne comportant pas de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valeur exceptionnelles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L'absence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d'une relation linéaire ne signifie pas l'absence de toute relation entre les deux caractères étudiés.</a:t>
            </a:r>
          </a:p>
        </p:txBody>
      </p:sp>
    </p:spTree>
    <p:extLst>
      <p:ext uri="{BB962C8B-B14F-4D97-AF65-F5344CB8AC3E}">
        <p14:creationId xmlns:p14="http://schemas.microsoft.com/office/powerpoint/2010/main" val="35226321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2E3EE04-FDE7-4424-95F4-CA73C813C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89" y="495754"/>
            <a:ext cx="10304417" cy="777875"/>
          </a:xfrm>
        </p:spPr>
        <p:txBody>
          <a:bodyPr>
            <a:normAutofit fontScale="90000"/>
          </a:bodyPr>
          <a:lstStyle/>
          <a:p>
            <a:r>
              <a:rPr lang="fr-FR" dirty="0"/>
              <a:t/>
            </a:r>
            <a:br>
              <a:rPr lang="fr-FR" dirty="0"/>
            </a:br>
            <a:r>
              <a:rPr lang="fr-FR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coefficient de corrélation de Spearman(de rang)</a:t>
            </a:r>
            <a:br>
              <a:rPr lang="fr-FR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="" id="{BB042795-93AF-4CA2-AD34-BCB11DC82E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0"/>
                <a:ext cx="10515600" cy="4652963"/>
              </a:xfrm>
            </p:spPr>
            <p:txBody>
              <a:bodyPr>
                <a:normAutofit/>
              </a:bodyPr>
              <a:lstStyle/>
              <a:p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 coefficient de Spearman est très utile lorsque l'analyse du nuage de point révèle une forme curviligne dans une relation qui semble mal s'ajuster à une droite. </a:t>
                </a:r>
              </a:p>
              <a:p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notera également qu'il est préférable au coefficient de Pearson lorsque les distributions X et Y sont dissymétriques et/ou comportent des valeurs exceptionnelles.</a:t>
                </a:r>
              </a:p>
              <a:p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 se calcul comme suit: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fr-FR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fr-FR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nary>
                            <m:naryPr>
                              <m:chr m:val="∑"/>
                              <m:ctrlPr>
                                <a:rPr lang="fr-FR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)²</m:t>
                              </m:r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 interprétation est la même que celui de Pearson.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B042795-93AF-4CA2-AD34-BCB11DC82E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0"/>
                <a:ext cx="10515600" cy="4652963"/>
              </a:xfrm>
              <a:blipFill rotWithShape="1">
                <a:blip r:embed="rId2"/>
                <a:stretch>
                  <a:fillRect l="-1043" t="-2228" r="-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8395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094D079-1069-431C-B199-D85BB4BF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4" y="587195"/>
            <a:ext cx="10515600" cy="635000"/>
          </a:xfrm>
        </p:spPr>
        <p:txBody>
          <a:bodyPr>
            <a:no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de corrélation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="" id="{61F3A9F2-CD22-4FFE-9960-6B7DF1A3DC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4450"/>
                <a:ext cx="10515600" cy="4862513"/>
              </a:xfrm>
            </p:spPr>
            <p:txBody>
              <a:bodyPr/>
              <a:lstStyle/>
              <a:p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Hypothèses du test: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absence de liaison entre X et Y.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𝑏𝑖𝑙𝑎𝑡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é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𝑟𝑎𝑙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liaison entre X et Y.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𝑢𝑛𝑖𝑙𝑎𝑡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é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𝑟𝑎𝑙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liaison positive entre X et Y ou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liaison négative entre X et Y.</a:t>
                </a:r>
              </a:p>
              <a:p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statistique du test: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𝑑𝑑𝑙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fr-FR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Avec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rad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et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est le coefficient de Pearson ou de Spearman</a:t>
                </a:r>
              </a:p>
              <a:p>
                <a:pPr marL="0" indent="0">
                  <a:buNone/>
                </a:pPr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1F3A9F2-CD22-4FFE-9960-6B7DF1A3D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4450"/>
                <a:ext cx="10515600" cy="4862513"/>
              </a:xfrm>
              <a:blipFill rotWithShape="1">
                <a:blip r:embed="rId2"/>
                <a:stretch>
                  <a:fillRect l="-1217" t="-21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7441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1013F10B-6DC3-4E9B-B293-F5CB1772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449" y="797718"/>
            <a:ext cx="10515600" cy="5262563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Règles de décision et conclusion du test:</a:t>
            </a:r>
          </a:p>
          <a:p>
            <a:pPr marL="0" indent="0">
              <a:buNone/>
            </a:pP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H</a:t>
            </a:r>
            <a:r>
              <a:rPr lang="fr-F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bilatérale : valeur théorique critique t</a:t>
            </a:r>
            <a:r>
              <a:rPr lang="fr-F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(ddl ; α = 5%)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&lt;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α = 5%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acceptation de H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d'où absence de liaison significative entre X et Y.</a:t>
            </a:r>
          </a:p>
          <a:p>
            <a:pPr marL="0" indent="0">
              <a:buNone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≥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α = 5%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rejet de H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d'où liaison significative entre X et Y.</a:t>
            </a:r>
          </a:p>
          <a:p>
            <a:pPr marL="0" indent="0">
              <a:buNone/>
            </a:pP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H</a:t>
            </a:r>
            <a:r>
              <a:rPr lang="fr-F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unilatérale : valeur théorique critique </a:t>
            </a:r>
            <a:r>
              <a:rPr lang="fr-F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fr-F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α = 10%</a:t>
            </a:r>
          </a:p>
          <a:p>
            <a:pPr marL="0" indent="0">
              <a:buNone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&lt;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α = 10%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acceptation de H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d'où absence de liaison significative entre X et Y</a:t>
            </a:r>
          </a:p>
          <a:p>
            <a:pPr marL="0" indent="0">
              <a:buNone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≥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α = 10%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rejet de H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d'où liaison positive ou négative significative entre X et Y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4769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1B009C7-97A3-4A0A-9B31-E77129F7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455" y="574132"/>
            <a:ext cx="9955601" cy="863600"/>
          </a:xfrm>
        </p:spPr>
        <p:txBody>
          <a:bodyPr>
            <a:no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d’application des Tests de corrélation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4D3C47C-C935-4F73-BE8D-2F2A435C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263" y="1716405"/>
            <a:ext cx="10515600" cy="4643438"/>
          </a:xfrm>
        </p:spPr>
        <p:txBody>
          <a:bodyPr>
            <a:normAutofit/>
          </a:bodyPr>
          <a:lstStyle/>
          <a:p>
            <a:r>
              <a:rPr lang="fr-FR" sz="4000" dirty="0"/>
              <a:t> 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de corrélation de Spearman est un test dit robuste car il ne dépend pas de la distribution des données.</a:t>
            </a: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test de corrélation de 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ne s’applique pas que lorsque les variables suivent une 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loi normale 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de variances égales.</a:t>
            </a:r>
          </a:p>
        </p:txBody>
      </p:sp>
    </p:spTree>
    <p:extLst>
      <p:ext uri="{BB962C8B-B14F-4D97-AF65-F5344CB8AC3E}">
        <p14:creationId xmlns:p14="http://schemas.microsoft.com/office/powerpoint/2010/main" val="28913027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5A160A4-0971-437F-9DFE-45D1FF1F1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25" y="534942"/>
            <a:ext cx="10515600" cy="777875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Deux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qualitatives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BE4CEA1-DCA9-4EE2-A52D-AC0905291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tester l’existence d’un lien entre les modalités de deux variable qualitatives: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utilise de test de 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CHI-2.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représentation graphique.</a:t>
            </a:r>
          </a:p>
          <a:p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99574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609671B-5CDB-46F3-97A0-D655E766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148" y="469628"/>
            <a:ext cx="10515600" cy="873125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de contingence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F352A28-14DA-4489-B0D6-C7580BB90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901"/>
            <a:ext cx="10515600" cy="5343525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étudier la relation entre deux variables qualitatives, on construit d’abord un tableau appelé table de contingence ou tableau croisé.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2A95891E-4BEF-4C0E-BDF3-D7F4B8DE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289" y="2353917"/>
            <a:ext cx="5295900" cy="2743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F220558-74F0-4C42-A446-4C98A41EE482}"/>
                  </a:ext>
                </a:extLst>
              </p:cNvPr>
              <p:cNvSpPr/>
              <p:nvPr/>
            </p:nvSpPr>
            <p:spPr>
              <a:xfrm>
                <a:off x="500271" y="5545083"/>
                <a:ext cx="6096000" cy="124495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fr-FR" dirty="0"/>
                  <a:t> : effectif joint de la modalité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/>
                  <a:t> et de la modalité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/>
                  <a:t> : effectif marginal de la modalité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FR" dirty="0"/>
                  <a:t> : effectif marginal de la modalité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dirty="0"/>
                  <a:t> : taille de l’échantillon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F220558-74F0-4C42-A446-4C98A41EE4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71" y="5545083"/>
                <a:ext cx="6096000" cy="1244956"/>
              </a:xfrm>
              <a:prstGeom prst="rect">
                <a:avLst/>
              </a:prstGeom>
              <a:blipFill>
                <a:blip r:embed="rId3"/>
                <a:stretch>
                  <a:fillRect t="-2451" b="-68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9B6CBC7C-8EC3-4CCF-8830-680EE9DF9DFA}"/>
              </a:ext>
            </a:extLst>
          </p:cNvPr>
          <p:cNvSpPr txBox="1"/>
          <p:nvPr/>
        </p:nvSpPr>
        <p:spPr>
          <a:xfrm>
            <a:off x="4522305" y="5152153"/>
            <a:ext cx="415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Tableau de contingence</a:t>
            </a:r>
          </a:p>
        </p:txBody>
      </p:sp>
    </p:spTree>
    <p:extLst>
      <p:ext uri="{BB962C8B-B14F-4D97-AF65-F5344CB8AC3E}">
        <p14:creationId xmlns:p14="http://schemas.microsoft.com/office/powerpoint/2010/main" val="958604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8A82201-DA80-4435-AB31-0196C135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275" y="419365"/>
            <a:ext cx="10515600" cy="877266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d’effectifs corrigés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2B7B951-D222-471D-9099-2CA436EC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626"/>
            <a:ext cx="10515600" cy="4646337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L’effectif corrigé se calcul ainsi:</a:t>
            </a: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xmlns="" id="{507D1EDD-2A69-4508-B36A-055CCFE04046}"/>
                  </a:ext>
                </a:extLst>
              </p:cNvPr>
              <p:cNvSpPr txBox="1"/>
              <p:nvPr/>
            </p:nvSpPr>
            <p:spPr>
              <a:xfrm>
                <a:off x="5027542" y="2141883"/>
                <a:ext cx="1898790" cy="8576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3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32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507D1EDD-2A69-4508-B36A-055CCFE04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542" y="2141883"/>
                <a:ext cx="1898790" cy="8576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9D699454-8488-4BE3-A7FB-725771BAE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465" y="3429000"/>
            <a:ext cx="5191125" cy="2609850"/>
          </a:xfrm>
          <a:prstGeom prst="rect">
            <a:avLst/>
          </a:prstGeom>
        </p:spPr>
      </p:pic>
      <p:sp>
        <p:nvSpPr>
          <p:cNvPr id="6" name="Flèche : courbe vers la droite 5">
            <a:extLst>
              <a:ext uri="{FF2B5EF4-FFF2-40B4-BE49-F238E27FC236}">
                <a16:creationId xmlns:a16="http://schemas.microsoft.com/office/drawing/2014/main" xmlns="" id="{BF3A8CB3-A3CE-4535-9D26-50FBD09B5FE3}"/>
              </a:ext>
            </a:extLst>
          </p:cNvPr>
          <p:cNvSpPr/>
          <p:nvPr/>
        </p:nvSpPr>
        <p:spPr>
          <a:xfrm>
            <a:off x="1995576" y="2820585"/>
            <a:ext cx="1133061" cy="1828800"/>
          </a:xfrm>
          <a:prstGeom prst="curved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C84703EC-043B-4E8B-AFD5-7805034C856E}"/>
              </a:ext>
            </a:extLst>
          </p:cNvPr>
          <p:cNvSpPr txBox="1"/>
          <p:nvPr/>
        </p:nvSpPr>
        <p:spPr>
          <a:xfrm>
            <a:off x="4313583" y="5997060"/>
            <a:ext cx="415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Tableau d’effectifs corrigés</a:t>
            </a:r>
          </a:p>
        </p:txBody>
      </p:sp>
    </p:spTree>
    <p:extLst>
      <p:ext uri="{BB962C8B-B14F-4D97-AF65-F5344CB8AC3E}">
        <p14:creationId xmlns:p14="http://schemas.microsoft.com/office/powerpoint/2010/main" val="22510310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02DA662-49B8-4150-B875-655A3DB7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320" y="497457"/>
            <a:ext cx="10515600" cy="907083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de Khi-deux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="" id="{FC5CE8ED-AF98-40F8-968E-D780BF387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0565"/>
                <a:ext cx="10515600" cy="50292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Hypothèses du test: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Les variables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sont indépendantes.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 existe une liaison entre Les variables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Statistique du test: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fr-FR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f>
                              <m:fPr>
                                <m:ctrlPr>
                                  <a:rPr lang="fr-FR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)2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den>
                            </m:f>
                          </m:e>
                        </m:nary>
                      </m:e>
                    </m:nary>
                    <m:r>
                      <a:rPr lang="fr-FR" b="0" i="1" smtClean="0">
                        <a:latin typeface="Cambria Math" panose="02040503050406030204" pitchFamily="18" charset="0"/>
                      </a:rPr>
                      <m:t>~</m:t>
                    </m:r>
                    <m:sSubSup>
                      <m:sSubSupPr>
                        <m:ctrlPr>
                          <a:rPr lang="fr-FR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Règle de décision: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la valeur de la statistique de test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est </a:t>
                </a:r>
                <a:r>
                  <a:rPr lang="fr-FR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inférieure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à la valeur seuil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latin typeface="Cambria Math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alors on accepte l’hypothèse nulle.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la valeur de la statistique de test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est </a:t>
                </a:r>
                <a:r>
                  <a:rPr lang="fr-FR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supérieure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à la valeur seuil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latin typeface="Cambria Math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alors on rejette l’hypothèse nulle.</a:t>
                </a:r>
              </a:p>
              <a:p>
                <a:pPr marL="0" indent="0">
                  <a:buNone/>
                </a:pPr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C5CE8ED-AF98-40F8-968E-D780BF387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0565"/>
                <a:ext cx="10515600" cy="5029200"/>
              </a:xfrm>
              <a:blipFill rotWithShape="1">
                <a:blip r:embed="rId2"/>
                <a:stretch>
                  <a:fillRect l="-1217" t="-2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6136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A4A32FA-AAF0-4335-99C0-C822E802D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355" y="489423"/>
            <a:ext cx="10515600" cy="847449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dirty="0"/>
              <a:t>: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xmlns="" id="{96A5C8E8-19B7-433B-8DA3-681A41417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106" y="1441375"/>
            <a:ext cx="5734050" cy="18288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333C424F-E48C-42EB-9D1B-10F394A618BA}"/>
              </a:ext>
            </a:extLst>
          </p:cNvPr>
          <p:cNvSpPr txBox="1"/>
          <p:nvPr/>
        </p:nvSpPr>
        <p:spPr>
          <a:xfrm>
            <a:off x="299417" y="3175810"/>
            <a:ext cx="5648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Croisement entre l’exposition au produit chimique et l’état du système immunitaire</a:t>
            </a:r>
          </a:p>
        </p:txBody>
      </p:sp>
      <p:sp>
        <p:nvSpPr>
          <p:cNvPr id="7" name="Flèche : courbe vers le bas 6">
            <a:extLst>
              <a:ext uri="{FF2B5EF4-FFF2-40B4-BE49-F238E27FC236}">
                <a16:creationId xmlns:a16="http://schemas.microsoft.com/office/drawing/2014/main" xmlns="" id="{CDE89C67-3A92-4285-93B3-FB845F91A83B}"/>
              </a:ext>
            </a:extLst>
          </p:cNvPr>
          <p:cNvSpPr/>
          <p:nvPr/>
        </p:nvSpPr>
        <p:spPr>
          <a:xfrm>
            <a:off x="5671932" y="2037522"/>
            <a:ext cx="848137" cy="337303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9D531AEE-97CA-4A89-BC88-2EA3CC568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069" y="1441375"/>
            <a:ext cx="5457825" cy="18288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86A7648-F590-49A2-AAF5-6D8A0CC69F40}"/>
              </a:ext>
            </a:extLst>
          </p:cNvPr>
          <p:cNvSpPr txBox="1"/>
          <p:nvPr/>
        </p:nvSpPr>
        <p:spPr>
          <a:xfrm>
            <a:off x="6329155" y="3270175"/>
            <a:ext cx="5648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Tableau de contingence </a:t>
            </a:r>
            <a:r>
              <a:rPr lang="fr-FR" dirty="0" err="1"/>
              <a:t>th´eorique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CF268645-C48D-4745-9E3E-4EFA20AE8D20}"/>
                  </a:ext>
                </a:extLst>
              </p:cNvPr>
              <p:cNvSpPr/>
              <p:nvPr/>
            </p:nvSpPr>
            <p:spPr>
              <a:xfrm>
                <a:off x="612283" y="3900355"/>
                <a:ext cx="4779835" cy="632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/>
                  <a:t>Sous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/>
                  <a:t>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fr-FR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f>
                              <m:fPr>
                                <m:ctrlPr>
                                  <a:rPr lang="fr-FR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fr-FR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)2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fr-FR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den>
                            </m:f>
                          </m:e>
                        </m:nary>
                      </m:e>
                    </m:nary>
                    <m:r>
                      <a:rPr lang="fr-FR" i="1">
                        <a:latin typeface="Cambria Math" panose="02040503050406030204" pitchFamily="18" charset="0"/>
                      </a:rPr>
                      <m:t>~</m:t>
                    </m:r>
                    <m:sSubSup>
                      <m:sSubSupPr>
                        <m:ctrlPr>
                          <a:rPr lang="fr-FR" i="1">
                            <a:latin typeface="Cambria Math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F268645-C48D-4745-9E3E-4EFA20AE8D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83" y="3900355"/>
                <a:ext cx="4779835" cy="632096"/>
              </a:xfrm>
              <a:prstGeom prst="rect">
                <a:avLst/>
              </a:prstGeom>
              <a:blipFill>
                <a:blip r:embed="rId4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633DB1DE-31B6-4818-8356-1F9EF2F8C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285" y="5500764"/>
            <a:ext cx="6920810" cy="53457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1F565D64-4D66-470B-9CD2-60EAE82ABCB5}"/>
              </a:ext>
            </a:extLst>
          </p:cNvPr>
          <p:cNvSpPr txBox="1"/>
          <p:nvPr/>
        </p:nvSpPr>
        <p:spPr>
          <a:xfrm>
            <a:off x="562588" y="5093960"/>
            <a:ext cx="251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Application numérique: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xmlns="" id="{1FD363F9-D714-4386-BF04-DF6A25FD233A}"/>
                  </a:ext>
                </a:extLst>
              </p:cNvPr>
              <p:cNvSpPr txBox="1"/>
              <p:nvPr/>
            </p:nvSpPr>
            <p:spPr>
              <a:xfrm>
                <a:off x="612282" y="6072809"/>
                <a:ext cx="83528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Au risque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=0,05,</m:t>
                    </m:r>
                  </m:oMath>
                </a14:m>
                <a:r>
                  <a:rPr lang="fr-FR" dirty="0"/>
                  <a:t> la valeur 5,36 appartient à la zone critique. On rejette alors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FD363F9-D714-4386-BF04-DF6A25FD2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82" y="6072809"/>
                <a:ext cx="8352813" cy="369332"/>
              </a:xfrm>
              <a:prstGeom prst="rect">
                <a:avLst/>
              </a:prstGeom>
              <a:blipFill>
                <a:blip r:embed="rId6"/>
                <a:stretch>
                  <a:fillRect l="-584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xmlns="" id="{73A189A2-761D-4B33-96AD-E5398ECC86AF}"/>
                  </a:ext>
                </a:extLst>
              </p:cNvPr>
              <p:cNvSpPr txBox="1"/>
              <p:nvPr/>
            </p:nvSpPr>
            <p:spPr>
              <a:xfrm>
                <a:off x="562588" y="4506099"/>
                <a:ext cx="9193696" cy="649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Pour un risque α = 0.05, la région critique conduisant au rejet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pour une loi du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latin typeface="Cambria Math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est définit par : [3,841,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lang="fr-FR" dirty="0"/>
                  <a:t>[</a:t>
                </a:r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73A189A2-761D-4B33-96AD-E5398ECC8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88" y="4506099"/>
                <a:ext cx="9193696" cy="649537"/>
              </a:xfrm>
              <a:prstGeom prst="rect">
                <a:avLst/>
              </a:prstGeom>
              <a:blipFill>
                <a:blip r:embed="rId7"/>
                <a:stretch>
                  <a:fillRect l="-531" t="-3738" b="-140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5414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91AA7DE-96B9-4968-855A-BF1F9890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071" y="417377"/>
            <a:ext cx="10515600" cy="877266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</a:t>
            </a:r>
            <a:r>
              <a:rPr lang="fr-FR" dirty="0"/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5F08C91-B57E-46BB-9B1B-801F5A949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2392"/>
            <a:ext cx="10515600" cy="4934571"/>
          </a:xfrm>
        </p:spPr>
        <p:txBody>
          <a:bodyPr/>
          <a:lstStyle/>
          <a:p>
            <a:r>
              <a:rPr lang="fr-FR" dirty="0"/>
              <a:t>Graphiquement, nous pouvons aussi déduire l’existence de relation entre deux variables qualitatives en utilisant:</a:t>
            </a:r>
          </a:p>
          <a:p>
            <a:endParaRPr lang="fr-FR" dirty="0"/>
          </a:p>
          <a:p>
            <a:pPr marL="457200" lvl="1" indent="0">
              <a:buNone/>
            </a:pPr>
            <a:r>
              <a:rPr lang="fr-FR" dirty="0"/>
              <a:t>le diagramme en barre regroupé                      Diagramme en mosaïque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BF877C25-A943-4E87-9711-B527CF13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071" y="3089483"/>
            <a:ext cx="4099476" cy="3409121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xmlns="" id="{308BEF4C-E290-4A4F-93DE-FA63E2F0C001}"/>
              </a:ext>
            </a:extLst>
          </p:cNvPr>
          <p:cNvCxnSpPr>
            <a:cxnSpLocks/>
          </p:cNvCxnSpPr>
          <p:nvPr/>
        </p:nvCxnSpPr>
        <p:spPr>
          <a:xfrm>
            <a:off x="5973418" y="2599081"/>
            <a:ext cx="0" cy="388800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D6E5EB6C-CAB4-4EE9-BB6D-12EEC75EA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583" y="3089483"/>
            <a:ext cx="4876800" cy="325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802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77FD986-A785-4D79-9865-DEBF38FC8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2" y="486228"/>
            <a:ext cx="11610975" cy="796925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3.Une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quantitative vs qualitative</a:t>
            </a:r>
            <a:endParaRPr lang="fr-FR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A7A913C-0B0E-4CBE-AAE7-1E28B6A2B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4" y="1533525"/>
            <a:ext cx="10829925" cy="4902200"/>
          </a:xfrm>
        </p:spPr>
        <p:txBody>
          <a:bodyPr>
            <a:norm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Croiser une variable quantitative et une variable qualitative, c’est essayer de voir si les valeurs de la variable quantitative se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répartissent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différemment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selon la catégorie d’appartenance de la variable qualitative.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étudier la relation entre une variable qualitative et une variable quantitative: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utilise la boite à moustache.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test statistique.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5358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8CE9AC9-2135-4B7F-A85A-E3709A27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23" y="508817"/>
            <a:ext cx="10515600" cy="863600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graphique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E30D78B-6025-4B20-A83B-E961102F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457326"/>
            <a:ext cx="11048999" cy="4848224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l’idéal est de commencer par une représentation graphique de type « boîte à moustache »  pour chacune des sous-populations.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veut en général savoir si la distribution des valeurs de la variable quantitative est la même selon les modalités de la variable qualitative (sous-populations)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9F6780F2-8AA0-41CB-9200-F1A3FD5AC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546476"/>
            <a:ext cx="8943976" cy="298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352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F44B659-FE86-4C13-A3E0-2B33CEED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86" y="587195"/>
            <a:ext cx="10515600" cy="711200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de Statistique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="" id="{92D758EB-2755-4964-BE57-6C2B260C1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409701"/>
                <a:ext cx="10515600" cy="57816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Hypothèses du test: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Les variables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sont indépendantes.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 existe une liaison entre Les variables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 faut vérifier les hypothèses avant d’effectuer un test de </a:t>
                </a:r>
                <a:r>
                  <a:rPr lang="fr-F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Distribution gaussienne.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Égalité de la variance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sinon il faut faire un autre test comme celui de Wilcoxon.</a:t>
                </a:r>
              </a:p>
              <a:p>
                <a:pPr marL="0" indent="0">
                  <a:buNone/>
                </a:pPr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Règle de décision: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la valeur de p-value est </a:t>
                </a:r>
                <a:r>
                  <a:rPr lang="fr-FR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inférieure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à 5%, alors on rejette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la valeur de p-value est </a:t>
                </a:r>
                <a:r>
                  <a:rPr lang="fr-FR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supérieur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à 5%, alors on accepte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2D758EB-2755-4964-BE57-6C2B260C1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409701"/>
                <a:ext cx="10515600" cy="5781674"/>
              </a:xfrm>
              <a:blipFill rotWithShape="1">
                <a:blip r:embed="rId2"/>
                <a:stretch>
                  <a:fillRect l="-1159" t="-17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7122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ESPRIT (1)</Template>
  <TotalTime>9060</TotalTime>
  <Words>1184</Words>
  <Application>Microsoft Office PowerPoint</Application>
  <PresentationFormat>Personnalisé</PresentationFormat>
  <Paragraphs>150</Paragraphs>
  <Slides>26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7" baseType="lpstr">
      <vt:lpstr>Thème Office</vt:lpstr>
      <vt:lpstr>Analyse statistique Bivariée</vt:lpstr>
      <vt:lpstr>Pour commencer</vt:lpstr>
      <vt:lpstr>1. Deux variables quantitatives</vt:lpstr>
      <vt:lpstr>Représentation graphique </vt:lpstr>
      <vt:lpstr>Intensité de la corrélation </vt:lpstr>
      <vt:lpstr>Sens de la corrélation </vt:lpstr>
      <vt:lpstr>Illustration graphique</vt:lpstr>
      <vt:lpstr>Présentation PowerPoint</vt:lpstr>
      <vt:lpstr>Illustration graphique</vt:lpstr>
      <vt:lpstr>Calcul d’indicateur</vt:lpstr>
      <vt:lpstr>Coefficient de corrélation de Pearson</vt:lpstr>
      <vt:lpstr>Interprétation </vt:lpstr>
      <vt:lpstr>Limites du coefficient de Pearson</vt:lpstr>
      <vt:lpstr> Le coefficient de corrélation de Spearman(de rang) </vt:lpstr>
      <vt:lpstr>Test de corrélation</vt:lpstr>
      <vt:lpstr>Présentation PowerPoint</vt:lpstr>
      <vt:lpstr>Conditions d’application des Tests de corrélation </vt:lpstr>
      <vt:lpstr>2. Deux variables qualitatives</vt:lpstr>
      <vt:lpstr>Tableau de contingence </vt:lpstr>
      <vt:lpstr>Tableau d’effectifs corrigés</vt:lpstr>
      <vt:lpstr>Test de Khi-deux</vt:lpstr>
      <vt:lpstr>Exemple:</vt:lpstr>
      <vt:lpstr>Illustration graphique</vt:lpstr>
      <vt:lpstr>3.Une variable quantitative vs qualitative</vt:lpstr>
      <vt:lpstr>Illustration graphique</vt:lpstr>
      <vt:lpstr>Test de Statistique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Utilisateur Windows</cp:lastModifiedBy>
  <cp:revision>60</cp:revision>
  <dcterms:created xsi:type="dcterms:W3CDTF">2019-10-07T09:06:46Z</dcterms:created>
  <dcterms:modified xsi:type="dcterms:W3CDTF">2020-10-18T11:28:05Z</dcterms:modified>
</cp:coreProperties>
</file>