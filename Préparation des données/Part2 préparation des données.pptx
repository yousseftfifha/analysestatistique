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317" r:id="rId2"/>
    <p:sldId id="322" r:id="rId3"/>
    <p:sldId id="338" r:id="rId4"/>
    <p:sldId id="267" r:id="rId5"/>
    <p:sldId id="261" r:id="rId6"/>
    <p:sldId id="325" r:id="rId7"/>
    <p:sldId id="257" r:id="rId8"/>
    <p:sldId id="258" r:id="rId9"/>
    <p:sldId id="259" r:id="rId10"/>
    <p:sldId id="326" r:id="rId11"/>
    <p:sldId id="260" r:id="rId12"/>
    <p:sldId id="339" r:id="rId13"/>
    <p:sldId id="262" r:id="rId14"/>
    <p:sldId id="324" r:id="rId15"/>
    <p:sldId id="263" r:id="rId16"/>
    <p:sldId id="264" r:id="rId17"/>
    <p:sldId id="265" r:id="rId18"/>
    <p:sldId id="340" r:id="rId19"/>
    <p:sldId id="341" r:id="rId20"/>
    <p:sldId id="343" r:id="rId21"/>
    <p:sldId id="342" r:id="rId22"/>
    <p:sldId id="327" r:id="rId23"/>
    <p:sldId id="328" r:id="rId24"/>
    <p:sldId id="304" r:id="rId25"/>
    <p:sldId id="305" r:id="rId26"/>
    <p:sldId id="306" r:id="rId27"/>
    <p:sldId id="329" r:id="rId28"/>
    <p:sldId id="307" r:id="rId29"/>
    <p:sldId id="313" r:id="rId30"/>
    <p:sldId id="309" r:id="rId31"/>
    <p:sldId id="310" r:id="rId32"/>
    <p:sldId id="318" r:id="rId33"/>
    <p:sldId id="321" r:id="rId34"/>
    <p:sldId id="319" r:id="rId35"/>
    <p:sldId id="320" r:id="rId36"/>
    <p:sldId id="314" r:id="rId37"/>
    <p:sldId id="300" r:id="rId38"/>
    <p:sldId id="331" r:id="rId39"/>
    <p:sldId id="330" r:id="rId40"/>
    <p:sldId id="333" r:id="rId41"/>
    <p:sldId id="335" r:id="rId42"/>
    <p:sldId id="336" r:id="rId43"/>
    <p:sldId id="337" r:id="rId44"/>
    <p:sldId id="308" r:id="rId45"/>
    <p:sldId id="302" r:id="rId46"/>
    <p:sldId id="315" r:id="rId4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26" autoAdjust="0"/>
    <p:restoredTop sz="94660"/>
  </p:normalViewPr>
  <p:slideViewPr>
    <p:cSldViewPr snapToGrid="0">
      <p:cViewPr varScale="1">
        <p:scale>
          <a:sx n="98" d="100"/>
          <a:sy n="98" d="100"/>
        </p:scale>
        <p:origin x="115" y="125"/>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938FC5-401D-40EE-880A-C1A97711E78B}" type="datetimeFigureOut">
              <a:rPr lang="fr-FR" smtClean="0"/>
              <a:t>21/09/2021</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B66857-EDB0-4F4D-9E72-3D6EC927A230}" type="slidenum">
              <a:rPr lang="fr-FR" smtClean="0"/>
              <a:t>‹N°›</a:t>
            </a:fld>
            <a:endParaRPr lang="fr-FR"/>
          </a:p>
        </p:txBody>
      </p:sp>
    </p:spTree>
    <p:extLst>
      <p:ext uri="{BB962C8B-B14F-4D97-AF65-F5344CB8AC3E}">
        <p14:creationId xmlns:p14="http://schemas.microsoft.com/office/powerpoint/2010/main" val="2801129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sz="1200" kern="1200" dirty="0">
                <a:solidFill>
                  <a:schemeClr val="tx1"/>
                </a:solidFill>
                <a:latin typeface="+mn-lt"/>
                <a:ea typeface="+mn-ea"/>
                <a:cs typeface="+mn-cs"/>
              </a:rPr>
              <a:t>Le cours comporte deux volets :</a:t>
            </a:r>
          </a:p>
          <a:p>
            <a:pPr lvl="0"/>
            <a:r>
              <a:rPr lang="fr-FR" sz="1200" kern="1200" dirty="0">
                <a:solidFill>
                  <a:schemeClr val="tx1"/>
                </a:solidFill>
                <a:latin typeface="+mn-lt"/>
                <a:ea typeface="+mn-ea"/>
                <a:cs typeface="+mn-cs"/>
              </a:rPr>
              <a:t>Des chapitres de cours abordant des notions de statistiques et des connaissances essentielles sur le logiciel R.</a:t>
            </a:r>
          </a:p>
          <a:p>
            <a:pPr lvl="0"/>
            <a:r>
              <a:rPr lang="fr-FR" sz="1200" kern="1200" dirty="0">
                <a:solidFill>
                  <a:schemeClr val="tx1"/>
                </a:solidFill>
                <a:latin typeface="+mn-lt"/>
                <a:ea typeface="+mn-ea"/>
                <a:cs typeface="+mn-cs"/>
              </a:rPr>
              <a:t>Des travaux pratiques réalisés sur ordinateur. </a:t>
            </a:r>
          </a:p>
          <a:p>
            <a:endParaRPr lang="fr-FR" dirty="0"/>
          </a:p>
        </p:txBody>
      </p:sp>
      <p:sp>
        <p:nvSpPr>
          <p:cNvPr id="4" name="Espace réservé du numéro de diapositive 3"/>
          <p:cNvSpPr>
            <a:spLocks noGrp="1"/>
          </p:cNvSpPr>
          <p:nvPr>
            <p:ph type="sldNum" sz="quarter" idx="10"/>
          </p:nvPr>
        </p:nvSpPr>
        <p:spPr/>
        <p:txBody>
          <a:bodyPr/>
          <a:lstStyle/>
          <a:p>
            <a:fld id="{F01A01F3-8011-4918-A25D-048AF39508FA}" type="slidenum">
              <a:rPr lang="fr-FR" smtClean="0"/>
              <a:pPr/>
              <a:t>36</a:t>
            </a:fld>
            <a:endParaRPr lang="fr-FR" dirty="0"/>
          </a:p>
        </p:txBody>
      </p:sp>
    </p:spTree>
    <p:extLst>
      <p:ext uri="{BB962C8B-B14F-4D97-AF65-F5344CB8AC3E}">
        <p14:creationId xmlns:p14="http://schemas.microsoft.com/office/powerpoint/2010/main" val="2053636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F01A01F3-8011-4918-A25D-048AF39508FA}" type="slidenum">
              <a:rPr lang="fr-FR" smtClean="0"/>
              <a:pPr/>
              <a:t>46</a:t>
            </a:fld>
            <a:endParaRPr lang="fr-FR" dirty="0"/>
          </a:p>
        </p:txBody>
      </p:sp>
    </p:spTree>
    <p:extLst>
      <p:ext uri="{BB962C8B-B14F-4D97-AF65-F5344CB8AC3E}">
        <p14:creationId xmlns:p14="http://schemas.microsoft.com/office/powerpoint/2010/main" val="2350885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Modifiez le style des sous-titres du masque</a:t>
            </a:r>
            <a:endParaRPr lang="fr-FR"/>
          </a:p>
        </p:txBody>
      </p:sp>
      <p:sp>
        <p:nvSpPr>
          <p:cNvPr id="4" name="Date Placeholder 3"/>
          <p:cNvSpPr>
            <a:spLocks noGrp="1"/>
          </p:cNvSpPr>
          <p:nvPr>
            <p:ph type="dt" sz="half" idx="10"/>
          </p:nvPr>
        </p:nvSpPr>
        <p:spPr/>
        <p:txBody>
          <a:bodyPr/>
          <a:lstStyle/>
          <a:p>
            <a:fld id="{3BC557A5-E921-469F-9E6D-34D0ABD122C2}" type="datetimeFigureOut">
              <a:rPr lang="fr-FR" smtClean="0"/>
              <a:t>21/09/2021</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58A0794-D091-452B-ADAE-6755AFAE202E}" type="slidenum">
              <a:rPr lang="fr-FR" smtClean="0"/>
              <a:t>‹N°›</a:t>
            </a:fld>
            <a:endParaRPr lang="fr-FR"/>
          </a:p>
        </p:txBody>
      </p:sp>
    </p:spTree>
    <p:extLst>
      <p:ext uri="{BB962C8B-B14F-4D97-AF65-F5344CB8AC3E}">
        <p14:creationId xmlns:p14="http://schemas.microsoft.com/office/powerpoint/2010/main" val="148103594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fr-FR"/>
          </a:p>
        </p:txBody>
      </p:sp>
      <p:sp>
        <p:nvSpPr>
          <p:cNvPr id="3" name="Content Placeholder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Date Placeholder 3"/>
          <p:cNvSpPr>
            <a:spLocks noGrp="1"/>
          </p:cNvSpPr>
          <p:nvPr>
            <p:ph type="dt" sz="half" idx="10"/>
          </p:nvPr>
        </p:nvSpPr>
        <p:spPr/>
        <p:txBody>
          <a:bodyPr/>
          <a:lstStyle/>
          <a:p>
            <a:fld id="{3BC557A5-E921-469F-9E6D-34D0ABD122C2}" type="datetimeFigureOut">
              <a:rPr lang="fr-FR" smtClean="0"/>
              <a:t>21/09/2021</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58A0794-D091-452B-ADAE-6755AFAE202E}" type="slidenum">
              <a:rPr lang="fr-FR" smtClean="0"/>
              <a:t>‹N°›</a:t>
            </a:fld>
            <a:endParaRPr lang="fr-FR"/>
          </a:p>
        </p:txBody>
      </p:sp>
    </p:spTree>
    <p:extLst>
      <p:ext uri="{BB962C8B-B14F-4D97-AF65-F5344CB8AC3E}">
        <p14:creationId xmlns:p14="http://schemas.microsoft.com/office/powerpoint/2010/main" val="210752753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3BC557A5-E921-469F-9E6D-34D0ABD122C2}" type="datetimeFigureOut">
              <a:rPr lang="fr-FR" smtClean="0"/>
              <a:t>21/09/2021</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58A0794-D091-452B-ADAE-6755AFAE202E}" type="slidenum">
              <a:rPr lang="fr-FR" smtClean="0"/>
              <a:t>‹N°›</a:t>
            </a:fld>
            <a:endParaRPr lang="fr-FR"/>
          </a:p>
        </p:txBody>
      </p:sp>
    </p:spTree>
    <p:extLst>
      <p:ext uri="{BB962C8B-B14F-4D97-AF65-F5344CB8AC3E}">
        <p14:creationId xmlns:p14="http://schemas.microsoft.com/office/powerpoint/2010/main" val="336546617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fr-FR"/>
          </a:p>
        </p:txBody>
      </p:sp>
      <p:sp>
        <p:nvSpPr>
          <p:cNvPr id="3" name="Content Placeholder 2"/>
          <p:cNvSpPr>
            <a:spLocks noGrp="1"/>
          </p:cNvSpPr>
          <p:nvPr>
            <p:ph sz="half" idx="1"/>
          </p:nvPr>
        </p:nvSpPr>
        <p:spPr>
          <a:xfrm>
            <a:off x="838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Content Placeholder 3"/>
          <p:cNvSpPr>
            <a:spLocks noGrp="1"/>
          </p:cNvSpPr>
          <p:nvPr>
            <p:ph sz="half" idx="2"/>
          </p:nvPr>
        </p:nvSpPr>
        <p:spPr>
          <a:xfrm>
            <a:off x="6172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Date Placeholder 4"/>
          <p:cNvSpPr>
            <a:spLocks noGrp="1"/>
          </p:cNvSpPr>
          <p:nvPr>
            <p:ph type="dt" sz="half" idx="10"/>
          </p:nvPr>
        </p:nvSpPr>
        <p:spPr/>
        <p:txBody>
          <a:bodyPr/>
          <a:lstStyle/>
          <a:p>
            <a:fld id="{3BC557A5-E921-469F-9E6D-34D0ABD122C2}" type="datetimeFigureOut">
              <a:rPr lang="fr-FR" smtClean="0"/>
              <a:t>21/09/2021</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58A0794-D091-452B-ADAE-6755AFAE202E}" type="slidenum">
              <a:rPr lang="fr-FR" smtClean="0"/>
              <a:t>‹N°›</a:t>
            </a:fld>
            <a:endParaRPr lang="fr-FR"/>
          </a:p>
        </p:txBody>
      </p:sp>
    </p:spTree>
    <p:extLst>
      <p:ext uri="{BB962C8B-B14F-4D97-AF65-F5344CB8AC3E}">
        <p14:creationId xmlns:p14="http://schemas.microsoft.com/office/powerpoint/2010/main" val="259550443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Date Placeholder 6"/>
          <p:cNvSpPr>
            <a:spLocks noGrp="1"/>
          </p:cNvSpPr>
          <p:nvPr>
            <p:ph type="dt" sz="half" idx="10"/>
          </p:nvPr>
        </p:nvSpPr>
        <p:spPr/>
        <p:txBody>
          <a:bodyPr/>
          <a:lstStyle/>
          <a:p>
            <a:fld id="{3BC557A5-E921-469F-9E6D-34D0ABD122C2}" type="datetimeFigureOut">
              <a:rPr lang="fr-FR" smtClean="0"/>
              <a:t>21/09/2021</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558A0794-D091-452B-ADAE-6755AFAE202E}" type="slidenum">
              <a:rPr lang="fr-FR" smtClean="0"/>
              <a:t>‹N°›</a:t>
            </a:fld>
            <a:endParaRPr lang="fr-FR"/>
          </a:p>
        </p:txBody>
      </p:sp>
    </p:spTree>
    <p:extLst>
      <p:ext uri="{BB962C8B-B14F-4D97-AF65-F5344CB8AC3E}">
        <p14:creationId xmlns:p14="http://schemas.microsoft.com/office/powerpoint/2010/main" val="34252856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fr-FR"/>
          </a:p>
        </p:txBody>
      </p:sp>
      <p:sp>
        <p:nvSpPr>
          <p:cNvPr id="3" name="Date Placeholder 2"/>
          <p:cNvSpPr>
            <a:spLocks noGrp="1"/>
          </p:cNvSpPr>
          <p:nvPr>
            <p:ph type="dt" sz="half" idx="10"/>
          </p:nvPr>
        </p:nvSpPr>
        <p:spPr/>
        <p:txBody>
          <a:bodyPr/>
          <a:lstStyle/>
          <a:p>
            <a:fld id="{3BC557A5-E921-469F-9E6D-34D0ABD122C2}" type="datetimeFigureOut">
              <a:rPr lang="fr-FR" smtClean="0"/>
              <a:t>21/09/2021</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558A0794-D091-452B-ADAE-6755AFAE202E}" type="slidenum">
              <a:rPr lang="fr-FR" smtClean="0"/>
              <a:t>‹N°›</a:t>
            </a:fld>
            <a:endParaRPr lang="fr-FR"/>
          </a:p>
        </p:txBody>
      </p:sp>
    </p:spTree>
    <p:extLst>
      <p:ext uri="{BB962C8B-B14F-4D97-AF65-F5344CB8AC3E}">
        <p14:creationId xmlns:p14="http://schemas.microsoft.com/office/powerpoint/2010/main" val="213486743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C557A5-E921-469F-9E6D-34D0ABD122C2}" type="datetimeFigureOut">
              <a:rPr lang="fr-FR" smtClean="0"/>
              <a:t>21/09/2021</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558A0794-D091-452B-ADAE-6755AFAE202E}" type="slidenum">
              <a:rPr lang="fr-FR" smtClean="0"/>
              <a:t>‹N°›</a:t>
            </a:fld>
            <a:endParaRPr lang="fr-FR"/>
          </a:p>
        </p:txBody>
      </p:sp>
    </p:spTree>
    <p:extLst>
      <p:ext uri="{BB962C8B-B14F-4D97-AF65-F5344CB8AC3E}">
        <p14:creationId xmlns:p14="http://schemas.microsoft.com/office/powerpoint/2010/main" val="282763016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3BC557A5-E921-469F-9E6D-34D0ABD122C2}" type="datetimeFigureOut">
              <a:rPr lang="fr-FR" smtClean="0"/>
              <a:t>21/09/2021</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58A0794-D091-452B-ADAE-6755AFAE202E}" type="slidenum">
              <a:rPr lang="fr-FR" smtClean="0"/>
              <a:t>‹N°›</a:t>
            </a:fld>
            <a:endParaRPr lang="fr-FR"/>
          </a:p>
        </p:txBody>
      </p:sp>
    </p:spTree>
    <p:extLst>
      <p:ext uri="{BB962C8B-B14F-4D97-AF65-F5344CB8AC3E}">
        <p14:creationId xmlns:p14="http://schemas.microsoft.com/office/powerpoint/2010/main" val="293651587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3BC557A5-E921-469F-9E6D-34D0ABD122C2}" type="datetimeFigureOut">
              <a:rPr lang="fr-FR" smtClean="0"/>
              <a:t>21/09/2021</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58A0794-D091-452B-ADAE-6755AFAE202E}" type="slidenum">
              <a:rPr lang="fr-FR" smtClean="0"/>
              <a:t>‹N°›</a:t>
            </a:fld>
            <a:endParaRPr lang="fr-FR"/>
          </a:p>
        </p:txBody>
      </p:sp>
    </p:spTree>
    <p:extLst>
      <p:ext uri="{BB962C8B-B14F-4D97-AF65-F5344CB8AC3E}">
        <p14:creationId xmlns:p14="http://schemas.microsoft.com/office/powerpoint/2010/main" val="39225138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fr-FR"/>
          </a:p>
        </p:txBody>
      </p:sp>
      <p:sp>
        <p:nvSpPr>
          <p:cNvPr id="3" name="Vertical Text Placeholder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Date Placeholder 3"/>
          <p:cNvSpPr>
            <a:spLocks noGrp="1"/>
          </p:cNvSpPr>
          <p:nvPr>
            <p:ph type="dt" sz="half" idx="10"/>
          </p:nvPr>
        </p:nvSpPr>
        <p:spPr/>
        <p:txBody>
          <a:bodyPr/>
          <a:lstStyle/>
          <a:p>
            <a:fld id="{3BC557A5-E921-469F-9E6D-34D0ABD122C2}" type="datetimeFigureOut">
              <a:rPr lang="fr-FR" smtClean="0"/>
              <a:t>21/09/2021</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58A0794-D091-452B-ADAE-6755AFAE202E}" type="slidenum">
              <a:rPr lang="fr-FR" smtClean="0"/>
              <a:t>‹N°›</a:t>
            </a:fld>
            <a:endParaRPr lang="fr-FR"/>
          </a:p>
        </p:txBody>
      </p:sp>
    </p:spTree>
    <p:extLst>
      <p:ext uri="{BB962C8B-B14F-4D97-AF65-F5344CB8AC3E}">
        <p14:creationId xmlns:p14="http://schemas.microsoft.com/office/powerpoint/2010/main" val="373431063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Date Placeholder 3"/>
          <p:cNvSpPr>
            <a:spLocks noGrp="1"/>
          </p:cNvSpPr>
          <p:nvPr>
            <p:ph type="dt" sz="half" idx="10"/>
          </p:nvPr>
        </p:nvSpPr>
        <p:spPr/>
        <p:txBody>
          <a:bodyPr/>
          <a:lstStyle/>
          <a:p>
            <a:fld id="{3BC557A5-E921-469F-9E6D-34D0ABD122C2}" type="datetimeFigureOut">
              <a:rPr lang="fr-FR" smtClean="0"/>
              <a:t>21/09/2021</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58A0794-D091-452B-ADAE-6755AFAE202E}" type="slidenum">
              <a:rPr lang="fr-FR" smtClean="0"/>
              <a:t>‹N°›</a:t>
            </a:fld>
            <a:endParaRPr lang="fr-FR"/>
          </a:p>
        </p:txBody>
      </p:sp>
    </p:spTree>
    <p:extLst>
      <p:ext uri="{BB962C8B-B14F-4D97-AF65-F5344CB8AC3E}">
        <p14:creationId xmlns:p14="http://schemas.microsoft.com/office/powerpoint/2010/main" val="13757529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C557A5-E921-469F-9E6D-34D0ABD122C2}" type="datetimeFigureOut">
              <a:rPr lang="fr-FR" smtClean="0"/>
              <a:t>21/09/2021</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8A0794-D091-452B-ADAE-6755AFAE202E}" type="slidenum">
              <a:rPr lang="fr-FR" smtClean="0"/>
              <a:t>‹N°›</a:t>
            </a:fld>
            <a:endParaRPr lang="fr-FR"/>
          </a:p>
        </p:txBody>
      </p:sp>
    </p:spTree>
    <p:extLst>
      <p:ext uri="{BB962C8B-B14F-4D97-AF65-F5344CB8AC3E}">
        <p14:creationId xmlns:p14="http://schemas.microsoft.com/office/powerpoint/2010/main" val="12264456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118040" y="1477170"/>
            <a:ext cx="10266226" cy="2160240"/>
          </a:xfrm>
        </p:spPr>
        <p:txBody>
          <a:bodyPr>
            <a:noAutofit/>
          </a:bodyPr>
          <a:lstStyle/>
          <a:p>
            <a:pPr marL="857250" indent="-857250"/>
            <a:r>
              <a:rPr lang="fr-FR" sz="8000" dirty="0">
                <a:latin typeface="Times New Roman" pitchFamily="18" charset="0"/>
                <a:cs typeface="Times New Roman" pitchFamily="18" charset="0"/>
              </a:rPr>
              <a:t>Préparation des données</a:t>
            </a:r>
            <a:endParaRPr lang="fr-FR" sz="3200" dirty="0">
              <a:latin typeface="Times New Roman" pitchFamily="18" charset="0"/>
              <a:cs typeface="Times New Roman" pitchFamily="18" charset="0"/>
            </a:endParaRPr>
          </a:p>
        </p:txBody>
      </p:sp>
      <p:sp>
        <p:nvSpPr>
          <p:cNvPr id="8" name="ZoneTexte 7"/>
          <p:cNvSpPr txBox="1"/>
          <p:nvPr/>
        </p:nvSpPr>
        <p:spPr>
          <a:xfrm>
            <a:off x="4320989" y="3976015"/>
            <a:ext cx="3096344" cy="461665"/>
          </a:xfrm>
          <a:prstGeom prst="rect">
            <a:avLst/>
          </a:prstGeom>
          <a:noFill/>
        </p:spPr>
        <p:txBody>
          <a:bodyPr wrap="square" rtlCol="0">
            <a:spAutoFit/>
          </a:bodyPr>
          <a:lstStyle/>
          <a:p>
            <a:pPr algn="ctr"/>
            <a:r>
              <a:rPr lang="fr-FR" sz="2400" dirty="0" smtClean="0">
                <a:latin typeface="Times New Roman" pitchFamily="18" charset="0"/>
                <a:cs typeface="Times New Roman" pitchFamily="18" charset="0"/>
              </a:rPr>
              <a:t>4ERP-BI</a:t>
            </a:r>
            <a:endParaRPr lang="fr-FR" sz="2400" dirty="0"/>
          </a:p>
        </p:txBody>
      </p:sp>
      <p:sp>
        <p:nvSpPr>
          <p:cNvPr id="7" name="ZoneTexte 6"/>
          <p:cNvSpPr txBox="1"/>
          <p:nvPr/>
        </p:nvSpPr>
        <p:spPr>
          <a:xfrm>
            <a:off x="7563055" y="6288613"/>
            <a:ext cx="3851920" cy="400110"/>
          </a:xfrm>
          <a:prstGeom prst="rect">
            <a:avLst/>
          </a:prstGeom>
          <a:noFill/>
        </p:spPr>
        <p:txBody>
          <a:bodyPr wrap="square" rtlCol="0">
            <a:spAutoFit/>
          </a:bodyPr>
          <a:lstStyle/>
          <a:p>
            <a:r>
              <a:rPr lang="fr-FR" sz="2000" dirty="0">
                <a:latin typeface="Times New Roman" pitchFamily="18" charset="0"/>
                <a:cs typeface="Times New Roman" pitchFamily="18" charset="0"/>
              </a:rPr>
              <a:t>Année </a:t>
            </a:r>
            <a:r>
              <a:rPr lang="fr-FR" sz="2000">
                <a:latin typeface="Times New Roman" pitchFamily="18" charset="0"/>
                <a:cs typeface="Times New Roman" pitchFamily="18" charset="0"/>
              </a:rPr>
              <a:t>universitaire </a:t>
            </a:r>
            <a:r>
              <a:rPr lang="fr-FR" sz="2000" smtClean="0">
                <a:latin typeface="Times New Roman" pitchFamily="18" charset="0"/>
                <a:cs typeface="Times New Roman" pitchFamily="18" charset="0"/>
              </a:rPr>
              <a:t>2021/2022</a:t>
            </a:r>
            <a:endParaRPr lang="fr-FR" sz="2000" dirty="0">
              <a:latin typeface="Times New Roman" pitchFamily="18" charset="0"/>
              <a:cs typeface="Times New Roman" pitchFamily="18" charset="0"/>
            </a:endParaRPr>
          </a:p>
        </p:txBody>
      </p:sp>
      <p:pic>
        <p:nvPicPr>
          <p:cNvPr id="9" name="Image 9" descr="logo-espri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88288" y="91986"/>
            <a:ext cx="1870710" cy="600710"/>
          </a:xfrm>
          <a:prstGeom prst="rect">
            <a:avLst/>
          </a:prstGeom>
          <a:noFill/>
          <a:ln>
            <a:noFill/>
          </a:ln>
        </p:spPr>
      </p:pic>
      <p:pic>
        <p:nvPicPr>
          <p:cNvPr id="10" name="Image 9" descr="logo-espri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61182" y="126569"/>
            <a:ext cx="1870710" cy="600710"/>
          </a:xfrm>
          <a:prstGeom prst="rect">
            <a:avLst/>
          </a:prstGeom>
          <a:noFill/>
          <a:ln>
            <a:noFill/>
          </a:ln>
        </p:spPr>
      </p:pic>
    </p:spTree>
    <p:extLst>
      <p:ext uri="{BB962C8B-B14F-4D97-AF65-F5344CB8AC3E}">
        <p14:creationId xmlns:p14="http://schemas.microsoft.com/office/powerpoint/2010/main" val="1392507675"/>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540914" y="1210614"/>
            <a:ext cx="11165982" cy="4154984"/>
          </a:xfrm>
          <a:prstGeom prst="rect">
            <a:avLst/>
          </a:prstGeom>
          <a:noFill/>
        </p:spPr>
        <p:txBody>
          <a:bodyPr wrap="square" rtlCol="0">
            <a:spAutoFit/>
          </a:bodyPr>
          <a:lstStyle/>
          <a:p>
            <a:pPr marL="400050" indent="-400050">
              <a:buFont typeface="+mj-lt"/>
              <a:buAutoNum type="romanUcPeriod"/>
            </a:pPr>
            <a:r>
              <a:rPr lang="fr-FR" sz="4400" dirty="0" smtClean="0"/>
              <a:t>Vue Globale/Compréhension des données </a:t>
            </a:r>
            <a:endParaRPr lang="fr-FR" sz="4400" dirty="0"/>
          </a:p>
          <a:p>
            <a:pPr marL="400050" indent="-400050">
              <a:buFont typeface="+mj-lt"/>
              <a:buAutoNum type="romanUcPeriod"/>
            </a:pPr>
            <a:endParaRPr lang="fr-FR" sz="4400" dirty="0" smtClean="0"/>
          </a:p>
          <a:p>
            <a:pPr marL="400050" indent="-400050">
              <a:buFont typeface="+mj-lt"/>
              <a:buAutoNum type="romanUcPeriod"/>
            </a:pPr>
            <a:r>
              <a:rPr lang="fr-FR" sz="4400" dirty="0" smtClean="0"/>
              <a:t>Transformations des données</a:t>
            </a:r>
          </a:p>
          <a:p>
            <a:pPr marL="400050" indent="-400050">
              <a:buFont typeface="+mj-lt"/>
              <a:buAutoNum type="romanUcPeriod"/>
            </a:pPr>
            <a:endParaRPr lang="fr-FR" sz="4400" dirty="0"/>
          </a:p>
          <a:p>
            <a:pPr marL="400050" indent="-400050">
              <a:buFont typeface="+mj-lt"/>
              <a:buAutoNum type="romanUcPeriod"/>
            </a:pPr>
            <a:endParaRPr lang="fr-FR" sz="4400" dirty="0" smtClean="0"/>
          </a:p>
          <a:p>
            <a:pPr marL="400050" indent="-400050">
              <a:buFont typeface="+mj-lt"/>
              <a:buAutoNum type="romanUcPeriod"/>
            </a:pPr>
            <a:r>
              <a:rPr lang="fr-FR" sz="4400" dirty="0" smtClean="0"/>
              <a:t>Données Aberrantes/Manquantes/Spéciales</a:t>
            </a:r>
            <a:endParaRPr lang="fr-FR" sz="4400" dirty="0"/>
          </a:p>
        </p:txBody>
      </p:sp>
    </p:spTree>
    <p:extLst>
      <p:ext uri="{BB962C8B-B14F-4D97-AF65-F5344CB8AC3E}">
        <p14:creationId xmlns:p14="http://schemas.microsoft.com/office/powerpoint/2010/main" val="2497821297"/>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2156" y="3098375"/>
            <a:ext cx="4691708" cy="31221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188392" y="2106741"/>
            <a:ext cx="10951833" cy="769441"/>
          </a:xfrm>
          <a:prstGeom prst="rect">
            <a:avLst/>
          </a:prstGeom>
        </p:spPr>
        <p:txBody>
          <a:bodyPr wrap="square">
            <a:spAutoFit/>
          </a:bodyPr>
          <a:lstStyle/>
          <a:p>
            <a:r>
              <a:rPr lang="fr-FR" sz="4400" b="1" dirty="0" smtClean="0"/>
              <a:t>Vue Globale/Compréhension </a:t>
            </a:r>
            <a:r>
              <a:rPr lang="fr-FR" sz="4400" b="1" dirty="0"/>
              <a:t>des données </a:t>
            </a:r>
          </a:p>
        </p:txBody>
      </p:sp>
    </p:spTree>
    <p:extLst>
      <p:ext uri="{BB962C8B-B14F-4D97-AF65-F5344CB8AC3E}">
        <p14:creationId xmlns:p14="http://schemas.microsoft.com/office/powerpoint/2010/main" val="2314957312"/>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xmlns="" id="{3883FB47-B723-4A80-AF91-BC2786BBC48F}"/>
              </a:ext>
            </a:extLst>
          </p:cNvPr>
          <p:cNvSpPr/>
          <p:nvPr/>
        </p:nvSpPr>
        <p:spPr>
          <a:xfrm>
            <a:off x="-1240354" y="525553"/>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400" b="1" dirty="0" smtClean="0">
                <a:solidFill>
                  <a:srgbClr val="C00000"/>
                </a:solidFill>
              </a:rPr>
              <a:t>Les structures des </a:t>
            </a:r>
            <a:r>
              <a:rPr lang="fr-FR" sz="4400" b="1" dirty="0">
                <a:solidFill>
                  <a:srgbClr val="C00000"/>
                </a:solidFill>
              </a:rPr>
              <a:t>données:</a:t>
            </a:r>
            <a:endParaRPr lang="fr-FR" sz="4400" dirty="0">
              <a:solidFill>
                <a:srgbClr val="C00000"/>
              </a:solidFill>
            </a:endParaRPr>
          </a:p>
        </p:txBody>
      </p:sp>
      <mc:AlternateContent xmlns:mc="http://schemas.openxmlformats.org/markup-compatibility/2006" xmlns:a14="http://schemas.microsoft.com/office/drawing/2010/main">
        <mc:Choice Requires="a14">
          <p:sp>
            <p:nvSpPr>
              <p:cNvPr id="3" name="Rectangle : coins arrondis 2">
                <a:extLst>
                  <a:ext uri="{FF2B5EF4-FFF2-40B4-BE49-F238E27FC236}">
                    <a16:creationId xmlns:a16="http://schemas.microsoft.com/office/drawing/2014/main" xmlns="" id="{D43493FE-B9B7-47DE-8E65-89B45F6A3210}"/>
                  </a:ext>
                </a:extLst>
              </p:cNvPr>
              <p:cNvSpPr/>
              <p:nvPr/>
            </p:nvSpPr>
            <p:spPr>
              <a:xfrm>
                <a:off x="352425" y="1409699"/>
                <a:ext cx="11558588" cy="521017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dirty="0">
                    <a:solidFill>
                      <a:schemeClr val="tx1"/>
                    </a:solidFill>
                  </a:rPr>
                  <a:t>Les données à analyser sont organisées sous deux formes différentes</a:t>
                </a:r>
                <a:r>
                  <a:rPr lang="fr-FR" sz="2800" dirty="0" smtClean="0">
                    <a:solidFill>
                      <a:schemeClr val="tx1"/>
                    </a:solidFill>
                  </a:rPr>
                  <a:t>:</a:t>
                </a:r>
              </a:p>
              <a:p>
                <a:endParaRPr lang="fr-FR" sz="2800" dirty="0">
                  <a:solidFill>
                    <a:schemeClr val="tx1"/>
                  </a:solidFill>
                </a:endParaRPr>
              </a:p>
              <a:p>
                <a:r>
                  <a:rPr lang="fr-FR" sz="2800" b="1" dirty="0">
                    <a:solidFill>
                      <a:schemeClr val="tx1"/>
                    </a:solidFill>
                  </a:rPr>
                  <a:t>Données structurées: </a:t>
                </a:r>
                <a:r>
                  <a:rPr lang="fr-FR" sz="2800" dirty="0">
                    <a:solidFill>
                      <a:schemeClr val="tx1"/>
                    </a:solidFill>
                  </a:rPr>
                  <a:t>toutes informations (mots, chiffres…) présentées dans des cases (les champs d’un tableau) qui permettent leur interprétation et leur traitement. Plus simplement un tableau individus </a:t>
                </a:r>
                <a14:m>
                  <m:oMath xmlns:m="http://schemas.openxmlformats.org/officeDocument/2006/math">
                    <m:r>
                      <a:rPr lang="fr-FR" sz="2800" i="1" smtClean="0">
                        <a:solidFill>
                          <a:schemeClr val="tx1"/>
                        </a:solidFill>
                        <a:latin typeface="Cambria Math" panose="02040503050406030204" pitchFamily="18" charset="0"/>
                        <a:ea typeface="Cambria Math" panose="02040503050406030204" pitchFamily="18" charset="0"/>
                      </a:rPr>
                      <m:t>×</m:t>
                    </m:r>
                  </m:oMath>
                </a14:m>
                <a:r>
                  <a:rPr lang="fr-FR" sz="2800" dirty="0">
                    <a:solidFill>
                      <a:schemeClr val="tx1"/>
                    </a:solidFill>
                  </a:rPr>
                  <a:t> variable</a:t>
                </a:r>
                <a:r>
                  <a:rPr lang="fr-FR" sz="2800" dirty="0" smtClean="0">
                    <a:solidFill>
                      <a:schemeClr val="tx1"/>
                    </a:solidFill>
                  </a:rPr>
                  <a:t>.</a:t>
                </a:r>
              </a:p>
              <a:p>
                <a:endParaRPr lang="fr-FR" sz="2800" dirty="0">
                  <a:solidFill>
                    <a:schemeClr val="tx1"/>
                  </a:solidFill>
                </a:endParaRPr>
              </a:p>
              <a:p>
                <a:r>
                  <a:rPr lang="fr-FR" sz="2800" b="1" dirty="0">
                    <a:solidFill>
                      <a:schemeClr val="tx1"/>
                    </a:solidFill>
                  </a:rPr>
                  <a:t>Données non structurées: </a:t>
                </a:r>
                <a:r>
                  <a:rPr lang="fr-FR" sz="2800" dirty="0">
                    <a:solidFill>
                      <a:schemeClr val="tx1"/>
                    </a:solidFill>
                  </a:rPr>
                  <a:t>out ce qui n’est pas organisé sous forme d’un tableau de données la messagerie, les images, les vidéos, etc…</a:t>
                </a:r>
              </a:p>
              <a:p>
                <a:endParaRPr lang="fr-FR" sz="2800" dirty="0">
                  <a:solidFill>
                    <a:schemeClr val="tx1"/>
                  </a:solidFill>
                </a:endParaRPr>
              </a:p>
              <a:p>
                <a:r>
                  <a:rPr lang="fr-FR" sz="2800" dirty="0">
                    <a:solidFill>
                      <a:schemeClr val="tx1"/>
                    </a:solidFill>
                  </a:rPr>
                  <a:t> </a:t>
                </a:r>
              </a:p>
            </p:txBody>
          </p:sp>
        </mc:Choice>
        <mc:Fallback xmlns="">
          <p:sp>
            <p:nvSpPr>
              <p:cNvPr id="3" name="Rectangle : coins arrondis 2">
                <a:extLst>
                  <a:ext uri="{FF2B5EF4-FFF2-40B4-BE49-F238E27FC236}">
                    <a16:creationId xmlns:a16="http://schemas.microsoft.com/office/drawing/2014/main" xmlns="" xmlns:a14="http://schemas.microsoft.com/office/drawing/2010/main" id="{D43493FE-B9B7-47DE-8E65-89B45F6A3210}"/>
                  </a:ext>
                </a:extLst>
              </p:cNvPr>
              <p:cNvSpPr>
                <a:spLocks noRot="1" noChangeAspect="1" noMove="1" noResize="1" noEditPoints="1" noAdjustHandles="1" noChangeArrowheads="1" noChangeShapeType="1" noTextEdit="1"/>
              </p:cNvSpPr>
              <p:nvPr/>
            </p:nvSpPr>
            <p:spPr>
              <a:xfrm>
                <a:off x="352425" y="1409699"/>
                <a:ext cx="11558588" cy="5210175"/>
              </a:xfrm>
              <a:prstGeom prst="roundRect">
                <a:avLst/>
              </a:prstGeom>
              <a:blipFill rotWithShape="1">
                <a:blip r:embed="rId2"/>
                <a:stretch>
                  <a:fillRect/>
                </a:stretch>
              </a:blipFill>
              <a:ln>
                <a:solidFill>
                  <a:schemeClr val="tx1"/>
                </a:solidFill>
              </a:ln>
            </p:spPr>
            <p:txBody>
              <a:bodyPr/>
              <a:lstStyle/>
              <a:p>
                <a:r>
                  <a:rPr lang="fr-FR">
                    <a:noFill/>
                  </a:rPr>
                  <a:t> </a:t>
                </a:r>
              </a:p>
            </p:txBody>
          </p:sp>
        </mc:Fallback>
      </mc:AlternateContent>
    </p:spTree>
    <p:extLst>
      <p:ext uri="{BB962C8B-B14F-4D97-AF65-F5344CB8AC3E}">
        <p14:creationId xmlns:p14="http://schemas.microsoft.com/office/powerpoint/2010/main" val="2558766402"/>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 coins arrondis 4">
            <a:extLst>
              <a:ext uri="{FF2B5EF4-FFF2-40B4-BE49-F238E27FC236}">
                <a16:creationId xmlns:a16="http://schemas.microsoft.com/office/drawing/2014/main" xmlns="" id="{003D6BEF-C338-46E3-A272-4AAC0145F36E}"/>
              </a:ext>
            </a:extLst>
          </p:cNvPr>
          <p:cNvSpPr/>
          <p:nvPr/>
        </p:nvSpPr>
        <p:spPr>
          <a:xfrm>
            <a:off x="573110" y="494630"/>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4800" b="1" dirty="0" smtClean="0">
                <a:solidFill>
                  <a:srgbClr val="C00000"/>
                </a:solidFill>
              </a:rPr>
              <a:t>     Concepts </a:t>
            </a:r>
            <a:r>
              <a:rPr lang="fr-FR" sz="4800" b="1" dirty="0">
                <a:solidFill>
                  <a:srgbClr val="C00000"/>
                </a:solidFill>
              </a:rPr>
              <a:t>de base</a:t>
            </a:r>
          </a:p>
        </p:txBody>
      </p:sp>
      <p:sp>
        <p:nvSpPr>
          <p:cNvPr id="14" name="Rectangle : coins arrondis 13">
            <a:extLst>
              <a:ext uri="{FF2B5EF4-FFF2-40B4-BE49-F238E27FC236}">
                <a16:creationId xmlns:a16="http://schemas.microsoft.com/office/drawing/2014/main" xmlns="" id="{FB08803C-8D80-46D4-9A5B-56C2553C1DA2}"/>
              </a:ext>
            </a:extLst>
          </p:cNvPr>
          <p:cNvSpPr/>
          <p:nvPr/>
        </p:nvSpPr>
        <p:spPr>
          <a:xfrm>
            <a:off x="314325" y="1743075"/>
            <a:ext cx="11630025" cy="43434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600" b="1" dirty="0">
                <a:solidFill>
                  <a:schemeClr val="tx1"/>
                </a:solidFill>
              </a:rPr>
              <a:t>Population</a:t>
            </a:r>
            <a:r>
              <a:rPr lang="fr-FR" sz="3600" dirty="0">
                <a:solidFill>
                  <a:schemeClr val="tx1"/>
                </a:solidFill>
              </a:rPr>
              <a:t> : ensemble des unités statistiques observées.</a:t>
            </a:r>
          </a:p>
          <a:p>
            <a:r>
              <a:rPr lang="fr-FR" sz="3600" b="1" dirty="0">
                <a:solidFill>
                  <a:schemeClr val="tx1"/>
                </a:solidFill>
              </a:rPr>
              <a:t>Individu</a:t>
            </a:r>
            <a:r>
              <a:rPr lang="fr-FR" sz="3600" dirty="0">
                <a:solidFill>
                  <a:schemeClr val="tx1"/>
                </a:solidFill>
              </a:rPr>
              <a:t> : unité statistique de base ou élément de la population étudiées.</a:t>
            </a:r>
          </a:p>
          <a:p>
            <a:r>
              <a:rPr lang="fr-FR" sz="3600" b="1" dirty="0">
                <a:solidFill>
                  <a:schemeClr val="tx1"/>
                </a:solidFill>
              </a:rPr>
              <a:t>Caractère ou variable </a:t>
            </a:r>
            <a:r>
              <a:rPr lang="fr-FR" sz="3600" dirty="0">
                <a:solidFill>
                  <a:schemeClr val="tx1"/>
                </a:solidFill>
              </a:rPr>
              <a:t>: aspect particulier de l’individu auquel on s’intéresse et qui pourra prendre différentes valeurs selon l’individu concerné.</a:t>
            </a:r>
          </a:p>
        </p:txBody>
      </p:sp>
    </p:spTree>
    <p:extLst>
      <p:ext uri="{BB962C8B-B14F-4D97-AF65-F5344CB8AC3E}">
        <p14:creationId xmlns:p14="http://schemas.microsoft.com/office/powerpoint/2010/main" val="4177082118"/>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6231" y="1417532"/>
            <a:ext cx="5678644" cy="49326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Accolade ouvrante 1"/>
          <p:cNvSpPr/>
          <p:nvPr/>
        </p:nvSpPr>
        <p:spPr>
          <a:xfrm rot="5400000">
            <a:off x="5318505" y="-1731354"/>
            <a:ext cx="734096" cy="5563676"/>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fr-FR"/>
          </a:p>
        </p:txBody>
      </p:sp>
      <p:sp>
        <p:nvSpPr>
          <p:cNvPr id="3" name="ZoneTexte 2"/>
          <p:cNvSpPr txBox="1"/>
          <p:nvPr/>
        </p:nvSpPr>
        <p:spPr>
          <a:xfrm>
            <a:off x="5988676" y="566671"/>
            <a:ext cx="2226443" cy="369332"/>
          </a:xfrm>
          <a:prstGeom prst="rect">
            <a:avLst/>
          </a:prstGeom>
          <a:noFill/>
        </p:spPr>
        <p:txBody>
          <a:bodyPr wrap="none" rtlCol="0">
            <a:spAutoFit/>
          </a:bodyPr>
          <a:lstStyle/>
          <a:p>
            <a:r>
              <a:rPr lang="fr-FR" b="1" dirty="0" smtClean="0">
                <a:solidFill>
                  <a:srgbClr val="C00000"/>
                </a:solidFill>
              </a:rPr>
              <a:t>Variables Statistiques</a:t>
            </a:r>
            <a:endParaRPr lang="fr-FR" b="1" dirty="0">
              <a:solidFill>
                <a:srgbClr val="C00000"/>
              </a:solidFill>
            </a:endParaRPr>
          </a:p>
        </p:txBody>
      </p:sp>
      <p:sp>
        <p:nvSpPr>
          <p:cNvPr id="5" name="Accolade ouvrante 4"/>
          <p:cNvSpPr/>
          <p:nvPr/>
        </p:nvSpPr>
        <p:spPr>
          <a:xfrm>
            <a:off x="1967852" y="2055901"/>
            <a:ext cx="734096" cy="2606251"/>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fr-FR"/>
          </a:p>
        </p:txBody>
      </p:sp>
      <p:sp>
        <p:nvSpPr>
          <p:cNvPr id="6" name="ZoneTexte 5"/>
          <p:cNvSpPr txBox="1"/>
          <p:nvPr/>
        </p:nvSpPr>
        <p:spPr>
          <a:xfrm>
            <a:off x="0" y="2805449"/>
            <a:ext cx="2213555" cy="369332"/>
          </a:xfrm>
          <a:prstGeom prst="rect">
            <a:avLst/>
          </a:prstGeom>
          <a:noFill/>
        </p:spPr>
        <p:txBody>
          <a:bodyPr wrap="none" rtlCol="0">
            <a:spAutoFit/>
          </a:bodyPr>
          <a:lstStyle/>
          <a:p>
            <a:r>
              <a:rPr lang="fr-FR" b="1" dirty="0" smtClean="0">
                <a:solidFill>
                  <a:srgbClr val="C00000"/>
                </a:solidFill>
              </a:rPr>
              <a:t>individus Statistiques</a:t>
            </a:r>
            <a:endParaRPr lang="fr-FR" b="1" dirty="0">
              <a:solidFill>
                <a:srgbClr val="C00000"/>
              </a:solidFill>
            </a:endParaRPr>
          </a:p>
        </p:txBody>
      </p:sp>
      <p:sp>
        <p:nvSpPr>
          <p:cNvPr id="4" name="Ellipse 3"/>
          <p:cNvSpPr/>
          <p:nvPr/>
        </p:nvSpPr>
        <p:spPr>
          <a:xfrm>
            <a:off x="4430331" y="2805448"/>
            <a:ext cx="540913" cy="369333"/>
          </a:xfrm>
          <a:prstGeom prst="ellipse">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cxnSp>
        <p:nvCxnSpPr>
          <p:cNvPr id="8" name="Connecteur droit avec flèche 7"/>
          <p:cNvCxnSpPr/>
          <p:nvPr/>
        </p:nvCxnSpPr>
        <p:spPr>
          <a:xfrm flipV="1">
            <a:off x="3245474" y="3174781"/>
            <a:ext cx="1184857" cy="1951011"/>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4" name="ZoneTexte 13"/>
          <p:cNvSpPr txBox="1"/>
          <p:nvPr/>
        </p:nvSpPr>
        <p:spPr>
          <a:xfrm>
            <a:off x="1031919" y="5136311"/>
            <a:ext cx="2428550" cy="369332"/>
          </a:xfrm>
          <a:prstGeom prst="rect">
            <a:avLst/>
          </a:prstGeom>
          <a:noFill/>
        </p:spPr>
        <p:txBody>
          <a:bodyPr wrap="none" rtlCol="0">
            <a:spAutoFit/>
          </a:bodyPr>
          <a:lstStyle/>
          <a:p>
            <a:r>
              <a:rPr lang="fr-FR" b="1" dirty="0" smtClean="0">
                <a:solidFill>
                  <a:srgbClr val="C00000"/>
                </a:solidFill>
              </a:rPr>
              <a:t>Observation Statistique</a:t>
            </a:r>
            <a:endParaRPr lang="fr-FR" b="1" dirty="0">
              <a:solidFill>
                <a:srgbClr val="C00000"/>
              </a:solidFill>
            </a:endParaRPr>
          </a:p>
        </p:txBody>
      </p:sp>
    </p:spTree>
    <p:extLst>
      <p:ext uri="{BB962C8B-B14F-4D97-AF65-F5344CB8AC3E}">
        <p14:creationId xmlns:p14="http://schemas.microsoft.com/office/powerpoint/2010/main" val="2056973656"/>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xmlns="" id="{EC6B9756-060D-49B8-9324-6B734A55B0CF}"/>
              </a:ext>
            </a:extLst>
          </p:cNvPr>
          <p:cNvSpPr/>
          <p:nvPr/>
        </p:nvSpPr>
        <p:spPr>
          <a:xfrm>
            <a:off x="257174" y="443114"/>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800" b="1" dirty="0">
                <a:solidFill>
                  <a:srgbClr val="C00000"/>
                </a:solidFill>
              </a:rPr>
              <a:t>Types de variables statistiques </a:t>
            </a:r>
          </a:p>
        </p:txBody>
      </p:sp>
      <p:sp>
        <p:nvSpPr>
          <p:cNvPr id="5" name="Rectangle : coins arrondis 4">
            <a:extLst>
              <a:ext uri="{FF2B5EF4-FFF2-40B4-BE49-F238E27FC236}">
                <a16:creationId xmlns:a16="http://schemas.microsoft.com/office/drawing/2014/main" xmlns="" id="{2781F5CF-5539-400D-8B3E-73F7BAADF93D}"/>
              </a:ext>
            </a:extLst>
          </p:cNvPr>
          <p:cNvSpPr/>
          <p:nvPr/>
        </p:nvSpPr>
        <p:spPr>
          <a:xfrm>
            <a:off x="457200" y="1676399"/>
            <a:ext cx="2543175" cy="88582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2800" b="1" dirty="0">
                <a:solidFill>
                  <a:schemeClr val="tx1"/>
                </a:solidFill>
              </a:rPr>
              <a:t>Qualitative</a:t>
            </a:r>
            <a:r>
              <a:rPr lang="fr-FR" dirty="0"/>
              <a:t> </a:t>
            </a:r>
          </a:p>
        </p:txBody>
      </p:sp>
      <p:sp>
        <p:nvSpPr>
          <p:cNvPr id="6" name="Rectangle : coins arrondis 5">
            <a:extLst>
              <a:ext uri="{FF2B5EF4-FFF2-40B4-BE49-F238E27FC236}">
                <a16:creationId xmlns:a16="http://schemas.microsoft.com/office/drawing/2014/main" xmlns="" id="{B765CAE2-1945-4EEF-8249-3FE337A142DB}"/>
              </a:ext>
            </a:extLst>
          </p:cNvPr>
          <p:cNvSpPr/>
          <p:nvPr/>
        </p:nvSpPr>
        <p:spPr>
          <a:xfrm>
            <a:off x="9401175" y="1676398"/>
            <a:ext cx="2543175" cy="88582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2800" b="1" dirty="0">
                <a:solidFill>
                  <a:schemeClr val="tx1"/>
                </a:solidFill>
              </a:rPr>
              <a:t>Quantitative</a:t>
            </a:r>
            <a:r>
              <a:rPr lang="fr-FR" dirty="0"/>
              <a:t> </a:t>
            </a:r>
          </a:p>
        </p:txBody>
      </p:sp>
      <p:sp>
        <p:nvSpPr>
          <p:cNvPr id="7" name="Rectangle : coins arrondis 6">
            <a:extLst>
              <a:ext uri="{FF2B5EF4-FFF2-40B4-BE49-F238E27FC236}">
                <a16:creationId xmlns:a16="http://schemas.microsoft.com/office/drawing/2014/main" xmlns="" id="{AFECF88F-D868-4C12-A087-641E3F6ED776}"/>
              </a:ext>
            </a:extLst>
          </p:cNvPr>
          <p:cNvSpPr/>
          <p:nvPr/>
        </p:nvSpPr>
        <p:spPr>
          <a:xfrm>
            <a:off x="457199" y="3505199"/>
            <a:ext cx="2543175" cy="88582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2800" b="1" dirty="0">
                <a:solidFill>
                  <a:schemeClr val="tx1"/>
                </a:solidFill>
              </a:rPr>
              <a:t>Qualité</a:t>
            </a:r>
            <a:r>
              <a:rPr lang="fr-FR" dirty="0"/>
              <a:t> </a:t>
            </a:r>
          </a:p>
        </p:txBody>
      </p:sp>
      <p:sp>
        <p:nvSpPr>
          <p:cNvPr id="8" name="Flèche : bas 7">
            <a:extLst>
              <a:ext uri="{FF2B5EF4-FFF2-40B4-BE49-F238E27FC236}">
                <a16:creationId xmlns:a16="http://schemas.microsoft.com/office/drawing/2014/main" xmlns="" id="{A0220BEC-2BF4-4CBF-A8F7-4115F0DEB811}"/>
              </a:ext>
            </a:extLst>
          </p:cNvPr>
          <p:cNvSpPr/>
          <p:nvPr/>
        </p:nvSpPr>
        <p:spPr>
          <a:xfrm>
            <a:off x="1588293" y="2638423"/>
            <a:ext cx="280988" cy="790575"/>
          </a:xfrm>
          <a:prstGeom prst="down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10" name="Flèche : bas 9">
            <a:extLst>
              <a:ext uri="{FF2B5EF4-FFF2-40B4-BE49-F238E27FC236}">
                <a16:creationId xmlns:a16="http://schemas.microsoft.com/office/drawing/2014/main" xmlns="" id="{ABB1337E-ECF6-4B8B-B8EB-D00EC6FFCD09}"/>
              </a:ext>
            </a:extLst>
          </p:cNvPr>
          <p:cNvSpPr/>
          <p:nvPr/>
        </p:nvSpPr>
        <p:spPr>
          <a:xfrm>
            <a:off x="10603707" y="2638422"/>
            <a:ext cx="280988" cy="790575"/>
          </a:xfrm>
          <a:prstGeom prst="down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xmlns="" id="{B528D190-B622-4B24-B9E1-14F538F61823}"/>
              </a:ext>
            </a:extLst>
          </p:cNvPr>
          <p:cNvSpPr/>
          <p:nvPr/>
        </p:nvSpPr>
        <p:spPr>
          <a:xfrm>
            <a:off x="9401175" y="3495673"/>
            <a:ext cx="2543175" cy="88582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2800" b="1" dirty="0">
                <a:solidFill>
                  <a:schemeClr val="tx1"/>
                </a:solidFill>
              </a:rPr>
              <a:t>Quantité</a:t>
            </a:r>
            <a:r>
              <a:rPr lang="fr-FR" dirty="0">
                <a:solidFill>
                  <a:schemeClr val="tx1"/>
                </a:solidFill>
              </a:rPr>
              <a:t> </a:t>
            </a:r>
          </a:p>
        </p:txBody>
      </p:sp>
      <p:sp>
        <p:nvSpPr>
          <p:cNvPr id="13" name="Flèche : bas 12">
            <a:extLst>
              <a:ext uri="{FF2B5EF4-FFF2-40B4-BE49-F238E27FC236}">
                <a16:creationId xmlns:a16="http://schemas.microsoft.com/office/drawing/2014/main" xmlns="" id="{429B03BD-D734-427E-B1C6-B14BB45F56DD}"/>
              </a:ext>
            </a:extLst>
          </p:cNvPr>
          <p:cNvSpPr/>
          <p:nvPr/>
        </p:nvSpPr>
        <p:spPr>
          <a:xfrm>
            <a:off x="1588293" y="4467225"/>
            <a:ext cx="280988" cy="790575"/>
          </a:xfrm>
          <a:prstGeom prst="down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14" name="Flèche : bas 13">
            <a:extLst>
              <a:ext uri="{FF2B5EF4-FFF2-40B4-BE49-F238E27FC236}">
                <a16:creationId xmlns:a16="http://schemas.microsoft.com/office/drawing/2014/main" xmlns="" id="{09BB071E-1D71-438E-AD2D-CF622331A7B8}"/>
              </a:ext>
            </a:extLst>
          </p:cNvPr>
          <p:cNvSpPr/>
          <p:nvPr/>
        </p:nvSpPr>
        <p:spPr>
          <a:xfrm>
            <a:off x="10603707" y="4467225"/>
            <a:ext cx="280988" cy="790575"/>
          </a:xfrm>
          <a:prstGeom prst="down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15" name="Rectangle : coins arrondis 14">
            <a:extLst>
              <a:ext uri="{FF2B5EF4-FFF2-40B4-BE49-F238E27FC236}">
                <a16:creationId xmlns:a16="http://schemas.microsoft.com/office/drawing/2014/main" xmlns="" id="{BBE1707D-E8EA-4CC7-AB7B-F1FE27892F45}"/>
              </a:ext>
            </a:extLst>
          </p:cNvPr>
          <p:cNvSpPr/>
          <p:nvPr/>
        </p:nvSpPr>
        <p:spPr>
          <a:xfrm>
            <a:off x="9401175" y="5333999"/>
            <a:ext cx="2543175" cy="88582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b="1" dirty="0">
                <a:solidFill>
                  <a:schemeClr val="tx1"/>
                </a:solidFill>
              </a:rPr>
              <a:t>taille/chiffre d’affaire...</a:t>
            </a:r>
            <a:r>
              <a:rPr lang="fr-FR" dirty="0">
                <a:solidFill>
                  <a:schemeClr val="tx1"/>
                </a:solidFill>
              </a:rPr>
              <a:t> </a:t>
            </a:r>
          </a:p>
        </p:txBody>
      </p:sp>
      <p:sp>
        <p:nvSpPr>
          <p:cNvPr id="16" name="Rectangle : coins arrondis 15">
            <a:extLst>
              <a:ext uri="{FF2B5EF4-FFF2-40B4-BE49-F238E27FC236}">
                <a16:creationId xmlns:a16="http://schemas.microsoft.com/office/drawing/2014/main" xmlns="" id="{2BADE9CC-BEBA-4A76-94AB-70817ECAD5E0}"/>
              </a:ext>
            </a:extLst>
          </p:cNvPr>
          <p:cNvSpPr/>
          <p:nvPr/>
        </p:nvSpPr>
        <p:spPr>
          <a:xfrm>
            <a:off x="457198" y="5386385"/>
            <a:ext cx="2543175" cy="88582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b="1" dirty="0">
                <a:solidFill>
                  <a:schemeClr val="tx1"/>
                </a:solidFill>
              </a:rPr>
              <a:t>Couleur des yeux/sexe…</a:t>
            </a:r>
          </a:p>
        </p:txBody>
      </p:sp>
      <p:sp>
        <p:nvSpPr>
          <p:cNvPr id="17" name="Rectangle : coins arrondis 16">
            <a:extLst>
              <a:ext uri="{FF2B5EF4-FFF2-40B4-BE49-F238E27FC236}">
                <a16:creationId xmlns:a16="http://schemas.microsoft.com/office/drawing/2014/main" xmlns="" id="{D5453209-068D-4C26-A9BE-E950CF92CF20}"/>
              </a:ext>
            </a:extLst>
          </p:cNvPr>
          <p:cNvSpPr/>
          <p:nvPr/>
        </p:nvSpPr>
        <p:spPr>
          <a:xfrm>
            <a:off x="4238625" y="3509960"/>
            <a:ext cx="3714750" cy="962024"/>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2400" b="1" dirty="0">
                <a:solidFill>
                  <a:schemeClr val="tx1"/>
                </a:solidFill>
              </a:rPr>
              <a:t>Modalité: valeur possible prise par la variable </a:t>
            </a:r>
          </a:p>
        </p:txBody>
      </p:sp>
      <p:sp>
        <p:nvSpPr>
          <p:cNvPr id="18" name="Rectangle : coins arrondis 17">
            <a:extLst>
              <a:ext uri="{FF2B5EF4-FFF2-40B4-BE49-F238E27FC236}">
                <a16:creationId xmlns:a16="http://schemas.microsoft.com/office/drawing/2014/main" xmlns="" id="{0D541963-C843-4C87-A02F-6F13A74AA290}"/>
              </a:ext>
            </a:extLst>
          </p:cNvPr>
          <p:cNvSpPr/>
          <p:nvPr/>
        </p:nvSpPr>
        <p:spPr>
          <a:xfrm>
            <a:off x="4729162" y="1638295"/>
            <a:ext cx="2543175" cy="88582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2800" b="1" dirty="0">
                <a:solidFill>
                  <a:schemeClr val="tx1"/>
                </a:solidFill>
              </a:rPr>
              <a:t>Variable statistique</a:t>
            </a:r>
            <a:r>
              <a:rPr lang="fr-FR" dirty="0"/>
              <a:t> </a:t>
            </a:r>
          </a:p>
        </p:txBody>
      </p:sp>
      <p:sp>
        <p:nvSpPr>
          <p:cNvPr id="2" name="Flèche : droite 1">
            <a:extLst>
              <a:ext uri="{FF2B5EF4-FFF2-40B4-BE49-F238E27FC236}">
                <a16:creationId xmlns:a16="http://schemas.microsoft.com/office/drawing/2014/main" xmlns="" id="{E4CFD59E-3607-4E6E-8761-EF27D7299481}"/>
              </a:ext>
            </a:extLst>
          </p:cNvPr>
          <p:cNvSpPr/>
          <p:nvPr/>
        </p:nvSpPr>
        <p:spPr>
          <a:xfrm>
            <a:off x="7272337" y="1790693"/>
            <a:ext cx="1226344" cy="581027"/>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3" name="Flèche : gauche 2">
            <a:extLst>
              <a:ext uri="{FF2B5EF4-FFF2-40B4-BE49-F238E27FC236}">
                <a16:creationId xmlns:a16="http://schemas.microsoft.com/office/drawing/2014/main" xmlns="" id="{EE3A3725-506A-4037-867C-48D76C4BB558}"/>
              </a:ext>
            </a:extLst>
          </p:cNvPr>
          <p:cNvSpPr/>
          <p:nvPr/>
        </p:nvSpPr>
        <p:spPr>
          <a:xfrm>
            <a:off x="3502818" y="1790695"/>
            <a:ext cx="1226344" cy="581027"/>
          </a:xfrm>
          <a:prstGeom prst="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19" name="Flèche : bas 18">
            <a:extLst>
              <a:ext uri="{FF2B5EF4-FFF2-40B4-BE49-F238E27FC236}">
                <a16:creationId xmlns:a16="http://schemas.microsoft.com/office/drawing/2014/main" xmlns="" id="{03C08FF6-9D9E-4C85-A0B6-F7B180BFF9BE}"/>
              </a:ext>
            </a:extLst>
          </p:cNvPr>
          <p:cNvSpPr/>
          <p:nvPr/>
        </p:nvSpPr>
        <p:spPr>
          <a:xfrm>
            <a:off x="5919786" y="2514594"/>
            <a:ext cx="481013" cy="914403"/>
          </a:xfrm>
          <a:prstGeom prst="down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128950288"/>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xmlns="" id="{89DEE022-BB4A-45A4-851B-75D732EA8770}"/>
              </a:ext>
            </a:extLst>
          </p:cNvPr>
          <p:cNvSpPr/>
          <p:nvPr/>
        </p:nvSpPr>
        <p:spPr>
          <a:xfrm>
            <a:off x="833639" y="250599"/>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2800" b="1" dirty="0">
                <a:solidFill>
                  <a:schemeClr val="tx1"/>
                </a:solidFill>
              </a:rPr>
              <a:t>Variables qualitative: </a:t>
            </a:r>
            <a:r>
              <a:rPr lang="fr-FR" sz="2800" dirty="0">
                <a:solidFill>
                  <a:schemeClr val="tx1"/>
                </a:solidFill>
              </a:rPr>
              <a:t>une variable dont les </a:t>
            </a:r>
            <a:r>
              <a:rPr lang="fr-FR" sz="2800" dirty="0" smtClean="0">
                <a:solidFill>
                  <a:schemeClr val="tx1"/>
                </a:solidFill>
              </a:rPr>
              <a:t>modalités </a:t>
            </a:r>
            <a:r>
              <a:rPr lang="fr-FR" sz="2800" dirty="0">
                <a:solidFill>
                  <a:schemeClr val="tx1"/>
                </a:solidFill>
              </a:rPr>
              <a:t>sont des mots </a:t>
            </a:r>
          </a:p>
        </p:txBody>
      </p:sp>
      <p:sp>
        <p:nvSpPr>
          <p:cNvPr id="8" name="Rectangle : coins arrondis 7">
            <a:extLst>
              <a:ext uri="{FF2B5EF4-FFF2-40B4-BE49-F238E27FC236}">
                <a16:creationId xmlns:a16="http://schemas.microsoft.com/office/drawing/2014/main" xmlns="" id="{CB465EED-F4FE-4797-9FCD-E3602F5AED33}"/>
              </a:ext>
            </a:extLst>
          </p:cNvPr>
          <p:cNvSpPr/>
          <p:nvPr/>
        </p:nvSpPr>
        <p:spPr>
          <a:xfrm>
            <a:off x="1095376" y="2219324"/>
            <a:ext cx="2543175" cy="88582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2800" b="1" dirty="0">
                <a:solidFill>
                  <a:schemeClr val="tx1"/>
                </a:solidFill>
              </a:rPr>
              <a:t>Nominale</a:t>
            </a:r>
            <a:r>
              <a:rPr lang="fr-FR" dirty="0"/>
              <a:t> </a:t>
            </a:r>
          </a:p>
        </p:txBody>
      </p:sp>
      <p:sp>
        <p:nvSpPr>
          <p:cNvPr id="9" name="Rectangle : coins arrondis 8">
            <a:extLst>
              <a:ext uri="{FF2B5EF4-FFF2-40B4-BE49-F238E27FC236}">
                <a16:creationId xmlns:a16="http://schemas.microsoft.com/office/drawing/2014/main" xmlns="" id="{D90BE9A5-FA56-4FF6-B8BF-5BAEBB69A3FD}"/>
              </a:ext>
            </a:extLst>
          </p:cNvPr>
          <p:cNvSpPr/>
          <p:nvPr/>
        </p:nvSpPr>
        <p:spPr>
          <a:xfrm>
            <a:off x="8553450" y="2219324"/>
            <a:ext cx="2543175" cy="88582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2800" b="1" dirty="0">
                <a:solidFill>
                  <a:schemeClr val="tx1"/>
                </a:solidFill>
              </a:rPr>
              <a:t>ordinale</a:t>
            </a:r>
            <a:r>
              <a:rPr lang="fr-FR" dirty="0"/>
              <a:t> </a:t>
            </a:r>
          </a:p>
        </p:txBody>
      </p:sp>
      <p:sp>
        <p:nvSpPr>
          <p:cNvPr id="10" name="Flèche : bas 9">
            <a:extLst>
              <a:ext uri="{FF2B5EF4-FFF2-40B4-BE49-F238E27FC236}">
                <a16:creationId xmlns:a16="http://schemas.microsoft.com/office/drawing/2014/main" xmlns="" id="{E4B3CF9B-8BF9-4052-9BCC-D847ADDC923B}"/>
              </a:ext>
            </a:extLst>
          </p:cNvPr>
          <p:cNvSpPr/>
          <p:nvPr/>
        </p:nvSpPr>
        <p:spPr>
          <a:xfrm>
            <a:off x="1943100" y="1128712"/>
            <a:ext cx="619125" cy="1000125"/>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 bas 10">
            <a:extLst>
              <a:ext uri="{FF2B5EF4-FFF2-40B4-BE49-F238E27FC236}">
                <a16:creationId xmlns:a16="http://schemas.microsoft.com/office/drawing/2014/main" xmlns="" id="{BB8A093C-66AA-4C66-8879-C68DEC672BF7}"/>
              </a:ext>
            </a:extLst>
          </p:cNvPr>
          <p:cNvSpPr/>
          <p:nvPr/>
        </p:nvSpPr>
        <p:spPr>
          <a:xfrm>
            <a:off x="9629775" y="1128711"/>
            <a:ext cx="619125" cy="1000125"/>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xmlns="" id="{85B113EF-7346-4916-BEDE-F469755B3AA6}"/>
              </a:ext>
            </a:extLst>
          </p:cNvPr>
          <p:cNvSpPr/>
          <p:nvPr/>
        </p:nvSpPr>
        <p:spPr>
          <a:xfrm>
            <a:off x="457200" y="3657600"/>
            <a:ext cx="3933825" cy="71437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2000" dirty="0">
                <a:solidFill>
                  <a:schemeClr val="tx1"/>
                </a:solidFill>
              </a:rPr>
              <a:t>Les modalités ne peuvent pas être ordonnées selon leur sens </a:t>
            </a:r>
          </a:p>
        </p:txBody>
      </p:sp>
      <p:sp>
        <p:nvSpPr>
          <p:cNvPr id="13" name="Rectangle : coins arrondis 12">
            <a:extLst>
              <a:ext uri="{FF2B5EF4-FFF2-40B4-BE49-F238E27FC236}">
                <a16:creationId xmlns:a16="http://schemas.microsoft.com/office/drawing/2014/main" xmlns="" id="{DE8E2444-BAE5-4A2D-8600-BB63623AD733}"/>
              </a:ext>
            </a:extLst>
          </p:cNvPr>
          <p:cNvSpPr/>
          <p:nvPr/>
        </p:nvSpPr>
        <p:spPr>
          <a:xfrm>
            <a:off x="8010525" y="3629025"/>
            <a:ext cx="3933825" cy="71437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2000" dirty="0">
                <a:solidFill>
                  <a:schemeClr val="tx1"/>
                </a:solidFill>
              </a:rPr>
              <a:t>Les modalités sont ordonnées selon leur sens </a:t>
            </a:r>
          </a:p>
        </p:txBody>
      </p:sp>
      <p:sp>
        <p:nvSpPr>
          <p:cNvPr id="15" name="Rectangle : coins arrondis 14">
            <a:extLst>
              <a:ext uri="{FF2B5EF4-FFF2-40B4-BE49-F238E27FC236}">
                <a16:creationId xmlns:a16="http://schemas.microsoft.com/office/drawing/2014/main" xmlns="" id="{7540558A-ABFC-4FA3-9C4D-54A57A6BB6DB}"/>
              </a:ext>
            </a:extLst>
          </p:cNvPr>
          <p:cNvSpPr/>
          <p:nvPr/>
        </p:nvSpPr>
        <p:spPr>
          <a:xfrm>
            <a:off x="8705849" y="4924426"/>
            <a:ext cx="2543175" cy="88582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b="1" dirty="0">
                <a:solidFill>
                  <a:schemeClr val="tx1"/>
                </a:solidFill>
              </a:rPr>
              <a:t>Degré de satisfaction: très satisfait, satisfait, insatisfait</a:t>
            </a:r>
          </a:p>
        </p:txBody>
      </p:sp>
      <p:sp>
        <p:nvSpPr>
          <p:cNvPr id="16" name="Rectangle : coins arrondis 15">
            <a:extLst>
              <a:ext uri="{FF2B5EF4-FFF2-40B4-BE49-F238E27FC236}">
                <a16:creationId xmlns:a16="http://schemas.microsoft.com/office/drawing/2014/main" xmlns="" id="{7E497119-AD89-4956-A623-98022E66E6A8}"/>
              </a:ext>
            </a:extLst>
          </p:cNvPr>
          <p:cNvSpPr/>
          <p:nvPr/>
        </p:nvSpPr>
        <p:spPr>
          <a:xfrm>
            <a:off x="1152524" y="4924426"/>
            <a:ext cx="2543175" cy="88582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b="1" dirty="0">
                <a:solidFill>
                  <a:schemeClr val="tx1"/>
                </a:solidFill>
              </a:rPr>
              <a:t>état civil: célibataire, marié, divorcé, veuf</a:t>
            </a:r>
            <a:endParaRPr lang="fr-FR" dirty="0"/>
          </a:p>
        </p:txBody>
      </p:sp>
    </p:spTree>
    <p:extLst>
      <p:ext uri="{BB962C8B-B14F-4D97-AF65-F5344CB8AC3E}">
        <p14:creationId xmlns:p14="http://schemas.microsoft.com/office/powerpoint/2010/main" val="573151052"/>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xmlns="" id="{89DEE022-BB4A-45A4-851B-75D732EA8770}"/>
              </a:ext>
            </a:extLst>
          </p:cNvPr>
          <p:cNvSpPr/>
          <p:nvPr/>
        </p:nvSpPr>
        <p:spPr>
          <a:xfrm>
            <a:off x="457200" y="247650"/>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2800" b="1" dirty="0">
                <a:solidFill>
                  <a:schemeClr val="tx1"/>
                </a:solidFill>
              </a:rPr>
              <a:t>Variables quantitative: </a:t>
            </a:r>
            <a:r>
              <a:rPr lang="fr-FR" sz="2800" dirty="0">
                <a:solidFill>
                  <a:schemeClr val="tx1"/>
                </a:solidFill>
              </a:rPr>
              <a:t>une variable dont les </a:t>
            </a:r>
            <a:r>
              <a:rPr lang="fr-FR" sz="2800" dirty="0" smtClean="0">
                <a:solidFill>
                  <a:schemeClr val="tx1"/>
                </a:solidFill>
              </a:rPr>
              <a:t>modalités </a:t>
            </a:r>
            <a:r>
              <a:rPr lang="fr-FR" sz="2800" dirty="0">
                <a:solidFill>
                  <a:schemeClr val="tx1"/>
                </a:solidFill>
              </a:rPr>
              <a:t>sont des nombres. </a:t>
            </a:r>
          </a:p>
        </p:txBody>
      </p:sp>
      <p:sp>
        <p:nvSpPr>
          <p:cNvPr id="8" name="Rectangle : coins arrondis 7">
            <a:extLst>
              <a:ext uri="{FF2B5EF4-FFF2-40B4-BE49-F238E27FC236}">
                <a16:creationId xmlns:a16="http://schemas.microsoft.com/office/drawing/2014/main" xmlns="" id="{CB465EED-F4FE-4797-9FCD-E3602F5AED33}"/>
              </a:ext>
            </a:extLst>
          </p:cNvPr>
          <p:cNvSpPr/>
          <p:nvPr/>
        </p:nvSpPr>
        <p:spPr>
          <a:xfrm>
            <a:off x="1095376" y="2219324"/>
            <a:ext cx="2543175" cy="88582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2800" b="1" dirty="0">
                <a:solidFill>
                  <a:schemeClr val="tx1"/>
                </a:solidFill>
              </a:rPr>
              <a:t>Discrète </a:t>
            </a:r>
            <a:r>
              <a:rPr lang="fr-FR" dirty="0"/>
              <a:t> </a:t>
            </a:r>
          </a:p>
        </p:txBody>
      </p:sp>
      <p:sp>
        <p:nvSpPr>
          <p:cNvPr id="9" name="Rectangle : coins arrondis 8">
            <a:extLst>
              <a:ext uri="{FF2B5EF4-FFF2-40B4-BE49-F238E27FC236}">
                <a16:creationId xmlns:a16="http://schemas.microsoft.com/office/drawing/2014/main" xmlns="" id="{D90BE9A5-FA56-4FF6-B8BF-5BAEBB69A3FD}"/>
              </a:ext>
            </a:extLst>
          </p:cNvPr>
          <p:cNvSpPr/>
          <p:nvPr/>
        </p:nvSpPr>
        <p:spPr>
          <a:xfrm>
            <a:off x="8553450" y="2219324"/>
            <a:ext cx="2543175" cy="88582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2800" b="1" dirty="0">
                <a:solidFill>
                  <a:schemeClr val="tx1"/>
                </a:solidFill>
              </a:rPr>
              <a:t>Continue</a:t>
            </a:r>
            <a:r>
              <a:rPr lang="fr-FR" dirty="0"/>
              <a:t> </a:t>
            </a:r>
          </a:p>
        </p:txBody>
      </p:sp>
      <p:sp>
        <p:nvSpPr>
          <p:cNvPr id="10" name="Flèche : bas 9">
            <a:extLst>
              <a:ext uri="{FF2B5EF4-FFF2-40B4-BE49-F238E27FC236}">
                <a16:creationId xmlns:a16="http://schemas.microsoft.com/office/drawing/2014/main" xmlns="" id="{E4B3CF9B-8BF9-4052-9BCC-D847ADDC923B}"/>
              </a:ext>
            </a:extLst>
          </p:cNvPr>
          <p:cNvSpPr/>
          <p:nvPr/>
        </p:nvSpPr>
        <p:spPr>
          <a:xfrm>
            <a:off x="1943100" y="1128712"/>
            <a:ext cx="619125" cy="1000125"/>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 bas 10">
            <a:extLst>
              <a:ext uri="{FF2B5EF4-FFF2-40B4-BE49-F238E27FC236}">
                <a16:creationId xmlns:a16="http://schemas.microsoft.com/office/drawing/2014/main" xmlns="" id="{BB8A093C-66AA-4C66-8879-C68DEC672BF7}"/>
              </a:ext>
            </a:extLst>
          </p:cNvPr>
          <p:cNvSpPr/>
          <p:nvPr/>
        </p:nvSpPr>
        <p:spPr>
          <a:xfrm>
            <a:off x="9629775" y="1128711"/>
            <a:ext cx="619125" cy="1000125"/>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xmlns="" id="{85B113EF-7346-4916-BEDE-F469755B3AA6}"/>
              </a:ext>
            </a:extLst>
          </p:cNvPr>
          <p:cNvSpPr/>
          <p:nvPr/>
        </p:nvSpPr>
        <p:spPr>
          <a:xfrm>
            <a:off x="457200" y="3657600"/>
            <a:ext cx="3933825" cy="85725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2000" dirty="0">
                <a:solidFill>
                  <a:schemeClr val="tx1"/>
                </a:solidFill>
              </a:rPr>
              <a:t>Les modalités sont des nombres précis, isolés et dans la plupart du temps des entiers </a:t>
            </a:r>
          </a:p>
        </p:txBody>
      </p:sp>
      <p:sp>
        <p:nvSpPr>
          <p:cNvPr id="13" name="Rectangle : coins arrondis 12">
            <a:extLst>
              <a:ext uri="{FF2B5EF4-FFF2-40B4-BE49-F238E27FC236}">
                <a16:creationId xmlns:a16="http://schemas.microsoft.com/office/drawing/2014/main" xmlns="" id="{DE8E2444-BAE5-4A2D-8600-BB63623AD733}"/>
              </a:ext>
            </a:extLst>
          </p:cNvPr>
          <p:cNvSpPr/>
          <p:nvPr/>
        </p:nvSpPr>
        <p:spPr>
          <a:xfrm>
            <a:off x="8010525" y="3629025"/>
            <a:ext cx="3933825" cy="88582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2000" dirty="0">
                <a:solidFill>
                  <a:schemeClr val="tx1"/>
                </a:solidFill>
              </a:rPr>
              <a:t>Les modalités sont des nombres issues d’un intervalle de nombres réels </a:t>
            </a:r>
          </a:p>
        </p:txBody>
      </p:sp>
      <p:sp>
        <p:nvSpPr>
          <p:cNvPr id="15" name="Rectangle : coins arrondis 14">
            <a:extLst>
              <a:ext uri="{FF2B5EF4-FFF2-40B4-BE49-F238E27FC236}">
                <a16:creationId xmlns:a16="http://schemas.microsoft.com/office/drawing/2014/main" xmlns="" id="{7540558A-ABFC-4FA3-9C4D-54A57A6BB6DB}"/>
              </a:ext>
            </a:extLst>
          </p:cNvPr>
          <p:cNvSpPr/>
          <p:nvPr/>
        </p:nvSpPr>
        <p:spPr>
          <a:xfrm>
            <a:off x="8705849" y="4924426"/>
            <a:ext cx="2543175" cy="88582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b="1" dirty="0">
                <a:solidFill>
                  <a:schemeClr val="tx1"/>
                </a:solidFill>
              </a:rPr>
              <a:t>Tranche d'âge: [10,20[,[20,30[,[30,40[.. </a:t>
            </a:r>
          </a:p>
        </p:txBody>
      </p:sp>
      <p:sp>
        <p:nvSpPr>
          <p:cNvPr id="16" name="Rectangle : coins arrondis 15">
            <a:extLst>
              <a:ext uri="{FF2B5EF4-FFF2-40B4-BE49-F238E27FC236}">
                <a16:creationId xmlns:a16="http://schemas.microsoft.com/office/drawing/2014/main" xmlns="" id="{7E497119-AD89-4956-A623-98022E66E6A8}"/>
              </a:ext>
            </a:extLst>
          </p:cNvPr>
          <p:cNvSpPr/>
          <p:nvPr/>
        </p:nvSpPr>
        <p:spPr>
          <a:xfrm>
            <a:off x="1152524" y="4924426"/>
            <a:ext cx="2543175" cy="1095374"/>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b="1" dirty="0">
                <a:solidFill>
                  <a:schemeClr val="tx1"/>
                </a:solidFill>
              </a:rPr>
              <a:t>Nombre d’années de scolarité achevées: 9,10,11,12,13…</a:t>
            </a:r>
            <a:endParaRPr lang="fr-FR" dirty="0"/>
          </a:p>
        </p:txBody>
      </p:sp>
    </p:spTree>
    <p:extLst>
      <p:ext uri="{BB962C8B-B14F-4D97-AF65-F5344CB8AC3E}">
        <p14:creationId xmlns:p14="http://schemas.microsoft.com/office/powerpoint/2010/main" val="3994045956"/>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5">
            <a:extLst>
              <a:ext uri="{FF2B5EF4-FFF2-40B4-BE49-F238E27FC236}">
                <a16:creationId xmlns:a16="http://schemas.microsoft.com/office/drawing/2014/main" xmlns="" id="{19FF0562-4023-4509-9D90-4CF5E296E237}"/>
              </a:ext>
            </a:extLst>
          </p:cNvPr>
          <p:cNvSpPr/>
          <p:nvPr/>
        </p:nvSpPr>
        <p:spPr>
          <a:xfrm>
            <a:off x="457200" y="1562099"/>
            <a:ext cx="11314090" cy="450532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3200" dirty="0">
              <a:solidFill>
                <a:schemeClr val="tx1"/>
              </a:solidFill>
            </a:endParaRPr>
          </a:p>
          <a:p>
            <a:endParaRPr lang="fr-FR" sz="3200" dirty="0" smtClean="0">
              <a:solidFill>
                <a:schemeClr val="tx1"/>
              </a:solidFill>
            </a:endParaRPr>
          </a:p>
          <a:p>
            <a:endParaRPr lang="fr-FR" sz="3200" dirty="0" smtClean="0">
              <a:solidFill>
                <a:schemeClr val="tx1"/>
              </a:solidFill>
            </a:endParaRPr>
          </a:p>
          <a:p>
            <a:endParaRPr lang="fr-FR" sz="3200" dirty="0" smtClean="0">
              <a:solidFill>
                <a:schemeClr val="tx1"/>
              </a:solidFill>
            </a:endParaRPr>
          </a:p>
          <a:p>
            <a:r>
              <a:rPr lang="fr-FR" sz="3200" dirty="0" smtClean="0">
                <a:solidFill>
                  <a:schemeClr val="tx1"/>
                </a:solidFill>
              </a:rPr>
              <a:t>Les </a:t>
            </a:r>
            <a:r>
              <a:rPr lang="fr-FR" sz="3200" dirty="0">
                <a:solidFill>
                  <a:schemeClr val="tx1"/>
                </a:solidFill>
              </a:rPr>
              <a:t>différents types de variables vont conditionner le choix des techniques, des paramètres et des tests utilisés.</a:t>
            </a:r>
          </a:p>
          <a:p>
            <a:r>
              <a:rPr lang="fr-FR" sz="3200" b="1" dirty="0">
                <a:solidFill>
                  <a:schemeClr val="tx1"/>
                </a:solidFill>
              </a:rPr>
              <a:t>Variable quantitative: </a:t>
            </a:r>
            <a:r>
              <a:rPr lang="fr-FR" sz="3200" dirty="0">
                <a:solidFill>
                  <a:schemeClr val="tx1"/>
                </a:solidFill>
              </a:rPr>
              <a:t>tous les indicateurs numériques (moyenne, variance, corrélation…)la régression linéaire-ACP…</a:t>
            </a:r>
          </a:p>
          <a:p>
            <a:endParaRPr lang="fr-FR" sz="3200" b="1" dirty="0" smtClean="0">
              <a:solidFill>
                <a:schemeClr val="tx1"/>
              </a:solidFill>
            </a:endParaRPr>
          </a:p>
          <a:p>
            <a:r>
              <a:rPr lang="fr-FR" sz="3200" b="1" dirty="0" smtClean="0">
                <a:solidFill>
                  <a:schemeClr val="tx1"/>
                </a:solidFill>
              </a:rPr>
              <a:t>Variable </a:t>
            </a:r>
            <a:r>
              <a:rPr lang="fr-FR" sz="3200" b="1" dirty="0">
                <a:solidFill>
                  <a:schemeClr val="tx1"/>
                </a:solidFill>
              </a:rPr>
              <a:t>qualitative: </a:t>
            </a:r>
            <a:r>
              <a:rPr lang="fr-FR" sz="3200" dirty="0">
                <a:solidFill>
                  <a:schemeClr val="tx1"/>
                </a:solidFill>
              </a:rPr>
              <a:t>test de </a:t>
            </a:r>
            <a:r>
              <a:rPr lang="fr-FR" sz="3200" dirty="0" smtClean="0">
                <a:solidFill>
                  <a:schemeClr val="tx1"/>
                </a:solidFill>
              </a:rPr>
              <a:t>khi-deux-ACM…</a:t>
            </a:r>
            <a:endParaRPr lang="fr-FR" sz="3200" dirty="0">
              <a:solidFill>
                <a:schemeClr val="tx1"/>
              </a:solidFill>
            </a:endParaRPr>
          </a:p>
          <a:p>
            <a:endParaRPr lang="fr-FR" sz="3200" dirty="0">
              <a:solidFill>
                <a:schemeClr val="tx1"/>
              </a:solidFill>
            </a:endParaRPr>
          </a:p>
          <a:p>
            <a:endParaRPr lang="fr-FR" sz="2800" dirty="0">
              <a:solidFill>
                <a:schemeClr val="tx1"/>
              </a:solidFill>
            </a:endParaRPr>
          </a:p>
          <a:p>
            <a:endParaRPr lang="fr-FR" sz="2800" dirty="0">
              <a:solidFill>
                <a:schemeClr val="tx1"/>
              </a:solidFill>
            </a:endParaRPr>
          </a:p>
          <a:p>
            <a:endParaRPr lang="fr-FR" sz="2800" dirty="0">
              <a:solidFill>
                <a:schemeClr val="tx1"/>
              </a:solidFill>
            </a:endParaRPr>
          </a:p>
          <a:p>
            <a:endParaRPr lang="fr-FR" sz="2800" dirty="0">
              <a:solidFill>
                <a:schemeClr val="tx1"/>
              </a:solidFill>
            </a:endParaRPr>
          </a:p>
          <a:p>
            <a:endParaRPr lang="fr-FR" sz="2400" dirty="0">
              <a:solidFill>
                <a:schemeClr val="tx1"/>
              </a:solidFill>
            </a:endParaRPr>
          </a:p>
        </p:txBody>
      </p:sp>
      <p:sp>
        <p:nvSpPr>
          <p:cNvPr id="3" name="Rectangle : coins arrondis 3">
            <a:extLst>
              <a:ext uri="{FF2B5EF4-FFF2-40B4-BE49-F238E27FC236}">
                <a16:creationId xmlns:a16="http://schemas.microsoft.com/office/drawing/2014/main" xmlns="" id="{EC6B9756-060D-49B8-9324-6B734A55B0CF}"/>
              </a:ext>
            </a:extLst>
          </p:cNvPr>
          <p:cNvSpPr/>
          <p:nvPr/>
        </p:nvSpPr>
        <p:spPr>
          <a:xfrm>
            <a:off x="257174" y="443114"/>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800" b="1" dirty="0" smtClean="0">
                <a:solidFill>
                  <a:srgbClr val="C00000"/>
                </a:solidFill>
              </a:rPr>
              <a:t>Choix des techniques statistiques</a:t>
            </a:r>
            <a:endParaRPr lang="fr-FR" sz="4800" b="1" dirty="0">
              <a:solidFill>
                <a:srgbClr val="C00000"/>
              </a:solidFill>
            </a:endParaRPr>
          </a:p>
        </p:txBody>
      </p:sp>
    </p:spTree>
    <p:extLst>
      <p:ext uri="{BB962C8B-B14F-4D97-AF65-F5344CB8AC3E}">
        <p14:creationId xmlns:p14="http://schemas.microsoft.com/office/powerpoint/2010/main" val="1800861791"/>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xmlns="" id="{3A92BCF0-D28C-4E9D-A469-BC68E2F5032E}"/>
              </a:ext>
            </a:extLst>
          </p:cNvPr>
          <p:cNvPicPr>
            <a:picLocks noChangeAspect="1"/>
          </p:cNvPicPr>
          <p:nvPr/>
        </p:nvPicPr>
        <p:blipFill>
          <a:blip r:embed="rId2"/>
          <a:stretch>
            <a:fillRect/>
          </a:stretch>
        </p:blipFill>
        <p:spPr>
          <a:xfrm>
            <a:off x="862012" y="1576387"/>
            <a:ext cx="6181725" cy="4333875"/>
          </a:xfrm>
          <a:prstGeom prst="rect">
            <a:avLst/>
          </a:prstGeom>
        </p:spPr>
      </p:pic>
      <p:sp>
        <p:nvSpPr>
          <p:cNvPr id="10" name="Rectangle : coins arrondis 9">
            <a:extLst>
              <a:ext uri="{FF2B5EF4-FFF2-40B4-BE49-F238E27FC236}">
                <a16:creationId xmlns:a16="http://schemas.microsoft.com/office/drawing/2014/main" xmlns="" id="{53715DB1-87F3-43E0-BFAB-DD87BC2F8F68}"/>
              </a:ext>
            </a:extLst>
          </p:cNvPr>
          <p:cNvSpPr/>
          <p:nvPr/>
        </p:nvSpPr>
        <p:spPr>
          <a:xfrm>
            <a:off x="7515225" y="3000374"/>
            <a:ext cx="4324350" cy="168592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a:solidFill>
                  <a:schemeClr val="tx1"/>
                </a:solidFill>
              </a:rPr>
              <a:t>1. Rentrer les valeur du tableau dans une structure R la plus appropriée.</a:t>
            </a:r>
          </a:p>
          <a:p>
            <a:r>
              <a:rPr lang="fr-FR" dirty="0">
                <a:solidFill>
                  <a:schemeClr val="tx1"/>
                </a:solidFill>
              </a:rPr>
              <a:t>2. Retrouver le type de variable de chaque colonne du tableau suivant.</a:t>
            </a:r>
          </a:p>
          <a:p>
            <a:pPr algn="ctr"/>
            <a:endParaRPr lang="fr-FR" dirty="0"/>
          </a:p>
        </p:txBody>
      </p:sp>
      <p:sp>
        <p:nvSpPr>
          <p:cNvPr id="6" name="Rectangle : coins arrondis 3">
            <a:extLst>
              <a:ext uri="{FF2B5EF4-FFF2-40B4-BE49-F238E27FC236}">
                <a16:creationId xmlns:a16="http://schemas.microsoft.com/office/drawing/2014/main" xmlns="" id="{4DA6CE65-D62B-43AD-B2AF-9993213ACBC1}"/>
              </a:ext>
            </a:extLst>
          </p:cNvPr>
          <p:cNvSpPr/>
          <p:nvPr/>
        </p:nvSpPr>
        <p:spPr>
          <a:xfrm>
            <a:off x="-1023870" y="491744"/>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000" b="1" dirty="0" smtClean="0">
                <a:solidFill>
                  <a:srgbClr val="C00000"/>
                </a:solidFill>
              </a:rPr>
              <a:t>A vous maintenant</a:t>
            </a:r>
            <a:endParaRPr lang="fr-FR" sz="4000" dirty="0">
              <a:solidFill>
                <a:srgbClr val="C00000"/>
              </a:solidFill>
            </a:endParaRPr>
          </a:p>
        </p:txBody>
      </p:sp>
    </p:spTree>
    <p:extLst>
      <p:ext uri="{BB962C8B-B14F-4D97-AF65-F5344CB8AC3E}">
        <p14:creationId xmlns:p14="http://schemas.microsoft.com/office/powerpoint/2010/main" val="2137972636"/>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2 : Transformation | Expertise ETL FME, SIG &amp; B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1956" y="2174114"/>
            <a:ext cx="3657667" cy="30209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460375" y="2897108"/>
            <a:ext cx="7064306" cy="769441"/>
          </a:xfrm>
          <a:prstGeom prst="rect">
            <a:avLst/>
          </a:prstGeom>
        </p:spPr>
        <p:txBody>
          <a:bodyPr wrap="none">
            <a:spAutoFit/>
          </a:bodyPr>
          <a:lstStyle/>
          <a:p>
            <a:r>
              <a:rPr lang="fr-FR" sz="4400" b="1" dirty="0"/>
              <a:t>Transformations des données</a:t>
            </a:r>
          </a:p>
        </p:txBody>
      </p:sp>
    </p:spTree>
    <p:extLst>
      <p:ext uri="{BB962C8B-B14F-4D97-AF65-F5344CB8AC3E}">
        <p14:creationId xmlns:p14="http://schemas.microsoft.com/office/powerpoint/2010/main" val="2989960098"/>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xmlns="" id="{4DA6CE65-D62B-43AD-B2AF-9993213ACBC1}"/>
              </a:ext>
            </a:extLst>
          </p:cNvPr>
          <p:cNvSpPr/>
          <p:nvPr/>
        </p:nvSpPr>
        <p:spPr>
          <a:xfrm>
            <a:off x="-1778989" y="534165"/>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000" b="1" dirty="0" smtClean="0">
                <a:solidFill>
                  <a:srgbClr val="C00000"/>
                </a:solidFill>
              </a:rPr>
              <a:t>1. Codage </a:t>
            </a:r>
            <a:r>
              <a:rPr lang="fr-FR" sz="4000" b="1" dirty="0">
                <a:solidFill>
                  <a:srgbClr val="C00000"/>
                </a:solidFill>
              </a:rPr>
              <a:t>des </a:t>
            </a:r>
            <a:r>
              <a:rPr lang="fr-FR" sz="4000" b="1" dirty="0" smtClean="0">
                <a:solidFill>
                  <a:srgbClr val="C00000"/>
                </a:solidFill>
              </a:rPr>
              <a:t>variables </a:t>
            </a:r>
            <a:endParaRPr lang="fr-FR" sz="4000" dirty="0">
              <a:solidFill>
                <a:srgbClr val="C00000"/>
              </a:solidFill>
            </a:endParaRPr>
          </a:p>
        </p:txBody>
      </p:sp>
      <p:sp>
        <p:nvSpPr>
          <p:cNvPr id="5" name="Rectangle : coins arrondis 4">
            <a:extLst>
              <a:ext uri="{FF2B5EF4-FFF2-40B4-BE49-F238E27FC236}">
                <a16:creationId xmlns:a16="http://schemas.microsoft.com/office/drawing/2014/main" xmlns="" id="{3B3CB38E-5CE6-4F28-9F64-3917524B4E8C}"/>
              </a:ext>
            </a:extLst>
          </p:cNvPr>
          <p:cNvSpPr/>
          <p:nvPr/>
        </p:nvSpPr>
        <p:spPr>
          <a:xfrm>
            <a:off x="280987" y="1664460"/>
            <a:ext cx="11630025" cy="43434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tx1"/>
                </a:solidFill>
              </a:rPr>
              <a:t>Le codage des données consiste à classer en catégories numériques les diverses modalités d’une variable statistique.</a:t>
            </a:r>
          </a:p>
          <a:p>
            <a:r>
              <a:rPr lang="fr-FR" sz="3200" b="1" dirty="0">
                <a:solidFill>
                  <a:srgbClr val="C00000"/>
                </a:solidFill>
              </a:rPr>
              <a:t>Etapes:</a:t>
            </a:r>
          </a:p>
          <a:p>
            <a:r>
              <a:rPr lang="fr-FR" sz="3200" dirty="0">
                <a:solidFill>
                  <a:schemeClr val="tx1"/>
                </a:solidFill>
              </a:rPr>
              <a:t>- Etablir un code spécifique pour désigner chaque variable ou </a:t>
            </a:r>
            <a:r>
              <a:rPr lang="fr-FR" sz="3200" dirty="0" smtClean="0">
                <a:solidFill>
                  <a:schemeClr val="tx1"/>
                </a:solidFill>
              </a:rPr>
              <a:t>modalité</a:t>
            </a:r>
            <a:endParaRPr lang="fr-FR" sz="3200" dirty="0">
              <a:solidFill>
                <a:schemeClr val="tx1"/>
              </a:solidFill>
            </a:endParaRPr>
          </a:p>
          <a:p>
            <a:r>
              <a:rPr lang="fr-FR" sz="3200" dirty="0">
                <a:solidFill>
                  <a:schemeClr val="tx1"/>
                </a:solidFill>
              </a:rPr>
              <a:t>- Réfléchir aux types d'échelles auxquelles on a à faire</a:t>
            </a:r>
            <a:br>
              <a:rPr lang="fr-FR" sz="3200" dirty="0">
                <a:solidFill>
                  <a:schemeClr val="tx1"/>
                </a:solidFill>
              </a:rPr>
            </a:br>
            <a:r>
              <a:rPr lang="fr-FR" sz="3200" dirty="0">
                <a:solidFill>
                  <a:schemeClr val="tx1"/>
                </a:solidFill>
              </a:rPr>
              <a:t>- Créer le tableau de données ou matrice générale.</a:t>
            </a:r>
          </a:p>
          <a:p>
            <a:endParaRPr lang="fr-FR" sz="3200" dirty="0">
              <a:solidFill>
                <a:schemeClr val="tx1"/>
              </a:solidFill>
            </a:endParaRPr>
          </a:p>
        </p:txBody>
      </p:sp>
    </p:spTree>
    <p:extLst>
      <p:ext uri="{BB962C8B-B14F-4D97-AF65-F5344CB8AC3E}">
        <p14:creationId xmlns:p14="http://schemas.microsoft.com/office/powerpoint/2010/main" val="4047835293"/>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3">
            <a:extLst>
              <a:ext uri="{FF2B5EF4-FFF2-40B4-BE49-F238E27FC236}">
                <a16:creationId xmlns:a16="http://schemas.microsoft.com/office/drawing/2014/main" xmlns="" id="{4DA6CE65-D62B-43AD-B2AF-9993213ACBC1}"/>
              </a:ext>
            </a:extLst>
          </p:cNvPr>
          <p:cNvSpPr/>
          <p:nvPr/>
        </p:nvSpPr>
        <p:spPr>
          <a:xfrm>
            <a:off x="-817808" y="532725"/>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000" b="1" dirty="0">
                <a:solidFill>
                  <a:srgbClr val="C00000"/>
                </a:solidFill>
              </a:rPr>
              <a:t>Codage des </a:t>
            </a:r>
            <a:r>
              <a:rPr lang="fr-FR" sz="4000" b="1" dirty="0" smtClean="0">
                <a:solidFill>
                  <a:srgbClr val="C00000"/>
                </a:solidFill>
              </a:rPr>
              <a:t>variables qualitatives </a:t>
            </a:r>
            <a:endParaRPr lang="fr-FR" sz="4000" dirty="0">
              <a:solidFill>
                <a:srgbClr val="C00000"/>
              </a:solidFill>
            </a:endParaRPr>
          </a:p>
        </p:txBody>
      </p:sp>
      <p:sp>
        <p:nvSpPr>
          <p:cNvPr id="5" name="Rectangle : coins arrondis 4">
            <a:extLst>
              <a:ext uri="{FF2B5EF4-FFF2-40B4-BE49-F238E27FC236}">
                <a16:creationId xmlns:a16="http://schemas.microsoft.com/office/drawing/2014/main" xmlns="" id="{3B3CB38E-5CE6-4F28-9F64-3917524B4E8C}"/>
              </a:ext>
            </a:extLst>
          </p:cNvPr>
          <p:cNvSpPr/>
          <p:nvPr/>
        </p:nvSpPr>
        <p:spPr>
          <a:xfrm>
            <a:off x="280987" y="1664460"/>
            <a:ext cx="11630025" cy="43434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tx1"/>
                </a:solidFill>
              </a:rPr>
              <a:t>Certains traitements et analyses sur des </a:t>
            </a:r>
            <a:r>
              <a:rPr lang="fr-FR" sz="3200" dirty="0" smtClean="0">
                <a:solidFill>
                  <a:srgbClr val="C00000"/>
                </a:solidFill>
              </a:rPr>
              <a:t>variables </a:t>
            </a:r>
            <a:r>
              <a:rPr lang="fr-FR" sz="3200" dirty="0">
                <a:solidFill>
                  <a:srgbClr val="C00000"/>
                </a:solidFill>
              </a:rPr>
              <a:t>qualitatives </a:t>
            </a:r>
            <a:r>
              <a:rPr lang="fr-FR" sz="3200" dirty="0" err="1">
                <a:solidFill>
                  <a:schemeClr val="tx1"/>
                </a:solidFill>
              </a:rPr>
              <a:t>nécessitent</a:t>
            </a:r>
            <a:r>
              <a:rPr lang="fr-FR" sz="3200" dirty="0">
                <a:solidFill>
                  <a:schemeClr val="tx1"/>
                </a:solidFill>
              </a:rPr>
              <a:t> que ces </a:t>
            </a:r>
            <a:r>
              <a:rPr lang="fr-FR" sz="3200" dirty="0" err="1">
                <a:solidFill>
                  <a:schemeClr val="tx1"/>
                </a:solidFill>
              </a:rPr>
              <a:t>dernières</a:t>
            </a:r>
            <a:r>
              <a:rPr lang="fr-FR" sz="3200" dirty="0">
                <a:solidFill>
                  <a:schemeClr val="tx1"/>
                </a:solidFill>
              </a:rPr>
              <a:t> </a:t>
            </a:r>
            <a:r>
              <a:rPr lang="fr-FR" sz="3200" dirty="0" err="1">
                <a:solidFill>
                  <a:schemeClr val="tx1"/>
                </a:solidFill>
              </a:rPr>
              <a:t>présentent</a:t>
            </a:r>
            <a:r>
              <a:rPr lang="fr-FR" sz="3200" dirty="0">
                <a:solidFill>
                  <a:schemeClr val="tx1"/>
                </a:solidFill>
              </a:rPr>
              <a:t> une forme « </a:t>
            </a:r>
            <a:r>
              <a:rPr lang="fr-FR" sz="3200" b="1" dirty="0">
                <a:solidFill>
                  <a:srgbClr val="C00000"/>
                </a:solidFill>
              </a:rPr>
              <a:t>pseudo quantitative </a:t>
            </a:r>
            <a:r>
              <a:rPr lang="fr-FR" sz="3200" dirty="0">
                <a:solidFill>
                  <a:schemeClr val="tx1"/>
                </a:solidFill>
              </a:rPr>
              <a:t>» en lieu et place de leur forme « </a:t>
            </a:r>
            <a:r>
              <a:rPr lang="fr-FR" sz="3200" b="1" dirty="0">
                <a:solidFill>
                  <a:srgbClr val="C00000"/>
                </a:solidFill>
              </a:rPr>
              <a:t>nominale</a:t>
            </a:r>
            <a:r>
              <a:rPr lang="fr-FR" sz="3200" dirty="0">
                <a:solidFill>
                  <a:schemeClr val="tx1"/>
                </a:solidFill>
              </a:rPr>
              <a:t> ». </a:t>
            </a:r>
          </a:p>
          <a:p>
            <a:endParaRPr lang="fr-FR" sz="3200" dirty="0">
              <a:solidFill>
                <a:schemeClr val="tx1"/>
              </a:solidFill>
            </a:endParaRPr>
          </a:p>
          <a:p>
            <a:r>
              <a:rPr lang="fr-FR" sz="3200" dirty="0">
                <a:solidFill>
                  <a:schemeClr val="tx1"/>
                </a:solidFill>
              </a:rPr>
              <a:t>C'est notamment le cas lorsqu'il s'agit d'utiliser des variables qualitatives dans un traitement </a:t>
            </a:r>
            <a:r>
              <a:rPr lang="fr-FR" sz="3200" dirty="0" err="1">
                <a:solidFill>
                  <a:schemeClr val="tx1"/>
                </a:solidFill>
              </a:rPr>
              <a:t>multivarie</a:t>
            </a:r>
            <a:r>
              <a:rPr lang="fr-FR" sz="3200" dirty="0">
                <a:solidFill>
                  <a:schemeClr val="tx1"/>
                </a:solidFill>
              </a:rPr>
              <a:t>́ </a:t>
            </a:r>
            <a:r>
              <a:rPr lang="fr-FR" sz="3200" dirty="0" smtClean="0">
                <a:solidFill>
                  <a:schemeClr val="tx1"/>
                </a:solidFill>
              </a:rPr>
              <a:t>(faire </a:t>
            </a:r>
            <a:r>
              <a:rPr lang="fr-FR" sz="3200" dirty="0">
                <a:solidFill>
                  <a:schemeClr val="tx1"/>
                </a:solidFill>
              </a:rPr>
              <a:t>une régression linéaire etc…)ou simplement lorsque l'on </a:t>
            </a:r>
            <a:r>
              <a:rPr lang="fr-FR" sz="3200" dirty="0" err="1">
                <a:solidFill>
                  <a:schemeClr val="tx1"/>
                </a:solidFill>
              </a:rPr>
              <a:t>désire</a:t>
            </a:r>
            <a:r>
              <a:rPr lang="fr-FR" sz="3200" dirty="0">
                <a:solidFill>
                  <a:schemeClr val="tx1"/>
                </a:solidFill>
              </a:rPr>
              <a:t> les rendre manipulables et compatibles avec des logiciels statistiques.</a:t>
            </a:r>
          </a:p>
        </p:txBody>
      </p:sp>
    </p:spTree>
    <p:extLst>
      <p:ext uri="{BB962C8B-B14F-4D97-AF65-F5344CB8AC3E}">
        <p14:creationId xmlns:p14="http://schemas.microsoft.com/office/powerpoint/2010/main" val="2672952557"/>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xmlns="" id="{626596A4-D923-40A7-9C2C-44ED3D95987F}"/>
              </a:ext>
            </a:extLst>
          </p:cNvPr>
          <p:cNvSpPr/>
          <p:nvPr/>
        </p:nvSpPr>
        <p:spPr>
          <a:xfrm>
            <a:off x="1332963" y="444187"/>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4000" b="1" dirty="0">
                <a:solidFill>
                  <a:schemeClr val="tx1"/>
                </a:solidFill>
              </a:rPr>
              <a:t>Les types de codage:</a:t>
            </a:r>
            <a:endParaRPr lang="fr-FR" sz="4000" dirty="0">
              <a:solidFill>
                <a:schemeClr val="tx1"/>
              </a:solidFill>
            </a:endParaRPr>
          </a:p>
        </p:txBody>
      </p:sp>
      <p:sp>
        <p:nvSpPr>
          <p:cNvPr id="6" name="Rectangle : coins arrondis 5">
            <a:extLst>
              <a:ext uri="{FF2B5EF4-FFF2-40B4-BE49-F238E27FC236}">
                <a16:creationId xmlns:a16="http://schemas.microsoft.com/office/drawing/2014/main" xmlns="" id="{8D9F5A59-48C9-4097-8720-FDF5E0D70E62}"/>
              </a:ext>
            </a:extLst>
          </p:cNvPr>
          <p:cNvSpPr/>
          <p:nvPr/>
        </p:nvSpPr>
        <p:spPr>
          <a:xfrm>
            <a:off x="280987" y="1381125"/>
            <a:ext cx="11630025" cy="523875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solidFill>
                  <a:schemeClr val="tx1"/>
                </a:solidFill>
              </a:rPr>
              <a:t>Les échelles nominales</a:t>
            </a:r>
            <a:endParaRPr lang="fr-FR" sz="2400" dirty="0">
              <a:solidFill>
                <a:schemeClr val="tx1"/>
              </a:solidFill>
            </a:endParaRPr>
          </a:p>
          <a:p>
            <a:r>
              <a:rPr lang="fr-FR" sz="2400" dirty="0">
                <a:solidFill>
                  <a:schemeClr val="tx1"/>
                </a:solidFill>
              </a:rPr>
              <a:t>Elles correspondent à des valeurs qualitatives nominales (masculin/féminin). Les modalités de réponses sont une série de catégories, de classes non hiérarchisées.</a:t>
            </a:r>
          </a:p>
          <a:p>
            <a:r>
              <a:rPr lang="fr-FR" sz="2400" dirty="0">
                <a:solidFill>
                  <a:schemeClr val="tx1"/>
                </a:solidFill>
              </a:rPr>
              <a:t>La mesure utilisée est une valeur arbitraire qui correspondent au fait de posséder ou non la propriété</a:t>
            </a:r>
          </a:p>
          <a:p>
            <a:r>
              <a:rPr lang="fr-FR" sz="2400" dirty="0">
                <a:solidFill>
                  <a:schemeClr val="tx1"/>
                </a:solidFill>
              </a:rPr>
              <a:t> </a:t>
            </a:r>
          </a:p>
          <a:p>
            <a:r>
              <a:rPr lang="fr-FR" sz="2400" b="1" i="1" dirty="0">
                <a:solidFill>
                  <a:schemeClr val="tx1"/>
                </a:solidFill>
              </a:rPr>
              <a:t>Exemples</a:t>
            </a:r>
            <a:endParaRPr lang="fr-FR" sz="2400" b="1" dirty="0">
              <a:solidFill>
                <a:schemeClr val="tx1"/>
              </a:solidFill>
            </a:endParaRPr>
          </a:p>
          <a:p>
            <a:r>
              <a:rPr lang="fr-FR" sz="2400" dirty="0">
                <a:solidFill>
                  <a:schemeClr val="tx1"/>
                </a:solidFill>
              </a:rPr>
              <a:t>Sexe: Masculin Féminin</a:t>
            </a:r>
          </a:p>
          <a:p>
            <a:r>
              <a:rPr lang="fr-FR" sz="2400" dirty="0">
                <a:solidFill>
                  <a:schemeClr val="tx1"/>
                </a:solidFill>
              </a:rPr>
              <a:t>Codage: 1 pour masculin et 2 pour féminin</a:t>
            </a:r>
          </a:p>
          <a:p>
            <a:r>
              <a:rPr lang="fr-FR" sz="2400" dirty="0">
                <a:solidFill>
                  <a:schemeClr val="tx1"/>
                </a:solidFill>
              </a:rPr>
              <a:t>Etes vous pour l'euthanasie?</a:t>
            </a:r>
          </a:p>
          <a:p>
            <a:r>
              <a:rPr lang="fr-FR" sz="2400" dirty="0">
                <a:solidFill>
                  <a:schemeClr val="tx1"/>
                </a:solidFill>
              </a:rPr>
              <a:t>Codage: 1 pour « oui » et 0 pour « non ».</a:t>
            </a:r>
          </a:p>
          <a:p>
            <a:r>
              <a:rPr lang="fr-FR" sz="2400" dirty="0">
                <a:solidFill>
                  <a:schemeClr val="tx1"/>
                </a:solidFill>
              </a:rPr>
              <a:t> </a:t>
            </a:r>
          </a:p>
          <a:p>
            <a:endParaRPr lang="fr-FR" sz="3200" dirty="0">
              <a:solidFill>
                <a:schemeClr val="tx1"/>
              </a:solidFill>
            </a:endParaRPr>
          </a:p>
        </p:txBody>
      </p:sp>
    </p:spTree>
    <p:extLst>
      <p:ext uri="{BB962C8B-B14F-4D97-AF65-F5344CB8AC3E}">
        <p14:creationId xmlns:p14="http://schemas.microsoft.com/office/powerpoint/2010/main" val="3271771608"/>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xmlns="" id="{7D68BD19-3400-48A0-B72E-3E901CCFE1C1}"/>
              </a:ext>
            </a:extLst>
          </p:cNvPr>
          <p:cNvSpPr/>
          <p:nvPr/>
        </p:nvSpPr>
        <p:spPr>
          <a:xfrm>
            <a:off x="280987" y="1381125"/>
            <a:ext cx="11630025" cy="523875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solidFill>
                  <a:schemeClr val="tx1"/>
                </a:solidFill>
              </a:rPr>
              <a:t>Les échelles nominales</a:t>
            </a:r>
            <a:endParaRPr lang="fr-FR" sz="2400" dirty="0">
              <a:solidFill>
                <a:schemeClr val="tx1"/>
              </a:solidFill>
            </a:endParaRPr>
          </a:p>
          <a:p>
            <a:r>
              <a:rPr lang="fr-FR" sz="2400" dirty="0">
                <a:solidFill>
                  <a:schemeClr val="tx1"/>
                </a:solidFill>
              </a:rPr>
              <a:t>Elles correspondent à des valeurs qualitatives nominales (masculin/féminin). Les modalités de réponses sont une série de catégories, de classes non hiérarchisées.</a:t>
            </a:r>
          </a:p>
          <a:p>
            <a:r>
              <a:rPr lang="fr-FR" sz="2400" dirty="0">
                <a:solidFill>
                  <a:schemeClr val="tx1"/>
                </a:solidFill>
              </a:rPr>
              <a:t>La mesure utilisée est une valeur arbitraire qui correspondent au fait de posséder ou non la propriété</a:t>
            </a:r>
          </a:p>
          <a:p>
            <a:r>
              <a:rPr lang="fr-FR" sz="2400" dirty="0">
                <a:solidFill>
                  <a:schemeClr val="tx1"/>
                </a:solidFill>
              </a:rPr>
              <a:t> </a:t>
            </a:r>
          </a:p>
          <a:p>
            <a:r>
              <a:rPr lang="fr-FR" sz="2400" b="1" i="1" dirty="0">
                <a:solidFill>
                  <a:schemeClr val="tx1"/>
                </a:solidFill>
              </a:rPr>
              <a:t>Exemples</a:t>
            </a:r>
            <a:endParaRPr lang="fr-FR" sz="2400" b="1" dirty="0">
              <a:solidFill>
                <a:schemeClr val="tx1"/>
              </a:solidFill>
            </a:endParaRPr>
          </a:p>
          <a:p>
            <a:r>
              <a:rPr lang="fr-FR" sz="2400" dirty="0">
                <a:solidFill>
                  <a:schemeClr val="tx1"/>
                </a:solidFill>
              </a:rPr>
              <a:t>Sexe: Masculin Féminin</a:t>
            </a:r>
          </a:p>
          <a:p>
            <a:r>
              <a:rPr lang="fr-FR" sz="2400" dirty="0">
                <a:solidFill>
                  <a:schemeClr val="tx1"/>
                </a:solidFill>
              </a:rPr>
              <a:t>Codage: 1 pour masculin et 2 pour féminin</a:t>
            </a:r>
          </a:p>
          <a:p>
            <a:r>
              <a:rPr lang="fr-FR" sz="2400" dirty="0">
                <a:solidFill>
                  <a:schemeClr val="tx1"/>
                </a:solidFill>
              </a:rPr>
              <a:t>Etes vous pour l'euthanasie?</a:t>
            </a:r>
          </a:p>
          <a:p>
            <a:r>
              <a:rPr lang="fr-FR" sz="2400" dirty="0">
                <a:solidFill>
                  <a:schemeClr val="tx1"/>
                </a:solidFill>
              </a:rPr>
              <a:t>Codage: 1 pour « oui » et 0 pour « non ».</a:t>
            </a:r>
          </a:p>
          <a:p>
            <a:r>
              <a:rPr lang="fr-FR" sz="2400" dirty="0">
                <a:solidFill>
                  <a:schemeClr val="tx1"/>
                </a:solidFill>
              </a:rPr>
              <a:t> </a:t>
            </a:r>
          </a:p>
          <a:p>
            <a:endParaRPr lang="fr-FR" sz="3200" dirty="0">
              <a:solidFill>
                <a:schemeClr val="tx1"/>
              </a:solidFill>
            </a:endParaRPr>
          </a:p>
        </p:txBody>
      </p:sp>
      <p:sp>
        <p:nvSpPr>
          <p:cNvPr id="5" name="Rectangle : coins arrondis 4">
            <a:extLst>
              <a:ext uri="{FF2B5EF4-FFF2-40B4-BE49-F238E27FC236}">
                <a16:creationId xmlns:a16="http://schemas.microsoft.com/office/drawing/2014/main" xmlns="" id="{2C277AE4-DB98-4BA6-9240-C59241028A16}"/>
              </a:ext>
            </a:extLst>
          </p:cNvPr>
          <p:cNvSpPr/>
          <p:nvPr/>
        </p:nvSpPr>
        <p:spPr>
          <a:xfrm>
            <a:off x="1332963" y="482824"/>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4000" b="1" dirty="0">
                <a:solidFill>
                  <a:schemeClr val="tx1"/>
                </a:solidFill>
              </a:rPr>
              <a:t>Les types de codage:</a:t>
            </a:r>
            <a:endParaRPr lang="fr-FR" sz="4000" dirty="0">
              <a:solidFill>
                <a:schemeClr val="tx1"/>
              </a:solidFill>
            </a:endParaRPr>
          </a:p>
        </p:txBody>
      </p:sp>
      <p:sp>
        <p:nvSpPr>
          <p:cNvPr id="6" name="Rectangle : coins arrondis 5">
            <a:extLst>
              <a:ext uri="{FF2B5EF4-FFF2-40B4-BE49-F238E27FC236}">
                <a16:creationId xmlns:a16="http://schemas.microsoft.com/office/drawing/2014/main" xmlns="" id="{735356B3-C829-47F4-8678-0A38730503DE}"/>
              </a:ext>
            </a:extLst>
          </p:cNvPr>
          <p:cNvSpPr/>
          <p:nvPr/>
        </p:nvSpPr>
        <p:spPr>
          <a:xfrm>
            <a:off x="247649" y="1381125"/>
            <a:ext cx="11630025" cy="523875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2400" b="1" dirty="0">
              <a:solidFill>
                <a:schemeClr val="tx1"/>
              </a:solidFill>
            </a:endParaRPr>
          </a:p>
          <a:p>
            <a:r>
              <a:rPr lang="fr-FR" sz="2400" b="1" dirty="0">
                <a:solidFill>
                  <a:schemeClr val="tx1"/>
                </a:solidFill>
              </a:rPr>
              <a:t>Les échelles ordinales</a:t>
            </a:r>
          </a:p>
          <a:p>
            <a:r>
              <a:rPr lang="fr-FR" sz="2400" dirty="0">
                <a:solidFill>
                  <a:schemeClr val="tx1"/>
                </a:solidFill>
              </a:rPr>
              <a:t>Les modalités de réponses sont des catégories ordonnées logiquement</a:t>
            </a:r>
          </a:p>
          <a:p>
            <a:r>
              <a:rPr lang="fr-FR" sz="2400" dirty="0">
                <a:solidFill>
                  <a:schemeClr val="tx1"/>
                </a:solidFill>
              </a:rPr>
              <a:t>Ces catégories sont représentées par des valeurs numériques ou des lettres, non arbitraires et ordonnées.</a:t>
            </a:r>
          </a:p>
          <a:p>
            <a:endParaRPr lang="fr-FR" sz="2400" dirty="0">
              <a:solidFill>
                <a:schemeClr val="tx1"/>
              </a:solidFill>
            </a:endParaRPr>
          </a:p>
          <a:p>
            <a:r>
              <a:rPr lang="fr-FR" sz="2400" b="1" dirty="0">
                <a:solidFill>
                  <a:schemeClr val="tx1"/>
                </a:solidFill>
              </a:rPr>
              <a:t>Exemple: </a:t>
            </a:r>
          </a:p>
          <a:p>
            <a:r>
              <a:rPr lang="fr-FR" sz="2400" dirty="0">
                <a:solidFill>
                  <a:schemeClr val="tx1"/>
                </a:solidFill>
              </a:rPr>
              <a:t>Comment envisagez vous votre avenir professionnel?</a:t>
            </a:r>
          </a:p>
          <a:p>
            <a:r>
              <a:rPr lang="fr-FR" sz="2400" dirty="0">
                <a:solidFill>
                  <a:schemeClr val="tx1"/>
                </a:solidFill>
              </a:rPr>
              <a:t> </a:t>
            </a:r>
          </a:p>
          <a:p>
            <a:r>
              <a:rPr lang="fr-FR" sz="2400" dirty="0">
                <a:solidFill>
                  <a:schemeClr val="tx1"/>
                </a:solidFill>
              </a:rPr>
              <a:t>Très précis  </a:t>
            </a:r>
            <a:r>
              <a:rPr lang="fr-FR" sz="2400" dirty="0" err="1">
                <a:solidFill>
                  <a:schemeClr val="tx1"/>
                </a:solidFill>
              </a:rPr>
              <a:t>Précis</a:t>
            </a:r>
            <a:r>
              <a:rPr lang="fr-FR" sz="2400" dirty="0">
                <a:solidFill>
                  <a:schemeClr val="tx1"/>
                </a:solidFill>
              </a:rPr>
              <a:t>  Assez précis Peu précis Imprécis</a:t>
            </a:r>
          </a:p>
          <a:p>
            <a:r>
              <a:rPr lang="fr-FR" sz="2400" dirty="0">
                <a:solidFill>
                  <a:schemeClr val="tx1"/>
                </a:solidFill>
              </a:rPr>
              <a:t>    1                2                3                 4               5</a:t>
            </a:r>
          </a:p>
          <a:p>
            <a:r>
              <a:rPr lang="fr-FR" sz="2400" dirty="0">
                <a:solidFill>
                  <a:schemeClr val="tx1"/>
                </a:solidFill>
              </a:rPr>
              <a:t> </a:t>
            </a:r>
          </a:p>
          <a:p>
            <a:r>
              <a:rPr lang="fr-FR" sz="2400" dirty="0">
                <a:solidFill>
                  <a:schemeClr val="tx1"/>
                </a:solidFill>
              </a:rPr>
              <a:t>Les échelles d'opinion, d'attitudes (Likert) sont les plus connues des échelles ordinales.</a:t>
            </a:r>
          </a:p>
          <a:p>
            <a:r>
              <a:rPr lang="fr-FR" sz="2400" dirty="0">
                <a:solidFill>
                  <a:schemeClr val="tx1"/>
                </a:solidFill>
              </a:rPr>
              <a:t> </a:t>
            </a:r>
          </a:p>
          <a:p>
            <a:endParaRPr lang="fr-FR" sz="3200" dirty="0">
              <a:solidFill>
                <a:schemeClr val="tx1"/>
              </a:solidFill>
            </a:endParaRPr>
          </a:p>
        </p:txBody>
      </p:sp>
      <p:sp>
        <p:nvSpPr>
          <p:cNvPr id="7" name="Rectangle : coins arrondis 6">
            <a:extLst>
              <a:ext uri="{FF2B5EF4-FFF2-40B4-BE49-F238E27FC236}">
                <a16:creationId xmlns:a16="http://schemas.microsoft.com/office/drawing/2014/main" xmlns="" id="{94DC2916-945E-4050-A075-79D6BCBC3B18}"/>
              </a:ext>
            </a:extLst>
          </p:cNvPr>
          <p:cNvSpPr/>
          <p:nvPr/>
        </p:nvSpPr>
        <p:spPr>
          <a:xfrm>
            <a:off x="423862" y="238125"/>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endParaRPr lang="fr-FR" sz="4000" b="1" dirty="0">
              <a:solidFill>
                <a:schemeClr val="tx1"/>
              </a:solidFill>
            </a:endParaRPr>
          </a:p>
        </p:txBody>
      </p:sp>
    </p:spTree>
    <p:extLst>
      <p:ext uri="{BB962C8B-B14F-4D97-AF65-F5344CB8AC3E}">
        <p14:creationId xmlns:p14="http://schemas.microsoft.com/office/powerpoint/2010/main" val="1548275639"/>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xmlns="" id="{75BAD71B-974C-4232-B431-E2AAA662BEE8}"/>
              </a:ext>
            </a:extLst>
          </p:cNvPr>
          <p:cNvSpPr/>
          <p:nvPr/>
        </p:nvSpPr>
        <p:spPr>
          <a:xfrm>
            <a:off x="352425" y="1409699"/>
            <a:ext cx="11558588" cy="521017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b="1" dirty="0">
                <a:solidFill>
                  <a:schemeClr val="tx1"/>
                </a:solidFill>
              </a:rPr>
              <a:t>Les échelles d'intervalles</a:t>
            </a:r>
            <a:endParaRPr lang="fr-FR" sz="2800" dirty="0">
              <a:solidFill>
                <a:schemeClr val="tx1"/>
              </a:solidFill>
            </a:endParaRPr>
          </a:p>
          <a:p>
            <a:r>
              <a:rPr lang="fr-FR" sz="2800" dirty="0">
                <a:solidFill>
                  <a:schemeClr val="tx1"/>
                </a:solidFill>
              </a:rPr>
              <a:t>Les modalités de réponses sont des catégories, des classes ordonnées logiquement et qui présentent en plus des distances, des intervalles clairement définis entre les catégories.</a:t>
            </a:r>
          </a:p>
          <a:p>
            <a:r>
              <a:rPr lang="fr-FR" sz="2800" dirty="0">
                <a:solidFill>
                  <a:schemeClr val="tx1"/>
                </a:solidFill>
              </a:rPr>
              <a:t>Il s'agit de variables quantitatives (ou numériques).</a:t>
            </a:r>
          </a:p>
          <a:p>
            <a:r>
              <a:rPr lang="fr-FR" sz="2800" dirty="0">
                <a:solidFill>
                  <a:schemeClr val="tx1"/>
                </a:solidFill>
              </a:rPr>
              <a:t> </a:t>
            </a:r>
          </a:p>
          <a:p>
            <a:endParaRPr lang="fr-FR" sz="2800" dirty="0">
              <a:solidFill>
                <a:schemeClr val="tx1"/>
              </a:solidFill>
            </a:endParaRPr>
          </a:p>
        </p:txBody>
      </p:sp>
      <p:sp>
        <p:nvSpPr>
          <p:cNvPr id="5" name="Rectangle : coins arrondis 3">
            <a:extLst>
              <a:ext uri="{FF2B5EF4-FFF2-40B4-BE49-F238E27FC236}">
                <a16:creationId xmlns:a16="http://schemas.microsoft.com/office/drawing/2014/main" xmlns="" id="{4DA6CE65-D62B-43AD-B2AF-9993213ACBC1}"/>
              </a:ext>
            </a:extLst>
          </p:cNvPr>
          <p:cNvSpPr/>
          <p:nvPr/>
        </p:nvSpPr>
        <p:spPr>
          <a:xfrm>
            <a:off x="-689020" y="490335"/>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000" b="1" dirty="0">
                <a:solidFill>
                  <a:srgbClr val="C00000"/>
                </a:solidFill>
              </a:rPr>
              <a:t>Codage des </a:t>
            </a:r>
            <a:r>
              <a:rPr lang="fr-FR" sz="4000" b="1" dirty="0" smtClean="0">
                <a:solidFill>
                  <a:srgbClr val="C00000"/>
                </a:solidFill>
              </a:rPr>
              <a:t>variables quantitatives </a:t>
            </a:r>
            <a:endParaRPr lang="fr-FR" sz="4000" dirty="0">
              <a:solidFill>
                <a:srgbClr val="C00000"/>
              </a:solidFill>
            </a:endParaRPr>
          </a:p>
        </p:txBody>
      </p:sp>
    </p:spTree>
    <p:extLst>
      <p:ext uri="{BB962C8B-B14F-4D97-AF65-F5344CB8AC3E}">
        <p14:creationId xmlns:p14="http://schemas.microsoft.com/office/powerpoint/2010/main" val="2086758541"/>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3">
            <a:extLst>
              <a:ext uri="{FF2B5EF4-FFF2-40B4-BE49-F238E27FC236}">
                <a16:creationId xmlns:a16="http://schemas.microsoft.com/office/drawing/2014/main" xmlns="" id="{4DA6CE65-D62B-43AD-B2AF-9993213ACBC1}"/>
              </a:ext>
            </a:extLst>
          </p:cNvPr>
          <p:cNvSpPr/>
          <p:nvPr/>
        </p:nvSpPr>
        <p:spPr>
          <a:xfrm>
            <a:off x="-1253796" y="526482"/>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000" b="1" dirty="0" smtClean="0">
                <a:solidFill>
                  <a:srgbClr val="C00000"/>
                </a:solidFill>
              </a:rPr>
              <a:t>2.Normalisation des données</a:t>
            </a:r>
            <a:endParaRPr lang="fr-FR" sz="4000" dirty="0">
              <a:solidFill>
                <a:srgbClr val="C00000"/>
              </a:solidFill>
            </a:endParaRPr>
          </a:p>
        </p:txBody>
      </p:sp>
      <p:sp>
        <p:nvSpPr>
          <p:cNvPr id="3" name="Espace réservé du contenu 1"/>
          <p:cNvSpPr txBox="1">
            <a:spLocks/>
          </p:cNvSpPr>
          <p:nvPr/>
        </p:nvSpPr>
        <p:spPr>
          <a:xfrm>
            <a:off x="457199" y="1481328"/>
            <a:ext cx="10327341" cy="45259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fr-FR" dirty="0">
                <a:cs typeface="Times New Roman" pitchFamily="18" charset="0"/>
              </a:rPr>
              <a:t>Il</a:t>
            </a:r>
            <a:r>
              <a:rPr lang="fr-FR" sz="3600" dirty="0" smtClean="0">
                <a:latin typeface="Times New Roman"/>
                <a:cs typeface="Times New Roman"/>
              </a:rPr>
              <a:t> </a:t>
            </a:r>
            <a:r>
              <a:rPr lang="fr-FR" dirty="0">
                <a:cs typeface="Times New Roman" pitchFamily="18" charset="0"/>
              </a:rPr>
              <a:t>existe plusieurs transformations utilisées. Par exemple l'analyse centrée qui consiste à modifier les données d’un tableau </a:t>
            </a:r>
            <a:r>
              <a:rPr lang="fr-FR" b="1" dirty="0">
                <a:solidFill>
                  <a:srgbClr val="0070C0"/>
                </a:solidFill>
                <a:cs typeface="Times New Roman" pitchFamily="18" charset="0"/>
              </a:rPr>
              <a:t>X</a:t>
            </a:r>
            <a:r>
              <a:rPr lang="fr-FR" dirty="0">
                <a:cs typeface="Times New Roman" pitchFamily="18" charset="0"/>
              </a:rPr>
              <a:t> en remplaçant les valeurs des  </a:t>
            </a:r>
            <a:r>
              <a:rPr lang="fr-FR" b="1" dirty="0" err="1">
                <a:solidFill>
                  <a:srgbClr val="C00000"/>
                </a:solidFill>
                <a:cs typeface="Times New Roman" pitchFamily="18" charset="0"/>
              </a:rPr>
              <a:t>x</a:t>
            </a:r>
            <a:r>
              <a:rPr lang="fr-FR" sz="1400" b="1" dirty="0" err="1">
                <a:solidFill>
                  <a:srgbClr val="C00000"/>
                </a:solidFill>
                <a:cs typeface="Times New Roman" pitchFamily="18" charset="0"/>
              </a:rPr>
              <a:t>ik</a:t>
            </a:r>
            <a:r>
              <a:rPr lang="fr-FR" dirty="0">
                <a:cs typeface="Times New Roman" pitchFamily="18" charset="0"/>
              </a:rPr>
              <a:t> par des valeurs dans l’intervalle 0 et 1 pour ne pas privilégier les attributs ayant les plus grands domaines de variation (par exemple salaire/</a:t>
            </a:r>
            <a:r>
              <a:rPr lang="fr-FR" dirty="0" err="1">
                <a:cs typeface="Times New Roman" pitchFamily="18" charset="0"/>
              </a:rPr>
              <a:t>age</a:t>
            </a:r>
            <a:r>
              <a:rPr lang="fr-FR" dirty="0">
                <a:cs typeface="Times New Roman" pitchFamily="18" charset="0"/>
              </a:rPr>
              <a:t>)</a:t>
            </a:r>
          </a:p>
          <a:p>
            <a:endParaRPr lang="fr-FR" dirty="0">
              <a:cs typeface="Times New Roman" pitchFamily="18" charset="0"/>
            </a:endParaRPr>
          </a:p>
        </p:txBody>
      </p:sp>
      <p:sp>
        <p:nvSpPr>
          <p:cNvPr id="4" name="Rectangle 3"/>
          <p:cNvSpPr/>
          <p:nvPr/>
        </p:nvSpPr>
        <p:spPr>
          <a:xfrm>
            <a:off x="457199" y="3950331"/>
            <a:ext cx="10327341" cy="2246769"/>
          </a:xfrm>
          <a:prstGeom prst="rect">
            <a:avLst/>
          </a:prstGeom>
        </p:spPr>
        <p:txBody>
          <a:bodyPr wrap="square">
            <a:spAutoFit/>
          </a:bodyPr>
          <a:lstStyle/>
          <a:p>
            <a:pPr marL="457200" indent="-457200">
              <a:buFont typeface="Arial" panose="020B0604020202020204" pitchFamily="34" charset="0"/>
              <a:buChar char="•"/>
            </a:pPr>
            <a:r>
              <a:rPr lang="fr-FR" sz="2800" dirty="0">
                <a:cs typeface="Times New Roman" pitchFamily="18" charset="0"/>
              </a:rPr>
              <a:t>L'analyse </a:t>
            </a:r>
            <a:r>
              <a:rPr lang="fr-FR" sz="2800" b="1" u="sng" dirty="0">
                <a:cs typeface="Times New Roman" pitchFamily="18" charset="0"/>
              </a:rPr>
              <a:t>centrée réduite </a:t>
            </a:r>
            <a:r>
              <a:rPr lang="fr-FR" sz="2800" dirty="0">
                <a:cs typeface="Times New Roman" pitchFamily="18" charset="0"/>
              </a:rPr>
              <a:t>ou encore </a:t>
            </a:r>
            <a:r>
              <a:rPr lang="fr-FR" sz="2800" b="1" u="sng" dirty="0">
                <a:cs typeface="Times New Roman" pitchFamily="18" charset="0"/>
              </a:rPr>
              <a:t>normée</a:t>
            </a:r>
            <a:r>
              <a:rPr lang="fr-FR" sz="2800" dirty="0">
                <a:cs typeface="Times New Roman" pitchFamily="18" charset="0"/>
              </a:rPr>
              <a:t> est liée à la transformation des données du tableau </a:t>
            </a:r>
            <a:r>
              <a:rPr lang="fr-FR" sz="2800" b="1" dirty="0">
                <a:solidFill>
                  <a:srgbClr val="0070C0"/>
                </a:solidFill>
                <a:cs typeface="Times New Roman" pitchFamily="18" charset="0"/>
              </a:rPr>
              <a:t>X</a:t>
            </a:r>
            <a:r>
              <a:rPr lang="fr-FR" sz="2800" dirty="0">
                <a:cs typeface="Times New Roman" pitchFamily="18" charset="0"/>
              </a:rPr>
              <a:t> en remplaçant les valeurs des </a:t>
            </a:r>
            <a:r>
              <a:rPr lang="fr-FR" sz="2800" b="1" dirty="0" err="1">
                <a:solidFill>
                  <a:srgbClr val="C00000"/>
                </a:solidFill>
                <a:cs typeface="Times New Roman" pitchFamily="18" charset="0"/>
              </a:rPr>
              <a:t>x</a:t>
            </a:r>
            <a:r>
              <a:rPr lang="fr-FR" b="1" dirty="0" err="1">
                <a:solidFill>
                  <a:srgbClr val="C00000"/>
                </a:solidFill>
                <a:cs typeface="Times New Roman" pitchFamily="18" charset="0"/>
              </a:rPr>
              <a:t>ik</a:t>
            </a:r>
            <a:r>
              <a:rPr lang="fr-FR" sz="2800" dirty="0" smtClean="0">
                <a:cs typeface="Times New Roman" pitchFamily="18" charset="0"/>
              </a:rPr>
              <a:t> </a:t>
            </a:r>
            <a:r>
              <a:rPr lang="fr-FR" sz="2800" dirty="0">
                <a:cs typeface="Times New Roman" pitchFamily="18" charset="0"/>
              </a:rPr>
              <a:t>par </a:t>
            </a:r>
            <a:r>
              <a:rPr lang="fr-FR" sz="2800" b="1" dirty="0">
                <a:solidFill>
                  <a:srgbClr val="C00000"/>
                </a:solidFill>
                <a:cs typeface="Times New Roman" pitchFamily="18" charset="0"/>
              </a:rPr>
              <a:t>((</a:t>
            </a:r>
            <a:r>
              <a:rPr lang="fr-FR" sz="2800" b="1" dirty="0" err="1">
                <a:solidFill>
                  <a:srgbClr val="C00000"/>
                </a:solidFill>
                <a:cs typeface="Times New Roman" pitchFamily="18" charset="0"/>
              </a:rPr>
              <a:t>x</a:t>
            </a:r>
            <a:r>
              <a:rPr lang="fr-FR" b="1" dirty="0" err="1">
                <a:solidFill>
                  <a:srgbClr val="C00000"/>
                </a:solidFill>
                <a:cs typeface="Times New Roman" pitchFamily="18" charset="0"/>
              </a:rPr>
              <a:t>ik</a:t>
            </a:r>
            <a:r>
              <a:rPr lang="fr-FR" sz="2800" b="1" dirty="0">
                <a:solidFill>
                  <a:srgbClr val="C00000"/>
                </a:solidFill>
                <a:cs typeface="Times New Roman" pitchFamily="18" charset="0"/>
              </a:rPr>
              <a:t> – moyenne)/écart type). </a:t>
            </a:r>
          </a:p>
          <a:p>
            <a:endParaRPr lang="fr-FR" sz="2800" b="1" dirty="0">
              <a:solidFill>
                <a:srgbClr val="C00000"/>
              </a:solidFill>
              <a:cs typeface="Times New Roman" pitchFamily="18" charset="0"/>
            </a:endParaRPr>
          </a:p>
          <a:p>
            <a:pPr marL="566928" indent="-457200">
              <a:buFont typeface="Arial" panose="020B0604020202020204" pitchFamily="34" charset="0"/>
              <a:buChar char="•"/>
            </a:pPr>
            <a:r>
              <a:rPr lang="fr-FR" sz="2800" dirty="0">
                <a:cs typeface="Times New Roman" pitchFamily="18" charset="0"/>
              </a:rPr>
              <a:t>Réduire les données permet d'uniformiser les unités de mesures. </a:t>
            </a:r>
          </a:p>
        </p:txBody>
      </p:sp>
      <p:sp>
        <p:nvSpPr>
          <p:cNvPr id="5" name="Rectangle : coins arrondis 3">
            <a:extLst>
              <a:ext uri="{FF2B5EF4-FFF2-40B4-BE49-F238E27FC236}">
                <a16:creationId xmlns:a16="http://schemas.microsoft.com/office/drawing/2014/main" xmlns="" id="{75BAD71B-974C-4232-B431-E2AAA662BEE8}"/>
              </a:ext>
            </a:extLst>
          </p:cNvPr>
          <p:cNvSpPr/>
          <p:nvPr/>
        </p:nvSpPr>
        <p:spPr>
          <a:xfrm>
            <a:off x="352425" y="1409699"/>
            <a:ext cx="11558588" cy="521017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2800" dirty="0">
              <a:solidFill>
                <a:schemeClr val="tx1"/>
              </a:solidFill>
            </a:endParaRPr>
          </a:p>
        </p:txBody>
      </p:sp>
    </p:spTree>
    <p:extLst>
      <p:ext uri="{BB962C8B-B14F-4D97-AF65-F5344CB8AC3E}">
        <p14:creationId xmlns:p14="http://schemas.microsoft.com/office/powerpoint/2010/main" val="2693801856"/>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txBox="1">
            <a:spLocks/>
          </p:cNvSpPr>
          <p:nvPr/>
        </p:nvSpPr>
        <p:spPr>
          <a:xfrm>
            <a:off x="352425" y="1751804"/>
            <a:ext cx="11470482" cy="452596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9728" indent="0">
              <a:buFont typeface="Arial" panose="020B0604020202020204" pitchFamily="34" charset="0"/>
              <a:buNone/>
            </a:pPr>
            <a:r>
              <a:rPr lang="fr-FR" b="1" dirty="0" err="1">
                <a:solidFill>
                  <a:srgbClr val="C00000"/>
                </a:solidFill>
                <a:cs typeface="Times New Roman" pitchFamily="18" charset="0"/>
              </a:rPr>
              <a:t>scale</a:t>
            </a:r>
            <a:r>
              <a:rPr lang="fr-FR" b="1" dirty="0">
                <a:solidFill>
                  <a:srgbClr val="C00000"/>
                </a:solidFill>
                <a:cs typeface="Times New Roman" pitchFamily="18" charset="0"/>
              </a:rPr>
              <a:t>()</a:t>
            </a:r>
            <a:r>
              <a:rPr lang="fr-FR" dirty="0">
                <a:cs typeface="Times New Roman" pitchFamily="18" charset="0"/>
              </a:rPr>
              <a:t>: permet de normaliser par colonne les valeurs numériques dans une matrice ou un data frame.</a:t>
            </a:r>
          </a:p>
          <a:p>
            <a:pPr marL="109728" indent="0">
              <a:buFont typeface="Arial" panose="020B0604020202020204" pitchFamily="34" charset="0"/>
              <a:buNone/>
            </a:pPr>
            <a:endParaRPr lang="fr-FR" dirty="0">
              <a:cs typeface="Times New Roman" pitchFamily="18" charset="0"/>
            </a:endParaRPr>
          </a:p>
          <a:p>
            <a:pPr marL="109728" indent="0">
              <a:buFont typeface="Arial" panose="020B0604020202020204" pitchFamily="34" charset="0"/>
              <a:buNone/>
            </a:pPr>
            <a:r>
              <a:rPr lang="fr-FR" b="1" u="sng" dirty="0">
                <a:cs typeface="Times New Roman" pitchFamily="18" charset="0"/>
              </a:rPr>
              <a:t>Exemple:</a:t>
            </a:r>
            <a:r>
              <a:rPr lang="fr-FR" dirty="0">
                <a:cs typeface="Times New Roman" pitchFamily="18" charset="0"/>
              </a:rPr>
              <a:t>  Standardisons les valeurs du jeu de donnes Data avec la fonction </a:t>
            </a:r>
            <a:r>
              <a:rPr lang="fr-FR" b="1" dirty="0" err="1">
                <a:solidFill>
                  <a:srgbClr val="C00000"/>
                </a:solidFill>
                <a:cs typeface="Times New Roman" pitchFamily="18" charset="0"/>
              </a:rPr>
              <a:t>scale</a:t>
            </a:r>
            <a:r>
              <a:rPr lang="fr-FR" b="1" dirty="0">
                <a:solidFill>
                  <a:srgbClr val="C00000"/>
                </a:solidFill>
                <a:cs typeface="Times New Roman" pitchFamily="18" charset="0"/>
              </a:rPr>
              <a:t>().</a:t>
            </a:r>
          </a:p>
          <a:p>
            <a:pPr marL="109728" indent="0">
              <a:buFont typeface="Arial" panose="020B0604020202020204" pitchFamily="34" charset="0"/>
              <a:buNone/>
            </a:pPr>
            <a:r>
              <a:rPr lang="fr-FR" dirty="0">
                <a:solidFill>
                  <a:srgbClr val="0070C0"/>
                </a:solidFill>
                <a:cs typeface="Times New Roman" pitchFamily="18" charset="0"/>
              </a:rPr>
              <a:t>Data&lt;-matrix(c(1,0,3,0,5,0,3,2,5,3,7,2,4,9,0),3,5)</a:t>
            </a:r>
          </a:p>
          <a:p>
            <a:pPr marL="109728" indent="0">
              <a:buFont typeface="Arial" panose="020B0604020202020204" pitchFamily="34" charset="0"/>
              <a:buNone/>
            </a:pPr>
            <a:r>
              <a:rPr lang="fr-FR" dirty="0" err="1">
                <a:solidFill>
                  <a:srgbClr val="0070C0"/>
                </a:solidFill>
                <a:cs typeface="Times New Roman" pitchFamily="18" charset="0"/>
              </a:rPr>
              <a:t>Data_standard</a:t>
            </a:r>
            <a:r>
              <a:rPr lang="fr-FR" dirty="0">
                <a:solidFill>
                  <a:srgbClr val="0070C0"/>
                </a:solidFill>
                <a:cs typeface="Times New Roman" pitchFamily="18" charset="0"/>
              </a:rPr>
              <a:t> &lt;- </a:t>
            </a:r>
            <a:r>
              <a:rPr lang="fr-FR" dirty="0" err="1">
                <a:solidFill>
                  <a:srgbClr val="0070C0"/>
                </a:solidFill>
                <a:cs typeface="Times New Roman" pitchFamily="18" charset="0"/>
              </a:rPr>
              <a:t>scale</a:t>
            </a:r>
            <a:r>
              <a:rPr lang="fr-FR" dirty="0">
                <a:solidFill>
                  <a:srgbClr val="0070C0"/>
                </a:solidFill>
                <a:cs typeface="Times New Roman" pitchFamily="18" charset="0"/>
              </a:rPr>
              <a:t>(Data)</a:t>
            </a:r>
          </a:p>
          <a:p>
            <a:pPr marL="109728" indent="0">
              <a:buFont typeface="Arial" panose="020B0604020202020204" pitchFamily="34" charset="0"/>
              <a:buNone/>
            </a:pPr>
            <a:endParaRPr lang="fr-FR" dirty="0">
              <a:cs typeface="Times New Roman" pitchFamily="18" charset="0"/>
            </a:endParaRPr>
          </a:p>
          <a:p>
            <a:pPr marL="109728" indent="0">
              <a:buFont typeface="Arial" panose="020B0604020202020204" pitchFamily="34" charset="0"/>
              <a:buNone/>
            </a:pPr>
            <a:r>
              <a:rPr lang="fr-FR" dirty="0">
                <a:cs typeface="Times New Roman" pitchFamily="18" charset="0"/>
              </a:rPr>
              <a:t>Les valeurs dans chacune des colonnes de </a:t>
            </a:r>
            <a:r>
              <a:rPr lang="fr-FR" dirty="0" err="1">
                <a:cs typeface="Times New Roman" pitchFamily="18" charset="0"/>
              </a:rPr>
              <a:t>Data_standard</a:t>
            </a:r>
            <a:r>
              <a:rPr lang="fr-FR" dirty="0">
                <a:cs typeface="Times New Roman" pitchFamily="18" charset="0"/>
              </a:rPr>
              <a:t> ont une moyenne de 0 et un écart-type de 1. Elles sont donc sur la même échelle.</a:t>
            </a:r>
          </a:p>
        </p:txBody>
      </p:sp>
      <p:sp>
        <p:nvSpPr>
          <p:cNvPr id="3" name="Rectangle : coins arrondis 3">
            <a:extLst>
              <a:ext uri="{FF2B5EF4-FFF2-40B4-BE49-F238E27FC236}">
                <a16:creationId xmlns:a16="http://schemas.microsoft.com/office/drawing/2014/main" xmlns="" id="{4DA6CE65-D62B-43AD-B2AF-9993213ACBC1}"/>
              </a:ext>
            </a:extLst>
          </p:cNvPr>
          <p:cNvSpPr/>
          <p:nvPr/>
        </p:nvSpPr>
        <p:spPr>
          <a:xfrm>
            <a:off x="-487313" y="511547"/>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000" b="1" dirty="0" smtClean="0">
                <a:solidFill>
                  <a:srgbClr val="C00000"/>
                </a:solidFill>
              </a:rPr>
              <a:t>2.Normalisation des données (Sous R)</a:t>
            </a:r>
            <a:endParaRPr lang="fr-FR" sz="4000" dirty="0">
              <a:solidFill>
                <a:srgbClr val="C00000"/>
              </a:solidFill>
            </a:endParaRPr>
          </a:p>
        </p:txBody>
      </p:sp>
      <p:sp>
        <p:nvSpPr>
          <p:cNvPr id="4" name="Rectangle : coins arrondis 3">
            <a:extLst>
              <a:ext uri="{FF2B5EF4-FFF2-40B4-BE49-F238E27FC236}">
                <a16:creationId xmlns:a16="http://schemas.microsoft.com/office/drawing/2014/main" xmlns="" id="{75BAD71B-974C-4232-B431-E2AAA662BEE8}"/>
              </a:ext>
            </a:extLst>
          </p:cNvPr>
          <p:cNvSpPr/>
          <p:nvPr/>
        </p:nvSpPr>
        <p:spPr>
          <a:xfrm>
            <a:off x="352425" y="1409699"/>
            <a:ext cx="11558588" cy="521017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2800" dirty="0">
              <a:solidFill>
                <a:schemeClr val="tx1"/>
              </a:solidFill>
            </a:endParaRPr>
          </a:p>
        </p:txBody>
      </p:sp>
    </p:spTree>
    <p:extLst>
      <p:ext uri="{BB962C8B-B14F-4D97-AF65-F5344CB8AC3E}">
        <p14:creationId xmlns:p14="http://schemas.microsoft.com/office/powerpoint/2010/main" val="4090891184"/>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 coins arrondis 3">
            <a:extLst>
              <a:ext uri="{FF2B5EF4-FFF2-40B4-BE49-F238E27FC236}">
                <a16:creationId xmlns:a16="http://schemas.microsoft.com/office/drawing/2014/main" xmlns="" id="{4DA6CE65-D62B-43AD-B2AF-9993213ACBC1}"/>
              </a:ext>
            </a:extLst>
          </p:cNvPr>
          <p:cNvSpPr/>
          <p:nvPr/>
        </p:nvSpPr>
        <p:spPr>
          <a:xfrm>
            <a:off x="-487313" y="511547"/>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000" b="1" dirty="0" smtClean="0">
                <a:solidFill>
                  <a:srgbClr val="C00000"/>
                </a:solidFill>
              </a:rPr>
              <a:t>2.Normalisation des données (Sous R)</a:t>
            </a:r>
            <a:endParaRPr lang="fr-FR" sz="4000" dirty="0">
              <a:solidFill>
                <a:srgbClr val="C00000"/>
              </a:solidFill>
            </a:endParaRPr>
          </a:p>
        </p:txBody>
      </p:sp>
      <p:sp>
        <p:nvSpPr>
          <p:cNvPr id="4" name="Rectangle : coins arrondis 3">
            <a:extLst>
              <a:ext uri="{FF2B5EF4-FFF2-40B4-BE49-F238E27FC236}">
                <a16:creationId xmlns:a16="http://schemas.microsoft.com/office/drawing/2014/main" xmlns="" id="{75BAD71B-974C-4232-B431-E2AAA662BEE8}"/>
              </a:ext>
            </a:extLst>
          </p:cNvPr>
          <p:cNvSpPr/>
          <p:nvPr/>
        </p:nvSpPr>
        <p:spPr>
          <a:xfrm>
            <a:off x="352425" y="1409699"/>
            <a:ext cx="11558588" cy="521017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2800" dirty="0">
              <a:solidFill>
                <a:schemeClr val="tx1"/>
              </a:solidFill>
            </a:endParaRPr>
          </a:p>
        </p:txBody>
      </p:sp>
      <p:sp>
        <p:nvSpPr>
          <p:cNvPr id="5" name="Espace réservé du contenu 1"/>
          <p:cNvSpPr txBox="1">
            <a:spLocks/>
          </p:cNvSpPr>
          <p:nvPr/>
        </p:nvSpPr>
        <p:spPr>
          <a:xfrm>
            <a:off x="690299" y="1751804"/>
            <a:ext cx="10309538" cy="45259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9728" indent="0" algn="just">
              <a:buFont typeface="Arial" panose="020B0604020202020204" pitchFamily="34" charset="0"/>
              <a:buNone/>
            </a:pPr>
            <a:r>
              <a:rPr lang="fr-FR" sz="3600" dirty="0">
                <a:cs typeface="Times New Roman" pitchFamily="18" charset="0"/>
              </a:rPr>
              <a:t>Les arguments center et </a:t>
            </a:r>
            <a:r>
              <a:rPr lang="fr-FR" sz="3600" dirty="0" err="1">
                <a:cs typeface="Times New Roman" pitchFamily="18" charset="0"/>
              </a:rPr>
              <a:t>scale</a:t>
            </a:r>
            <a:r>
              <a:rPr lang="fr-FR" sz="3600" dirty="0">
                <a:cs typeface="Times New Roman" pitchFamily="18" charset="0"/>
              </a:rPr>
              <a:t> de la fonction </a:t>
            </a:r>
            <a:r>
              <a:rPr lang="fr-FR" sz="3600" dirty="0" err="1">
                <a:cs typeface="Times New Roman" pitchFamily="18" charset="0"/>
              </a:rPr>
              <a:t>scale</a:t>
            </a:r>
            <a:r>
              <a:rPr lang="fr-FR" sz="3600" dirty="0">
                <a:cs typeface="Times New Roman" pitchFamily="18" charset="0"/>
              </a:rPr>
              <a:t>() permettent de contrôler, respectivement, les valeurs soustraites par colonnes et les valeurs par lesquelles les colonnes sont divisées. Il est possible, par exemple, de centrer sans réduire avec:</a:t>
            </a:r>
          </a:p>
          <a:p>
            <a:pPr marL="109728" indent="0" algn="just">
              <a:buFont typeface="Arial" panose="020B0604020202020204" pitchFamily="34" charset="0"/>
              <a:buNone/>
            </a:pPr>
            <a:r>
              <a:rPr lang="fr-FR" sz="3600" dirty="0" smtClean="0">
                <a:latin typeface="Times New Roman"/>
                <a:cs typeface="Times New Roman"/>
              </a:rPr>
              <a:t> </a:t>
            </a:r>
            <a:r>
              <a:rPr lang="fr-FR" sz="3200" dirty="0" smtClean="0">
                <a:solidFill>
                  <a:srgbClr val="0000FF"/>
                </a:solidFill>
                <a:cs typeface="Times New Roman"/>
              </a:rPr>
              <a:t>center = TRUE</a:t>
            </a:r>
            <a:r>
              <a:rPr lang="fr-FR" sz="3600" dirty="0" smtClean="0">
                <a:cs typeface="Times New Roman"/>
              </a:rPr>
              <a:t> </a:t>
            </a:r>
            <a:r>
              <a:rPr lang="fr-FR" sz="3600" dirty="0">
                <a:cs typeface="Times New Roman" pitchFamily="18" charset="0"/>
              </a:rPr>
              <a:t>et</a:t>
            </a:r>
            <a:r>
              <a:rPr lang="fr-FR" sz="3600" dirty="0" smtClean="0">
                <a:cs typeface="Times New Roman"/>
              </a:rPr>
              <a:t> </a:t>
            </a:r>
            <a:r>
              <a:rPr lang="fr-FR" sz="3200" dirty="0" err="1" smtClean="0">
                <a:solidFill>
                  <a:srgbClr val="0000FF"/>
                </a:solidFill>
                <a:cs typeface="Times New Roman"/>
              </a:rPr>
              <a:t>scale</a:t>
            </a:r>
            <a:r>
              <a:rPr lang="fr-FR" sz="3200" dirty="0" smtClean="0">
                <a:solidFill>
                  <a:srgbClr val="0000FF"/>
                </a:solidFill>
                <a:cs typeface="Times New Roman"/>
              </a:rPr>
              <a:t> = FALSE</a:t>
            </a:r>
            <a:r>
              <a:rPr lang="fr-FR" sz="3600" dirty="0" smtClean="0">
                <a:cs typeface="Times New Roman"/>
              </a:rPr>
              <a:t>.</a:t>
            </a:r>
            <a:endParaRPr lang="fr-FR" sz="3600" dirty="0">
              <a:cs typeface="Times New Roman"/>
            </a:endParaRPr>
          </a:p>
        </p:txBody>
      </p:sp>
    </p:spTree>
    <p:extLst>
      <p:ext uri="{BB962C8B-B14F-4D97-AF65-F5344CB8AC3E}">
        <p14:creationId xmlns:p14="http://schemas.microsoft.com/office/powerpoint/2010/main" val="3550195151"/>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3">
            <a:extLst>
              <a:ext uri="{FF2B5EF4-FFF2-40B4-BE49-F238E27FC236}">
                <a16:creationId xmlns:a16="http://schemas.microsoft.com/office/drawing/2014/main" xmlns="" id="{4DA6CE65-D62B-43AD-B2AF-9993213ACBC1}"/>
              </a:ext>
            </a:extLst>
          </p:cNvPr>
          <p:cNvSpPr/>
          <p:nvPr/>
        </p:nvSpPr>
        <p:spPr>
          <a:xfrm>
            <a:off x="-1253796" y="526482"/>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000" b="1" dirty="0" smtClean="0">
                <a:solidFill>
                  <a:srgbClr val="C00000"/>
                </a:solidFill>
              </a:rPr>
              <a:t>2.Normalisation des données</a:t>
            </a:r>
            <a:endParaRPr lang="fr-FR" sz="4000" dirty="0">
              <a:solidFill>
                <a:srgbClr val="C00000"/>
              </a:solidFill>
            </a:endParaRPr>
          </a:p>
        </p:txBody>
      </p:sp>
      <p:sp>
        <p:nvSpPr>
          <p:cNvPr id="3" name="Espace réservé du contenu 1"/>
          <p:cNvSpPr txBox="1">
            <a:spLocks/>
          </p:cNvSpPr>
          <p:nvPr/>
        </p:nvSpPr>
        <p:spPr>
          <a:xfrm>
            <a:off x="457200" y="1556792"/>
            <a:ext cx="10434918" cy="4525963"/>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9728" indent="0" algn="just">
              <a:buFont typeface="Arial" panose="020B0604020202020204" pitchFamily="34" charset="0"/>
              <a:buNone/>
            </a:pPr>
            <a:r>
              <a:rPr lang="fr-FR" dirty="0" smtClean="0">
                <a:cs typeface="Times New Roman"/>
              </a:rPr>
              <a:t>Un autre exemple de normalisation possible avec </a:t>
            </a:r>
            <a:r>
              <a:rPr lang="fr-FR" dirty="0" err="1" smtClean="0">
                <a:cs typeface="Times New Roman"/>
              </a:rPr>
              <a:t>scale</a:t>
            </a:r>
            <a:r>
              <a:rPr lang="fr-FR" dirty="0" smtClean="0">
                <a:cs typeface="Times New Roman"/>
              </a:rPr>
              <a:t> est de ramener les mesures de toutes les variables entre 0 et 1. En notation statistique, la formule pour obtenir cette normalisation est la suivante</a:t>
            </a:r>
            <a:r>
              <a:rPr lang="fr-FR" b="1" dirty="0" smtClean="0">
                <a:solidFill>
                  <a:srgbClr val="000000"/>
                </a:solidFill>
                <a:cs typeface="Times New Roman"/>
              </a:rPr>
              <a:t>: </a:t>
            </a:r>
          </a:p>
          <a:p>
            <a:pPr marL="109728" indent="0" algn="ctr">
              <a:buFont typeface="Arial" panose="020B0604020202020204" pitchFamily="34" charset="0"/>
              <a:buNone/>
            </a:pPr>
            <a:r>
              <a:rPr lang="fr-FR" b="1" dirty="0" smtClean="0">
                <a:solidFill>
                  <a:srgbClr val="000000"/>
                </a:solidFill>
                <a:cs typeface="Times New Roman"/>
              </a:rPr>
              <a:t>(xi-min(x))/(max(x)-min(x)) </a:t>
            </a:r>
          </a:p>
          <a:p>
            <a:pPr marL="109728" indent="0" algn="just">
              <a:buFont typeface="Arial" panose="020B0604020202020204" pitchFamily="34" charset="0"/>
              <a:buNone/>
            </a:pPr>
            <a:r>
              <a:rPr lang="fr-FR" u="sng" dirty="0" smtClean="0">
                <a:solidFill>
                  <a:srgbClr val="000000"/>
                </a:solidFill>
                <a:cs typeface="Times New Roman"/>
              </a:rPr>
              <a:t>Exemple</a:t>
            </a:r>
            <a:r>
              <a:rPr lang="fr-FR" dirty="0" smtClean="0">
                <a:solidFill>
                  <a:srgbClr val="000000"/>
                </a:solidFill>
                <a:cs typeface="Times New Roman"/>
              </a:rPr>
              <a:t>: effectuons cette normalisation sur le jeu de données </a:t>
            </a:r>
            <a:r>
              <a:rPr lang="fr-FR" b="1" dirty="0" smtClean="0">
                <a:solidFill>
                  <a:srgbClr val="000000"/>
                </a:solidFill>
                <a:cs typeface="Times New Roman"/>
              </a:rPr>
              <a:t>Data</a:t>
            </a:r>
            <a:r>
              <a:rPr lang="fr-FR" dirty="0" smtClean="0">
                <a:solidFill>
                  <a:srgbClr val="000000"/>
                </a:solidFill>
                <a:cs typeface="Times New Roman"/>
              </a:rPr>
              <a:t>.</a:t>
            </a:r>
          </a:p>
          <a:p>
            <a:pPr marL="109728" indent="0" algn="just">
              <a:buFont typeface="Arial" panose="020B0604020202020204" pitchFamily="34" charset="0"/>
              <a:buNone/>
            </a:pPr>
            <a:r>
              <a:rPr lang="fr-FR" sz="2600" dirty="0" smtClean="0">
                <a:solidFill>
                  <a:srgbClr val="0000FF"/>
                </a:solidFill>
                <a:cs typeface="Times New Roman"/>
              </a:rPr>
              <a:t>Data&lt;-matrix(c(1,0,3,0,5,0,3,2,5,3,7,2,4,9,0),3,5)</a:t>
            </a:r>
          </a:p>
          <a:p>
            <a:pPr marL="109728" indent="0" algn="just">
              <a:buFont typeface="Arial" panose="020B0604020202020204" pitchFamily="34" charset="0"/>
              <a:buNone/>
            </a:pPr>
            <a:r>
              <a:rPr lang="fr-FR" sz="2600" dirty="0" err="1" smtClean="0">
                <a:solidFill>
                  <a:srgbClr val="0000FF"/>
                </a:solidFill>
                <a:cs typeface="Times New Roman"/>
              </a:rPr>
              <a:t>mmums</a:t>
            </a:r>
            <a:r>
              <a:rPr lang="fr-FR" sz="2600" dirty="0" smtClean="0">
                <a:solidFill>
                  <a:srgbClr val="0000FF"/>
                </a:solidFill>
                <a:cs typeface="Times New Roman"/>
              </a:rPr>
              <a:t> &lt;- </a:t>
            </a:r>
            <a:r>
              <a:rPr lang="fr-FR" sz="2600" dirty="0" err="1" smtClean="0">
                <a:solidFill>
                  <a:srgbClr val="0000FF"/>
                </a:solidFill>
                <a:cs typeface="Times New Roman"/>
              </a:rPr>
              <a:t>apply</a:t>
            </a:r>
            <a:r>
              <a:rPr lang="fr-FR" sz="2600" dirty="0" smtClean="0">
                <a:solidFill>
                  <a:srgbClr val="0000FF"/>
                </a:solidFill>
                <a:cs typeface="Times New Roman"/>
              </a:rPr>
              <a:t>(Data, MARGIN = 2, FUN = min)  </a:t>
            </a:r>
            <a:r>
              <a:rPr lang="fr-FR" dirty="0" smtClean="0">
                <a:solidFill>
                  <a:srgbClr val="000000"/>
                </a:solidFill>
                <a:cs typeface="Times New Roman"/>
              </a:rPr>
              <a:t># obtention des minimums par variable</a:t>
            </a:r>
          </a:p>
          <a:p>
            <a:pPr marL="109728" indent="0" algn="just">
              <a:buFont typeface="Arial" panose="020B0604020202020204" pitchFamily="34" charset="0"/>
              <a:buNone/>
            </a:pPr>
            <a:r>
              <a:rPr lang="fr-FR" sz="2600" dirty="0" err="1" smtClean="0">
                <a:solidFill>
                  <a:srgbClr val="0000FF"/>
                </a:solidFill>
                <a:cs typeface="Times New Roman"/>
              </a:rPr>
              <a:t>mmums</a:t>
            </a:r>
            <a:r>
              <a:rPr lang="fr-FR" sz="2600" dirty="0" smtClean="0">
                <a:solidFill>
                  <a:srgbClr val="0000FF"/>
                </a:solidFill>
                <a:cs typeface="Times New Roman"/>
              </a:rPr>
              <a:t> &lt;- </a:t>
            </a:r>
            <a:r>
              <a:rPr lang="fr-FR" sz="2600" dirty="0" err="1" smtClean="0">
                <a:solidFill>
                  <a:srgbClr val="0000FF"/>
                </a:solidFill>
                <a:cs typeface="Times New Roman"/>
              </a:rPr>
              <a:t>apply</a:t>
            </a:r>
            <a:r>
              <a:rPr lang="fr-FR" sz="2600" dirty="0" smtClean="0">
                <a:solidFill>
                  <a:srgbClr val="0000FF"/>
                </a:solidFill>
                <a:cs typeface="Times New Roman"/>
              </a:rPr>
              <a:t>(Data, MARGIN = 2, FUN = max)  </a:t>
            </a:r>
            <a:r>
              <a:rPr lang="fr-FR" dirty="0" smtClean="0">
                <a:solidFill>
                  <a:srgbClr val="000000"/>
                </a:solidFill>
                <a:cs typeface="Times New Roman"/>
              </a:rPr>
              <a:t># obtention des maximums par variable</a:t>
            </a:r>
          </a:p>
          <a:p>
            <a:pPr marL="109728" indent="0" algn="just">
              <a:buFont typeface="Arial" panose="020B0604020202020204" pitchFamily="34" charset="0"/>
              <a:buNone/>
            </a:pPr>
            <a:r>
              <a:rPr lang="fr-FR" sz="2400" dirty="0" err="1" smtClean="0">
                <a:solidFill>
                  <a:srgbClr val="0000FF"/>
                </a:solidFill>
                <a:cs typeface="Times New Roman"/>
              </a:rPr>
              <a:t>Datanorm</a:t>
            </a:r>
            <a:r>
              <a:rPr lang="fr-FR" sz="2400" dirty="0" smtClean="0">
                <a:solidFill>
                  <a:srgbClr val="0000FF"/>
                </a:solidFill>
                <a:cs typeface="Times New Roman"/>
              </a:rPr>
              <a:t> &lt;- </a:t>
            </a:r>
            <a:r>
              <a:rPr lang="fr-FR" sz="2400" dirty="0" err="1" smtClean="0">
                <a:solidFill>
                  <a:srgbClr val="0000FF"/>
                </a:solidFill>
                <a:cs typeface="Times New Roman"/>
              </a:rPr>
              <a:t>scale</a:t>
            </a:r>
            <a:r>
              <a:rPr lang="fr-FR" sz="2400" dirty="0" smtClean="0">
                <a:solidFill>
                  <a:srgbClr val="0000FF"/>
                </a:solidFill>
                <a:cs typeface="Times New Roman"/>
              </a:rPr>
              <a:t>(Data, center = </a:t>
            </a:r>
            <a:r>
              <a:rPr lang="fr-FR" sz="2400" dirty="0" err="1" smtClean="0">
                <a:solidFill>
                  <a:srgbClr val="0000FF"/>
                </a:solidFill>
                <a:cs typeface="Times New Roman"/>
              </a:rPr>
              <a:t>mmums</a:t>
            </a:r>
            <a:r>
              <a:rPr lang="fr-FR" sz="2400" dirty="0" smtClean="0">
                <a:solidFill>
                  <a:srgbClr val="0000FF"/>
                </a:solidFill>
                <a:cs typeface="Times New Roman"/>
              </a:rPr>
              <a:t>, </a:t>
            </a:r>
            <a:r>
              <a:rPr lang="fr-FR" sz="2400" dirty="0" err="1" smtClean="0">
                <a:solidFill>
                  <a:srgbClr val="0000FF"/>
                </a:solidFill>
                <a:cs typeface="Times New Roman"/>
              </a:rPr>
              <a:t>scale</a:t>
            </a:r>
            <a:r>
              <a:rPr lang="fr-FR" sz="2400" dirty="0" smtClean="0">
                <a:solidFill>
                  <a:srgbClr val="0000FF"/>
                </a:solidFill>
                <a:cs typeface="Times New Roman"/>
              </a:rPr>
              <a:t> = </a:t>
            </a:r>
            <a:r>
              <a:rPr lang="fr-FR" sz="2400" dirty="0" err="1" smtClean="0">
                <a:solidFill>
                  <a:srgbClr val="0000FF"/>
                </a:solidFill>
                <a:cs typeface="Times New Roman"/>
              </a:rPr>
              <a:t>mmums</a:t>
            </a:r>
            <a:r>
              <a:rPr lang="fr-FR" sz="2400" dirty="0" smtClean="0">
                <a:solidFill>
                  <a:srgbClr val="0000FF"/>
                </a:solidFill>
                <a:cs typeface="Times New Roman"/>
              </a:rPr>
              <a:t> - </a:t>
            </a:r>
            <a:r>
              <a:rPr lang="fr-FR" sz="2400" dirty="0" err="1" smtClean="0">
                <a:solidFill>
                  <a:srgbClr val="0000FF"/>
                </a:solidFill>
                <a:cs typeface="Times New Roman"/>
              </a:rPr>
              <a:t>mmums</a:t>
            </a:r>
            <a:r>
              <a:rPr lang="fr-FR" sz="2400" dirty="0" smtClean="0">
                <a:solidFill>
                  <a:srgbClr val="0000FF"/>
                </a:solidFill>
                <a:cs typeface="Times New Roman"/>
              </a:rPr>
              <a:t>)</a:t>
            </a:r>
            <a:endParaRPr lang="fr-FR" sz="2400" dirty="0">
              <a:solidFill>
                <a:srgbClr val="0000FF"/>
              </a:solidFill>
              <a:cs typeface="Times New Roman"/>
            </a:endParaRPr>
          </a:p>
        </p:txBody>
      </p:sp>
      <p:sp>
        <p:nvSpPr>
          <p:cNvPr id="4" name="Rectangle : coins arrondis 3">
            <a:extLst>
              <a:ext uri="{FF2B5EF4-FFF2-40B4-BE49-F238E27FC236}">
                <a16:creationId xmlns:a16="http://schemas.microsoft.com/office/drawing/2014/main" xmlns="" id="{75BAD71B-974C-4232-B431-E2AAA662BEE8}"/>
              </a:ext>
            </a:extLst>
          </p:cNvPr>
          <p:cNvSpPr/>
          <p:nvPr/>
        </p:nvSpPr>
        <p:spPr>
          <a:xfrm>
            <a:off x="352425" y="1409699"/>
            <a:ext cx="11558588" cy="521017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2800" dirty="0">
              <a:solidFill>
                <a:schemeClr val="tx1"/>
              </a:solidFill>
            </a:endParaRPr>
          </a:p>
        </p:txBody>
      </p:sp>
    </p:spTree>
    <p:extLst>
      <p:ext uri="{BB962C8B-B14F-4D97-AF65-F5344CB8AC3E}">
        <p14:creationId xmlns:p14="http://schemas.microsoft.com/office/powerpoint/2010/main" val="3590566155"/>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695459" y="1434163"/>
            <a:ext cx="11732653" cy="2123658"/>
          </a:xfrm>
          <a:prstGeom prst="rect">
            <a:avLst/>
          </a:prstGeom>
          <a:noFill/>
        </p:spPr>
        <p:txBody>
          <a:bodyPr wrap="square" rtlCol="0">
            <a:spAutoFit/>
          </a:bodyPr>
          <a:lstStyle/>
          <a:p>
            <a:r>
              <a:rPr lang="fr-FR" sz="4400" b="1" dirty="0"/>
              <a:t>Données </a:t>
            </a:r>
            <a:r>
              <a:rPr lang="fr-FR" sz="4400" b="1" dirty="0" smtClean="0"/>
              <a:t>Aberrantes</a:t>
            </a:r>
          </a:p>
          <a:p>
            <a:r>
              <a:rPr lang="fr-FR" sz="4400" b="1" dirty="0" smtClean="0"/>
              <a:t>Données Manquantes</a:t>
            </a:r>
          </a:p>
          <a:p>
            <a:r>
              <a:rPr lang="fr-FR" sz="4400" b="1" dirty="0" smtClean="0"/>
              <a:t>Données </a:t>
            </a:r>
            <a:r>
              <a:rPr lang="fr-FR" sz="4400" b="1" dirty="0"/>
              <a:t>Spéciales</a:t>
            </a: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36168" y="1938751"/>
            <a:ext cx="4494207" cy="37569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8865836"/>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5">
            <a:extLst>
              <a:ext uri="{FF2B5EF4-FFF2-40B4-BE49-F238E27FC236}">
                <a16:creationId xmlns:a16="http://schemas.microsoft.com/office/drawing/2014/main" xmlns="" id="{19FF0562-4023-4509-9D90-4CF5E296E237}"/>
              </a:ext>
            </a:extLst>
          </p:cNvPr>
          <p:cNvSpPr/>
          <p:nvPr/>
        </p:nvSpPr>
        <p:spPr>
          <a:xfrm>
            <a:off x="457200" y="1409699"/>
            <a:ext cx="11487149" cy="501015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2400" dirty="0">
              <a:solidFill>
                <a:schemeClr val="tx1"/>
              </a:solidFill>
            </a:endParaRPr>
          </a:p>
          <a:p>
            <a:pPr marL="109728" indent="0">
              <a:buNone/>
            </a:pPr>
            <a:endParaRPr lang="fr-FR" sz="2400" b="1" dirty="0">
              <a:solidFill>
                <a:schemeClr val="tx1"/>
              </a:solidFill>
              <a:latin typeface="Times New Roman" pitchFamily="18" charset="0"/>
              <a:cs typeface="Times New Roman" pitchFamily="18" charset="0"/>
            </a:endParaRPr>
          </a:p>
          <a:p>
            <a:pPr marL="109728" indent="0">
              <a:buNone/>
            </a:pPr>
            <a:endParaRPr lang="fr-FR" sz="2400" b="1" dirty="0">
              <a:solidFill>
                <a:schemeClr val="tx1"/>
              </a:solidFill>
              <a:latin typeface="Times New Roman" pitchFamily="18" charset="0"/>
              <a:cs typeface="Times New Roman" pitchFamily="18" charset="0"/>
            </a:endParaRPr>
          </a:p>
          <a:p>
            <a:pPr marL="109728" indent="0">
              <a:buNone/>
            </a:pPr>
            <a:endParaRPr lang="fr-FR" sz="2400" b="1" dirty="0">
              <a:solidFill>
                <a:schemeClr val="tx1"/>
              </a:solidFill>
              <a:latin typeface="Times New Roman" pitchFamily="18" charset="0"/>
              <a:cs typeface="Times New Roman" pitchFamily="18" charset="0"/>
            </a:endParaRPr>
          </a:p>
          <a:p>
            <a:pPr marL="109728" indent="0">
              <a:buNone/>
            </a:pPr>
            <a:endParaRPr lang="fr-FR" sz="2400" b="1" dirty="0">
              <a:solidFill>
                <a:schemeClr val="tx1"/>
              </a:solidFill>
              <a:latin typeface="Times New Roman" pitchFamily="18" charset="0"/>
              <a:cs typeface="Times New Roman" pitchFamily="18" charset="0"/>
            </a:endParaRPr>
          </a:p>
          <a:p>
            <a:pPr marL="109728" indent="0">
              <a:buNone/>
            </a:pPr>
            <a:endParaRPr lang="fr-FR" sz="2400" b="1" dirty="0">
              <a:solidFill>
                <a:schemeClr val="tx1"/>
              </a:solidFill>
              <a:latin typeface="Times New Roman" pitchFamily="18" charset="0"/>
              <a:cs typeface="Times New Roman" pitchFamily="18" charset="0"/>
            </a:endParaRPr>
          </a:p>
          <a:p>
            <a:pPr marL="109728" indent="0">
              <a:buNone/>
            </a:pPr>
            <a:endParaRPr lang="fr-FR" sz="2400" b="1" dirty="0">
              <a:solidFill>
                <a:schemeClr val="tx1"/>
              </a:solidFill>
              <a:latin typeface="Times New Roman" pitchFamily="18" charset="0"/>
              <a:cs typeface="Times New Roman" pitchFamily="18" charset="0"/>
            </a:endParaRPr>
          </a:p>
          <a:p>
            <a:pPr marL="109728" indent="0">
              <a:buNone/>
            </a:pPr>
            <a:endParaRPr lang="fr-FR" sz="2400" b="1" dirty="0">
              <a:solidFill>
                <a:schemeClr val="tx1"/>
              </a:solidFill>
              <a:latin typeface="Times New Roman" pitchFamily="18" charset="0"/>
              <a:cs typeface="Times New Roman" pitchFamily="18" charset="0"/>
            </a:endParaRPr>
          </a:p>
          <a:p>
            <a:pPr marL="109728" indent="0">
              <a:buNone/>
            </a:pPr>
            <a:endParaRPr lang="fr-FR" sz="2400" b="1" dirty="0">
              <a:solidFill>
                <a:schemeClr val="tx1"/>
              </a:solidFill>
              <a:latin typeface="Times New Roman" pitchFamily="18" charset="0"/>
              <a:cs typeface="Times New Roman" pitchFamily="18" charset="0"/>
            </a:endParaRPr>
          </a:p>
          <a:p>
            <a:pPr marL="109728" indent="0">
              <a:buNone/>
            </a:pPr>
            <a:r>
              <a:rPr lang="fr-FR" sz="2800" b="1" dirty="0">
                <a:solidFill>
                  <a:schemeClr val="tx1"/>
                </a:solidFill>
                <a:cs typeface="Times New Roman" pitchFamily="18" charset="0"/>
              </a:rPr>
              <a:t>Avant de traiter les données, vérifier la qualité des données </a:t>
            </a:r>
          </a:p>
          <a:p>
            <a:pPr marL="109728" indent="0">
              <a:buNone/>
            </a:pPr>
            <a:endParaRPr lang="fr-FR" sz="2800" dirty="0">
              <a:solidFill>
                <a:schemeClr val="tx1"/>
              </a:solidFill>
              <a:cs typeface="Times New Roman" pitchFamily="18" charset="0"/>
            </a:endParaRPr>
          </a:p>
          <a:p>
            <a:pPr>
              <a:buFont typeface="Wingdings" panose="05000000000000000000" pitchFamily="2" charset="2"/>
              <a:buChar char="ü"/>
            </a:pPr>
            <a:r>
              <a:rPr lang="fr-FR" sz="2800" dirty="0">
                <a:solidFill>
                  <a:schemeClr val="tx1"/>
                </a:solidFill>
                <a:cs typeface="Times New Roman" pitchFamily="18" charset="0"/>
              </a:rPr>
              <a:t>Identifier les données aberrantes.</a:t>
            </a:r>
          </a:p>
          <a:p>
            <a:pPr>
              <a:buFont typeface="Wingdings" panose="05000000000000000000" pitchFamily="2" charset="2"/>
              <a:buChar char="ü"/>
            </a:pPr>
            <a:r>
              <a:rPr lang="fr-FR" sz="2800" dirty="0">
                <a:solidFill>
                  <a:schemeClr val="tx1"/>
                </a:solidFill>
                <a:cs typeface="Times New Roman" pitchFamily="18" charset="0"/>
              </a:rPr>
              <a:t>Traiter ou gérer les données manquantes.</a:t>
            </a:r>
          </a:p>
          <a:p>
            <a:pPr>
              <a:buFont typeface="Wingdings" panose="05000000000000000000" pitchFamily="2" charset="2"/>
              <a:buChar char="ü"/>
            </a:pPr>
            <a:r>
              <a:rPr lang="fr-FR" sz="2800" dirty="0">
                <a:solidFill>
                  <a:schemeClr val="tx1"/>
                </a:solidFill>
                <a:cs typeface="Times New Roman" pitchFamily="18" charset="0"/>
              </a:rPr>
              <a:t>Enlever les caractères spéciaux dans les données numériques.</a:t>
            </a:r>
          </a:p>
          <a:p>
            <a:pPr>
              <a:buFont typeface="Wingdings" panose="05000000000000000000" pitchFamily="2" charset="2"/>
              <a:buChar char="ü"/>
            </a:pPr>
            <a:endParaRPr lang="fr-FR" sz="2800" dirty="0">
              <a:solidFill>
                <a:schemeClr val="tx1"/>
              </a:solidFill>
              <a:cs typeface="Times New Roman" pitchFamily="18" charset="0"/>
            </a:endParaRPr>
          </a:p>
          <a:p>
            <a:pPr marL="109728" indent="0">
              <a:buNone/>
            </a:pPr>
            <a:r>
              <a:rPr lang="fr-FR" sz="2800" dirty="0">
                <a:solidFill>
                  <a:schemeClr val="tx1"/>
                </a:solidFill>
                <a:cs typeface="Times New Roman" pitchFamily="18" charset="0"/>
              </a:rPr>
              <a:t>Les données peuvent être:</a:t>
            </a:r>
          </a:p>
          <a:p>
            <a:pPr marL="109728" indent="0">
              <a:buNone/>
            </a:pPr>
            <a:endParaRPr lang="fr-FR" sz="2800" dirty="0">
              <a:solidFill>
                <a:schemeClr val="tx1"/>
              </a:solidFill>
              <a:cs typeface="Times New Roman" pitchFamily="18" charset="0"/>
            </a:endParaRPr>
          </a:p>
          <a:p>
            <a:pPr>
              <a:buFont typeface="Wingdings" panose="05000000000000000000" pitchFamily="2" charset="2"/>
              <a:buChar char="§"/>
            </a:pPr>
            <a:r>
              <a:rPr lang="fr-FR" sz="2800" dirty="0">
                <a:solidFill>
                  <a:schemeClr val="tx1"/>
                </a:solidFill>
                <a:cs typeface="Times New Roman" pitchFamily="18" charset="0"/>
              </a:rPr>
              <a:t>Manquantes</a:t>
            </a:r>
          </a:p>
          <a:p>
            <a:pPr>
              <a:buFont typeface="Wingdings" panose="05000000000000000000" pitchFamily="2" charset="2"/>
              <a:buChar char="§"/>
            </a:pPr>
            <a:r>
              <a:rPr lang="fr-FR" sz="2800" dirty="0">
                <a:solidFill>
                  <a:schemeClr val="tx1"/>
                </a:solidFill>
                <a:cs typeface="Times New Roman" pitchFamily="18" charset="0"/>
              </a:rPr>
              <a:t>Aberrantes</a:t>
            </a:r>
          </a:p>
          <a:p>
            <a:pPr>
              <a:buFont typeface="Wingdings" panose="05000000000000000000" pitchFamily="2" charset="2"/>
              <a:buChar char="§"/>
            </a:pPr>
            <a:r>
              <a:rPr lang="fr-FR" sz="2800" dirty="0">
                <a:solidFill>
                  <a:schemeClr val="tx1"/>
                </a:solidFill>
                <a:cs typeface="Times New Roman" pitchFamily="18" charset="0"/>
              </a:rPr>
              <a:t>doubles</a:t>
            </a:r>
          </a:p>
          <a:p>
            <a:endParaRPr lang="fr-FR" sz="2400" dirty="0">
              <a:solidFill>
                <a:schemeClr val="tx1"/>
              </a:solidFill>
            </a:endParaRPr>
          </a:p>
          <a:p>
            <a:endParaRPr lang="fr-FR" sz="2400" dirty="0">
              <a:solidFill>
                <a:schemeClr val="tx1"/>
              </a:solidFill>
            </a:endParaRPr>
          </a:p>
          <a:p>
            <a:endParaRPr lang="fr-FR" sz="2400" dirty="0">
              <a:solidFill>
                <a:schemeClr val="tx1"/>
              </a:solidFill>
            </a:endParaRPr>
          </a:p>
          <a:p>
            <a:endParaRPr lang="fr-FR" sz="2400" dirty="0">
              <a:solidFill>
                <a:schemeClr val="tx1"/>
              </a:solidFill>
            </a:endParaRPr>
          </a:p>
          <a:p>
            <a:endParaRPr lang="fr-FR" sz="2400" dirty="0">
              <a:solidFill>
                <a:schemeClr val="tx1"/>
              </a:solidFill>
            </a:endParaRPr>
          </a:p>
          <a:p>
            <a:endParaRPr lang="fr-FR" sz="2400" dirty="0">
              <a:solidFill>
                <a:schemeClr val="tx1"/>
              </a:solidFill>
            </a:endParaRPr>
          </a:p>
          <a:p>
            <a:endParaRPr lang="fr-FR" sz="2400" dirty="0">
              <a:solidFill>
                <a:schemeClr val="tx1"/>
              </a:solidFill>
            </a:endParaRPr>
          </a:p>
          <a:p>
            <a:endParaRPr lang="fr-FR" sz="2400" dirty="0">
              <a:solidFill>
                <a:schemeClr val="tx1"/>
              </a:solidFill>
            </a:endParaRPr>
          </a:p>
          <a:p>
            <a:endParaRPr lang="fr-FR" sz="2400" dirty="0">
              <a:solidFill>
                <a:schemeClr val="tx1"/>
              </a:solidFill>
            </a:endParaRPr>
          </a:p>
        </p:txBody>
      </p:sp>
      <p:sp>
        <p:nvSpPr>
          <p:cNvPr id="3" name="Rectangle : coins arrondis 3">
            <a:extLst>
              <a:ext uri="{FF2B5EF4-FFF2-40B4-BE49-F238E27FC236}">
                <a16:creationId xmlns:a16="http://schemas.microsoft.com/office/drawing/2014/main" xmlns="" id="{4DA6CE65-D62B-43AD-B2AF-9993213ACBC1}"/>
              </a:ext>
            </a:extLst>
          </p:cNvPr>
          <p:cNvSpPr/>
          <p:nvPr/>
        </p:nvSpPr>
        <p:spPr>
          <a:xfrm>
            <a:off x="457200" y="482823"/>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000" dirty="0" smtClean="0">
                <a:solidFill>
                  <a:srgbClr val="C00000"/>
                </a:solidFill>
              </a:rPr>
              <a:t>Données Aberrantes/Manquantes/Spéciales</a:t>
            </a:r>
            <a:endParaRPr lang="fr-FR" sz="4000" dirty="0">
              <a:solidFill>
                <a:srgbClr val="C00000"/>
              </a:solidFill>
            </a:endParaRPr>
          </a:p>
        </p:txBody>
      </p:sp>
    </p:spTree>
    <p:extLst>
      <p:ext uri="{BB962C8B-B14F-4D97-AF65-F5344CB8AC3E}">
        <p14:creationId xmlns:p14="http://schemas.microsoft.com/office/powerpoint/2010/main" val="793122390"/>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999C353-CD5F-45DD-824D-F1684B269FE6}" type="slidenum">
              <a:rPr lang="fr-FR" smtClean="0">
                <a:solidFill>
                  <a:schemeClr val="tx1"/>
                </a:solidFill>
              </a:rPr>
              <a:pPr/>
              <a:t>24</a:t>
            </a:fld>
            <a:endParaRPr lang="fr-FR" dirty="0">
              <a:solidFill>
                <a:schemeClr val="tx1"/>
              </a:solidFill>
            </a:endParaRPr>
          </a:p>
        </p:txBody>
      </p:sp>
      <p:pic>
        <p:nvPicPr>
          <p:cNvPr id="5" name="Image 9" descr="logo-espri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82952" y="5807234"/>
            <a:ext cx="1870710" cy="600710"/>
          </a:xfrm>
          <a:prstGeom prst="rect">
            <a:avLst/>
          </a:prstGeom>
          <a:noFill/>
          <a:ln>
            <a:noFill/>
          </a:ln>
        </p:spPr>
      </p:pic>
      <p:sp>
        <p:nvSpPr>
          <p:cNvPr id="8" name="Rectangle : coins arrondis 7">
            <a:extLst>
              <a:ext uri="{FF2B5EF4-FFF2-40B4-BE49-F238E27FC236}">
                <a16:creationId xmlns:a16="http://schemas.microsoft.com/office/drawing/2014/main" xmlns="" id="{F24A7C87-0062-4C84-8361-83276029EF16}"/>
              </a:ext>
            </a:extLst>
          </p:cNvPr>
          <p:cNvSpPr/>
          <p:nvPr/>
        </p:nvSpPr>
        <p:spPr>
          <a:xfrm>
            <a:off x="457199" y="1364614"/>
            <a:ext cx="11487149" cy="504332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9728" indent="0">
              <a:buNone/>
            </a:pPr>
            <a:r>
              <a:rPr lang="fr-FR" sz="2800" b="1" dirty="0">
                <a:solidFill>
                  <a:schemeClr val="tx1"/>
                </a:solidFill>
                <a:cs typeface="Times New Roman" pitchFamily="18" charset="0"/>
              </a:rPr>
              <a:t>Définition : </a:t>
            </a:r>
          </a:p>
          <a:p>
            <a:pPr marL="109728" indent="0">
              <a:buNone/>
            </a:pPr>
            <a:r>
              <a:rPr lang="fr-FR" sz="2800" dirty="0">
                <a:solidFill>
                  <a:schemeClr val="tx1"/>
                </a:solidFill>
                <a:cs typeface="Times New Roman" pitchFamily="18" charset="0"/>
              </a:rPr>
              <a:t>Un </a:t>
            </a:r>
            <a:r>
              <a:rPr lang="fr-FR" sz="2800" i="1" dirty="0" err="1">
                <a:solidFill>
                  <a:schemeClr val="tx1"/>
                </a:solidFill>
                <a:cs typeface="Times New Roman" pitchFamily="18" charset="0"/>
              </a:rPr>
              <a:t>outlier</a:t>
            </a:r>
            <a:r>
              <a:rPr lang="fr-FR" sz="2800" dirty="0">
                <a:solidFill>
                  <a:schemeClr val="tx1"/>
                </a:solidFill>
                <a:cs typeface="Times New Roman" pitchFamily="18" charset="0"/>
              </a:rPr>
              <a:t>, ou donnée </a:t>
            </a:r>
            <a:r>
              <a:rPr lang="fr-FR" sz="2800" i="1" dirty="0">
                <a:solidFill>
                  <a:schemeClr val="tx1"/>
                </a:solidFill>
                <a:cs typeface="Times New Roman" pitchFamily="18" charset="0"/>
              </a:rPr>
              <a:t>aberrante</a:t>
            </a:r>
            <a:r>
              <a:rPr lang="fr-FR" sz="2800" dirty="0">
                <a:solidFill>
                  <a:schemeClr val="tx1"/>
                </a:solidFill>
                <a:cs typeface="Times New Roman" pitchFamily="18" charset="0"/>
              </a:rPr>
              <a:t> est une valeur ou une </a:t>
            </a:r>
            <a:r>
              <a:rPr lang="fr-FR" sz="2800" i="1" dirty="0">
                <a:solidFill>
                  <a:schemeClr val="tx1"/>
                </a:solidFill>
                <a:cs typeface="Times New Roman" pitchFamily="18" charset="0"/>
              </a:rPr>
              <a:t>observation </a:t>
            </a:r>
            <a:r>
              <a:rPr lang="fr-FR" sz="2800" dirty="0">
                <a:solidFill>
                  <a:schemeClr val="tx1"/>
                </a:solidFill>
                <a:cs typeface="Times New Roman" pitchFamily="18" charset="0"/>
              </a:rPr>
              <a:t>qui est «</a:t>
            </a:r>
            <a:r>
              <a:rPr lang="fr-FR" sz="2800" i="1" dirty="0">
                <a:solidFill>
                  <a:schemeClr val="tx1"/>
                </a:solidFill>
                <a:cs typeface="Times New Roman" pitchFamily="18" charset="0"/>
              </a:rPr>
              <a:t> distante » des autres observations</a:t>
            </a:r>
            <a:r>
              <a:rPr lang="fr-FR" sz="2800" dirty="0">
                <a:solidFill>
                  <a:schemeClr val="tx1"/>
                </a:solidFill>
                <a:cs typeface="Times New Roman" pitchFamily="18" charset="0"/>
              </a:rPr>
              <a:t> effectuées sur le même phénomène, c’est-à-dire qu’elle contraste grandement avec les valeurs « normalement » mesurées.</a:t>
            </a:r>
          </a:p>
          <a:p>
            <a:pPr marL="109728" indent="0">
              <a:buNone/>
            </a:pPr>
            <a:endParaRPr lang="fr-FR" sz="2800" dirty="0">
              <a:solidFill>
                <a:schemeClr val="tx1"/>
              </a:solidFill>
              <a:cs typeface="Times New Roman" pitchFamily="18" charset="0"/>
            </a:endParaRPr>
          </a:p>
          <a:p>
            <a:pPr marL="109728" indent="0">
              <a:buNone/>
            </a:pPr>
            <a:r>
              <a:rPr lang="fr-FR" sz="2800" dirty="0">
                <a:solidFill>
                  <a:schemeClr val="tx1"/>
                </a:solidFill>
                <a:cs typeface="Times New Roman" pitchFamily="18" charset="0"/>
              </a:rPr>
              <a:t>Une donnée aberrante peut être due à la variabilité inhérente au phénomène observé ou bien elle peut aussi indiquer une erreur expérimentale.</a:t>
            </a:r>
          </a:p>
        </p:txBody>
      </p:sp>
      <p:sp>
        <p:nvSpPr>
          <p:cNvPr id="7" name="Rectangle : coins arrondis 3">
            <a:extLst>
              <a:ext uri="{FF2B5EF4-FFF2-40B4-BE49-F238E27FC236}">
                <a16:creationId xmlns:a16="http://schemas.microsoft.com/office/drawing/2014/main" xmlns="" id="{4DA6CE65-D62B-43AD-B2AF-9993213ACBC1}"/>
              </a:ext>
            </a:extLst>
          </p:cNvPr>
          <p:cNvSpPr/>
          <p:nvPr/>
        </p:nvSpPr>
        <p:spPr>
          <a:xfrm>
            <a:off x="457200" y="482823"/>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4000" dirty="0" smtClean="0">
                <a:solidFill>
                  <a:srgbClr val="C00000"/>
                </a:solidFill>
              </a:rPr>
              <a:t>       </a:t>
            </a:r>
            <a:r>
              <a:rPr lang="fr-FR" sz="4000" b="1" dirty="0" smtClean="0">
                <a:solidFill>
                  <a:schemeClr val="bg2">
                    <a:lumMod val="50000"/>
                  </a:schemeClr>
                </a:solidFill>
              </a:rPr>
              <a:t>1. Données Aberrantes</a:t>
            </a:r>
            <a:endParaRPr lang="fr-FR" sz="4000" b="1" dirty="0">
              <a:solidFill>
                <a:schemeClr val="bg2">
                  <a:lumMod val="50000"/>
                </a:schemeClr>
              </a:solidFill>
            </a:endParaRPr>
          </a:p>
        </p:txBody>
      </p:sp>
    </p:spTree>
    <p:extLst>
      <p:ext uri="{BB962C8B-B14F-4D97-AF65-F5344CB8AC3E}">
        <p14:creationId xmlns:p14="http://schemas.microsoft.com/office/powerpoint/2010/main" val="4037709"/>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p:cNvSpPr>
            <a:spLocks noGrp="1"/>
          </p:cNvSpPr>
          <p:nvPr>
            <p:ph type="sldNum" sz="quarter" idx="12"/>
          </p:nvPr>
        </p:nvSpPr>
        <p:spPr/>
        <p:txBody>
          <a:bodyPr/>
          <a:lstStyle/>
          <a:p>
            <a:fld id="{8999C353-CD5F-45DD-824D-F1684B269FE6}" type="slidenum">
              <a:rPr lang="fr-FR" smtClean="0">
                <a:solidFill>
                  <a:schemeClr val="tx1"/>
                </a:solidFill>
              </a:rPr>
              <a:pPr/>
              <a:t>25</a:t>
            </a:fld>
            <a:endParaRPr lang="fr-FR" dirty="0">
              <a:solidFill>
                <a:schemeClr val="tx1"/>
              </a:solidFill>
            </a:endParaRPr>
          </a:p>
        </p:txBody>
      </p:sp>
      <p:pic>
        <p:nvPicPr>
          <p:cNvPr id="6" name="Image 9" descr="logo-espri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82952" y="5807234"/>
            <a:ext cx="1870710" cy="600710"/>
          </a:xfrm>
          <a:prstGeom prst="rect">
            <a:avLst/>
          </a:prstGeom>
          <a:noFill/>
          <a:ln>
            <a:noFill/>
          </a:ln>
        </p:spPr>
      </p:pic>
      <p:sp>
        <p:nvSpPr>
          <p:cNvPr id="12" name="Rectangle : coins arrondis 11">
            <a:extLst>
              <a:ext uri="{FF2B5EF4-FFF2-40B4-BE49-F238E27FC236}">
                <a16:creationId xmlns:a16="http://schemas.microsoft.com/office/drawing/2014/main" xmlns="" id="{D2A3C59C-E44E-42A1-93F6-A77E7D467730}"/>
              </a:ext>
            </a:extLst>
          </p:cNvPr>
          <p:cNvSpPr/>
          <p:nvPr/>
        </p:nvSpPr>
        <p:spPr>
          <a:xfrm>
            <a:off x="538162" y="1343025"/>
            <a:ext cx="11325225" cy="490537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9728"/>
            <a:r>
              <a:rPr lang="fr-FR" sz="2800" b="1" dirty="0" smtClean="0">
                <a:solidFill>
                  <a:schemeClr val="tx1"/>
                </a:solidFill>
                <a:cs typeface="Times New Roman" pitchFamily="18" charset="0"/>
              </a:rPr>
              <a:t>Formes </a:t>
            </a:r>
            <a:r>
              <a:rPr lang="fr-FR" sz="2800" b="1" dirty="0">
                <a:solidFill>
                  <a:schemeClr val="tx1"/>
                </a:solidFill>
                <a:cs typeface="Times New Roman" pitchFamily="18" charset="0"/>
              </a:rPr>
              <a:t>: </a:t>
            </a:r>
          </a:p>
          <a:p>
            <a:pPr marL="109728" indent="0">
              <a:buNone/>
            </a:pPr>
            <a:endParaRPr lang="fr-FR" sz="2800" dirty="0" smtClean="0">
              <a:solidFill>
                <a:schemeClr val="tx1"/>
              </a:solidFill>
              <a:cs typeface="Times New Roman" pitchFamily="18" charset="0"/>
            </a:endParaRPr>
          </a:p>
          <a:p>
            <a:pPr marL="109728" indent="0">
              <a:buNone/>
            </a:pPr>
            <a:r>
              <a:rPr lang="fr-FR" sz="2800" dirty="0" smtClean="0">
                <a:solidFill>
                  <a:schemeClr val="tx1"/>
                </a:solidFill>
                <a:cs typeface="Times New Roman" pitchFamily="18" charset="0"/>
              </a:rPr>
              <a:t>Les </a:t>
            </a:r>
            <a:r>
              <a:rPr lang="fr-FR" sz="2800" dirty="0">
                <a:solidFill>
                  <a:schemeClr val="tx1"/>
                </a:solidFill>
                <a:cs typeface="Times New Roman" pitchFamily="18" charset="0"/>
              </a:rPr>
              <a:t>données aberrantes peuvent prendre plusieurs formes:</a:t>
            </a:r>
          </a:p>
          <a:p>
            <a:pPr marL="109728" indent="0">
              <a:buNone/>
            </a:pPr>
            <a:endParaRPr lang="fr-FR" sz="2800" dirty="0">
              <a:solidFill>
                <a:schemeClr val="tx1"/>
              </a:solidFill>
              <a:cs typeface="Times New Roman" pitchFamily="18" charset="0"/>
            </a:endParaRPr>
          </a:p>
          <a:p>
            <a:pPr marL="457200" indent="-457200">
              <a:buFont typeface="Arial" panose="020B0604020202020204" pitchFamily="34" charset="0"/>
              <a:buChar char="•"/>
            </a:pPr>
            <a:r>
              <a:rPr lang="fr-FR" sz="2800" dirty="0">
                <a:solidFill>
                  <a:schemeClr val="tx1"/>
                </a:solidFill>
                <a:cs typeface="Times New Roman" pitchFamily="18" charset="0"/>
              </a:rPr>
              <a:t>Données catégorielles.</a:t>
            </a:r>
          </a:p>
          <a:p>
            <a:pPr marL="109728" indent="0">
              <a:buNone/>
            </a:pPr>
            <a:endParaRPr lang="fr-FR" sz="2800" dirty="0">
              <a:solidFill>
                <a:schemeClr val="tx1"/>
              </a:solidFill>
              <a:cs typeface="Times New Roman" pitchFamily="18" charset="0"/>
            </a:endParaRPr>
          </a:p>
          <a:p>
            <a:pPr marL="457200" indent="-457200">
              <a:buFont typeface="Arial" panose="020B0604020202020204" pitchFamily="34" charset="0"/>
              <a:buChar char="•"/>
            </a:pPr>
            <a:r>
              <a:rPr lang="fr-FR" sz="2800" dirty="0">
                <a:solidFill>
                  <a:schemeClr val="tx1"/>
                </a:solidFill>
                <a:cs typeface="Times New Roman" pitchFamily="18" charset="0"/>
              </a:rPr>
              <a:t>Valeur extrême </a:t>
            </a:r>
            <a:r>
              <a:rPr lang="fr-FR" sz="2800" dirty="0" smtClean="0">
                <a:solidFill>
                  <a:schemeClr val="tx1"/>
                </a:solidFill>
                <a:cs typeface="Times New Roman" pitchFamily="18" charset="0"/>
              </a:rPr>
              <a:t>(positive ou négative) de </a:t>
            </a:r>
            <a:r>
              <a:rPr lang="fr-FR" sz="2800" dirty="0">
                <a:solidFill>
                  <a:schemeClr val="tx1"/>
                </a:solidFill>
                <a:cs typeface="Times New Roman" pitchFamily="18" charset="0"/>
              </a:rPr>
              <a:t>probabilité faible </a:t>
            </a:r>
          </a:p>
          <a:p>
            <a:pPr marL="109728" indent="0">
              <a:buNone/>
            </a:pPr>
            <a:endParaRPr lang="fr-FR" sz="2800" dirty="0">
              <a:solidFill>
                <a:schemeClr val="tx1"/>
              </a:solidFill>
              <a:cs typeface="Times New Roman" pitchFamily="18" charset="0"/>
            </a:endParaRPr>
          </a:p>
          <a:p>
            <a:pPr marL="109728" indent="0">
              <a:buNone/>
            </a:pPr>
            <a:r>
              <a:rPr lang="fr-FR" sz="2800" dirty="0">
                <a:solidFill>
                  <a:schemeClr val="tx1"/>
                </a:solidFill>
                <a:cs typeface="Times New Roman" pitchFamily="18" charset="0"/>
              </a:rPr>
              <a:t>Une valeur </a:t>
            </a:r>
            <a:r>
              <a:rPr lang="fr-FR" sz="2800" b="1" dirty="0">
                <a:solidFill>
                  <a:schemeClr val="tx1"/>
                </a:solidFill>
                <a:cs typeface="Times New Roman" pitchFamily="18" charset="0"/>
              </a:rPr>
              <a:t>aberrante</a:t>
            </a:r>
            <a:r>
              <a:rPr lang="fr-FR" sz="2800" dirty="0">
                <a:solidFill>
                  <a:schemeClr val="tx1"/>
                </a:solidFill>
                <a:cs typeface="Times New Roman" pitchFamily="18" charset="0"/>
              </a:rPr>
              <a:t> est toujours une </a:t>
            </a:r>
            <a:r>
              <a:rPr lang="fr-FR" sz="2800" b="1" dirty="0">
                <a:solidFill>
                  <a:schemeClr val="tx1"/>
                </a:solidFill>
                <a:cs typeface="Times New Roman" pitchFamily="18" charset="0"/>
              </a:rPr>
              <a:t>valeur</a:t>
            </a:r>
            <a:r>
              <a:rPr lang="fr-FR" sz="2800" dirty="0">
                <a:solidFill>
                  <a:schemeClr val="tx1"/>
                </a:solidFill>
                <a:cs typeface="Times New Roman" pitchFamily="18" charset="0"/>
              </a:rPr>
              <a:t> </a:t>
            </a:r>
            <a:r>
              <a:rPr lang="fr-FR" sz="2800" b="1" dirty="0">
                <a:solidFill>
                  <a:schemeClr val="tx1"/>
                </a:solidFill>
                <a:cs typeface="Times New Roman" pitchFamily="18" charset="0"/>
              </a:rPr>
              <a:t>extrême de l’échantillon</a:t>
            </a:r>
            <a:r>
              <a:rPr lang="fr-FR" dirty="0">
                <a:solidFill>
                  <a:schemeClr val="tx1"/>
                </a:solidFill>
                <a:latin typeface="Times New Roman" pitchFamily="18" charset="0"/>
                <a:cs typeface="Times New Roman" pitchFamily="18" charset="0"/>
              </a:rPr>
              <a:t>. </a:t>
            </a:r>
          </a:p>
        </p:txBody>
      </p:sp>
      <p:sp>
        <p:nvSpPr>
          <p:cNvPr id="8" name="Rectangle : coins arrondis 3">
            <a:extLst>
              <a:ext uri="{FF2B5EF4-FFF2-40B4-BE49-F238E27FC236}">
                <a16:creationId xmlns:a16="http://schemas.microsoft.com/office/drawing/2014/main" xmlns="" id="{4DA6CE65-D62B-43AD-B2AF-9993213ACBC1}"/>
              </a:ext>
            </a:extLst>
          </p:cNvPr>
          <p:cNvSpPr/>
          <p:nvPr/>
        </p:nvSpPr>
        <p:spPr>
          <a:xfrm>
            <a:off x="457200" y="482823"/>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4000" dirty="0" smtClean="0">
                <a:solidFill>
                  <a:srgbClr val="C00000"/>
                </a:solidFill>
              </a:rPr>
              <a:t>       </a:t>
            </a:r>
            <a:r>
              <a:rPr lang="fr-FR" sz="4000" b="1" dirty="0" smtClean="0">
                <a:solidFill>
                  <a:schemeClr val="bg2">
                    <a:lumMod val="50000"/>
                  </a:schemeClr>
                </a:solidFill>
              </a:rPr>
              <a:t>1. Données Aberrantes</a:t>
            </a:r>
            <a:endParaRPr lang="fr-FR" sz="4000" b="1" dirty="0">
              <a:solidFill>
                <a:schemeClr val="bg2">
                  <a:lumMod val="50000"/>
                </a:schemeClr>
              </a:solidFill>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24000" y="-171400"/>
            <a:ext cx="8820472" cy="1143000"/>
          </a:xfrm>
        </p:spPr>
        <p:txBody>
          <a:bodyPr>
            <a:normAutofit fontScale="90000"/>
          </a:bodyPr>
          <a:lstStyle/>
          <a:p>
            <a:pPr algn="ctr"/>
            <a:r>
              <a:rPr lang="fr-FR" b="0" dirty="0"/>
              <a:t/>
            </a:r>
            <a:br>
              <a:rPr lang="fr-FR" b="0" dirty="0"/>
            </a:br>
            <a:endParaRPr lang="fr-FR" sz="5300" dirty="0">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8999C353-CD5F-45DD-824D-F1684B269FE6}" type="slidenum">
              <a:rPr lang="fr-FR" smtClean="0"/>
              <a:pPr/>
              <a:t>26</a:t>
            </a:fld>
            <a:endParaRPr lang="fr-FR" dirty="0"/>
          </a:p>
        </p:txBody>
      </p:sp>
      <p:pic>
        <p:nvPicPr>
          <p:cNvPr id="5" name="Image 9" descr="logo-espri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82952" y="5807234"/>
            <a:ext cx="1870710" cy="600710"/>
          </a:xfrm>
          <a:prstGeom prst="rect">
            <a:avLst/>
          </a:prstGeom>
          <a:noFill/>
          <a:ln>
            <a:noFill/>
          </a:ln>
        </p:spPr>
      </p:pic>
      <p:sp>
        <p:nvSpPr>
          <p:cNvPr id="7" name="Rectangle : coins arrondis 6">
            <a:extLst>
              <a:ext uri="{FF2B5EF4-FFF2-40B4-BE49-F238E27FC236}">
                <a16:creationId xmlns:a16="http://schemas.microsoft.com/office/drawing/2014/main" xmlns="" id="{06771224-CD0C-4556-8DC4-9C7D24DD3CFA}"/>
              </a:ext>
            </a:extLst>
          </p:cNvPr>
          <p:cNvSpPr/>
          <p:nvPr/>
        </p:nvSpPr>
        <p:spPr>
          <a:xfrm>
            <a:off x="333375" y="1181099"/>
            <a:ext cx="11344436" cy="532447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2400" dirty="0" smtClean="0">
              <a:solidFill>
                <a:schemeClr val="tx1"/>
              </a:solidFill>
              <a:cs typeface="Times New Roman" pitchFamily="18" charset="0"/>
            </a:endParaRPr>
          </a:p>
        </p:txBody>
      </p:sp>
      <p:sp>
        <p:nvSpPr>
          <p:cNvPr id="8" name="Rectangle : coins arrondis 3">
            <a:extLst>
              <a:ext uri="{FF2B5EF4-FFF2-40B4-BE49-F238E27FC236}">
                <a16:creationId xmlns:a16="http://schemas.microsoft.com/office/drawing/2014/main" xmlns="" id="{4DA6CE65-D62B-43AD-B2AF-9993213ACBC1}"/>
              </a:ext>
            </a:extLst>
          </p:cNvPr>
          <p:cNvSpPr/>
          <p:nvPr/>
        </p:nvSpPr>
        <p:spPr>
          <a:xfrm>
            <a:off x="457200" y="482823"/>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4000" dirty="0" smtClean="0">
                <a:solidFill>
                  <a:srgbClr val="C00000"/>
                </a:solidFill>
              </a:rPr>
              <a:t>       </a:t>
            </a:r>
            <a:r>
              <a:rPr lang="fr-FR" sz="4000" b="1" dirty="0" smtClean="0">
                <a:solidFill>
                  <a:schemeClr val="bg2">
                    <a:lumMod val="50000"/>
                  </a:schemeClr>
                </a:solidFill>
              </a:rPr>
              <a:t>1. Données Aberrantes</a:t>
            </a:r>
            <a:endParaRPr lang="fr-FR" sz="4000" b="1" dirty="0">
              <a:solidFill>
                <a:schemeClr val="bg2">
                  <a:lumMod val="50000"/>
                </a:schemeClr>
              </a:solidFill>
            </a:endParaRPr>
          </a:p>
        </p:txBody>
      </p:sp>
      <p:sp>
        <p:nvSpPr>
          <p:cNvPr id="9" name="Rectangle 8"/>
          <p:cNvSpPr/>
          <p:nvPr/>
        </p:nvSpPr>
        <p:spPr>
          <a:xfrm>
            <a:off x="749810" y="1711748"/>
            <a:ext cx="10403294" cy="5262979"/>
          </a:xfrm>
          <a:prstGeom prst="rect">
            <a:avLst/>
          </a:prstGeom>
        </p:spPr>
        <p:txBody>
          <a:bodyPr wrap="square">
            <a:spAutoFit/>
          </a:bodyPr>
          <a:lstStyle/>
          <a:p>
            <a:r>
              <a:rPr lang="fr-FR" sz="2800" b="1" dirty="0" smtClean="0">
                <a:cs typeface="Times New Roman" pitchFamily="18" charset="0"/>
              </a:rPr>
              <a:t>Exemples :</a:t>
            </a:r>
          </a:p>
          <a:p>
            <a:endParaRPr lang="fr-FR" sz="2800" b="1" dirty="0">
              <a:cs typeface="Times New Roman" pitchFamily="18" charset="0"/>
            </a:endParaRPr>
          </a:p>
          <a:p>
            <a:r>
              <a:rPr lang="fr-FR" sz="2800" b="1" u="sng" dirty="0">
                <a:cs typeface="Times New Roman" pitchFamily="18" charset="0"/>
              </a:rPr>
              <a:t>Contrôle sur le domaine des valeurs </a:t>
            </a:r>
            <a:r>
              <a:rPr lang="fr-FR" sz="2800" dirty="0"/>
              <a:t>:</a:t>
            </a:r>
          </a:p>
          <a:p>
            <a:r>
              <a:rPr lang="fr-FR" sz="2800" dirty="0">
                <a:cs typeface="Times New Roman" pitchFamily="18" charset="0"/>
              </a:rPr>
              <a:t>Pour la variable « Total des heures effectuées », une borne maximale (208 heures) est fixée à partir de la convention collective. Les valeurs supérieures à 208 heures sont aberrantes. </a:t>
            </a:r>
            <a:endParaRPr lang="fr-FR" sz="2800" dirty="0" smtClean="0">
              <a:cs typeface="Times New Roman" pitchFamily="18" charset="0"/>
            </a:endParaRPr>
          </a:p>
          <a:p>
            <a:endParaRPr lang="fr-FR" sz="2800" dirty="0" smtClean="0">
              <a:cs typeface="Times New Roman" pitchFamily="18" charset="0"/>
            </a:endParaRPr>
          </a:p>
          <a:p>
            <a:r>
              <a:rPr lang="fr-FR" sz="2800" b="1" u="sng" dirty="0" smtClean="0">
                <a:cs typeface="Times New Roman" pitchFamily="18" charset="0"/>
              </a:rPr>
              <a:t>Comptes fournisseurs</a:t>
            </a:r>
            <a:r>
              <a:rPr lang="fr-FR" sz="2800" dirty="0" smtClean="0"/>
              <a:t>:</a:t>
            </a:r>
            <a:endParaRPr lang="fr-FR" sz="2800" dirty="0">
              <a:cs typeface="Times New Roman" pitchFamily="18" charset="0"/>
            </a:endParaRPr>
          </a:p>
          <a:p>
            <a:r>
              <a:rPr lang="fr-FR" sz="2800" dirty="0"/>
              <a:t>Dans un fichier de compte fournisseurs, l'ensemble complet des factures varie entre 40 $ et 5 000 $. Toutefois, trois factures présentent un montant supérieur à 20 000 $.</a:t>
            </a:r>
            <a:endParaRPr lang="fr-FR" sz="2800" dirty="0">
              <a:cs typeface="Times New Roman" pitchFamily="18" charset="0"/>
            </a:endParaRPr>
          </a:p>
          <a:p>
            <a:endParaRPr lang="fr-FR" sz="2800" b="1" dirty="0">
              <a:cs typeface="Times New Roman" pitchFamily="18" charset="0"/>
            </a:endParaRPr>
          </a:p>
        </p:txBody>
      </p:sp>
    </p:spTree>
    <p:extLst>
      <p:ext uri="{BB962C8B-B14F-4D97-AF65-F5344CB8AC3E}">
        <p14:creationId xmlns:p14="http://schemas.microsoft.com/office/powerpoint/2010/main" val="4244688495"/>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1622" y="2044633"/>
            <a:ext cx="7886163" cy="3970318"/>
          </a:xfrm>
          <a:prstGeom prst="rect">
            <a:avLst/>
          </a:prstGeom>
        </p:spPr>
        <p:txBody>
          <a:bodyPr wrap="square">
            <a:spAutoFit/>
          </a:bodyPr>
          <a:lstStyle/>
          <a:p>
            <a:r>
              <a:rPr lang="fr-FR" sz="2800" dirty="0" smtClean="0">
                <a:solidFill>
                  <a:srgbClr val="C00000"/>
                </a:solidFill>
                <a:cs typeface="Times New Roman" pitchFamily="18" charset="0"/>
              </a:rPr>
              <a:t>*Calcul </a:t>
            </a:r>
            <a:r>
              <a:rPr lang="fr-FR" sz="2800" dirty="0">
                <a:solidFill>
                  <a:srgbClr val="C00000"/>
                </a:solidFill>
                <a:cs typeface="Times New Roman" pitchFamily="18" charset="0"/>
              </a:rPr>
              <a:t>du Z-Score</a:t>
            </a:r>
          </a:p>
          <a:p>
            <a:r>
              <a:rPr lang="fr-FR" sz="2800" dirty="0" smtClean="0">
                <a:solidFill>
                  <a:srgbClr val="C00000"/>
                </a:solidFill>
                <a:cs typeface="Times New Roman" pitchFamily="18" charset="0"/>
              </a:rPr>
              <a:t>*Test </a:t>
            </a:r>
            <a:r>
              <a:rPr lang="fr-FR" sz="2800" dirty="0">
                <a:solidFill>
                  <a:srgbClr val="C00000"/>
                </a:solidFill>
                <a:cs typeface="Times New Roman" pitchFamily="18" charset="0"/>
              </a:rPr>
              <a:t>de </a:t>
            </a:r>
            <a:r>
              <a:rPr lang="fr-FR" sz="2800" dirty="0" err="1">
                <a:solidFill>
                  <a:srgbClr val="C00000"/>
                </a:solidFill>
                <a:cs typeface="Times New Roman" pitchFamily="18" charset="0"/>
              </a:rPr>
              <a:t>Grubbs</a:t>
            </a:r>
            <a:endParaRPr lang="fr-FR" sz="2800" dirty="0">
              <a:solidFill>
                <a:srgbClr val="C00000"/>
              </a:solidFill>
              <a:cs typeface="Times New Roman" pitchFamily="18" charset="0"/>
            </a:endParaRPr>
          </a:p>
          <a:p>
            <a:r>
              <a:rPr lang="fr-FR" sz="2800" dirty="0" smtClean="0">
                <a:solidFill>
                  <a:srgbClr val="C00000"/>
                </a:solidFill>
                <a:cs typeface="Times New Roman" pitchFamily="18" charset="0"/>
              </a:rPr>
              <a:t>*Détection </a:t>
            </a:r>
            <a:r>
              <a:rPr lang="fr-FR" sz="2800" dirty="0">
                <a:solidFill>
                  <a:srgbClr val="C00000"/>
                </a:solidFill>
                <a:cs typeface="Times New Roman" pitchFamily="18" charset="0"/>
              </a:rPr>
              <a:t>graphique </a:t>
            </a:r>
            <a:r>
              <a:rPr lang="fr-FR" sz="2800" dirty="0">
                <a:cs typeface="Times New Roman" pitchFamily="18" charset="0"/>
              </a:rPr>
              <a:t>: Pour détecter la présence de valeurs aberrantes On peut utiliser : </a:t>
            </a:r>
          </a:p>
          <a:p>
            <a:pPr marL="342900" indent="-342900">
              <a:buFont typeface="Arial" panose="020B0604020202020204" pitchFamily="34" charset="0"/>
              <a:buChar char="•"/>
            </a:pPr>
            <a:r>
              <a:rPr lang="fr-FR" sz="2800" dirty="0" err="1">
                <a:cs typeface="Times New Roman" pitchFamily="18" charset="0"/>
              </a:rPr>
              <a:t>Boxplot</a:t>
            </a:r>
            <a:r>
              <a:rPr lang="fr-FR" sz="2800" dirty="0">
                <a:cs typeface="Times New Roman" pitchFamily="18" charset="0"/>
              </a:rPr>
              <a:t> </a:t>
            </a:r>
          </a:p>
          <a:p>
            <a:pPr marL="342900" indent="-342900">
              <a:buFont typeface="Arial" panose="020B0604020202020204" pitchFamily="34" charset="0"/>
              <a:buChar char="•"/>
            </a:pPr>
            <a:r>
              <a:rPr lang="fr-FR" sz="2800" dirty="0">
                <a:cs typeface="Times New Roman" pitchFamily="18" charset="0"/>
              </a:rPr>
              <a:t>Histogrammes </a:t>
            </a:r>
          </a:p>
          <a:p>
            <a:pPr marL="342900" indent="-342900">
              <a:buFont typeface="Arial" panose="020B0604020202020204" pitchFamily="34" charset="0"/>
              <a:buChar char="•"/>
            </a:pPr>
            <a:r>
              <a:rPr lang="fr-FR" sz="2800" dirty="0">
                <a:cs typeface="Times New Roman" pitchFamily="18" charset="0"/>
              </a:rPr>
              <a:t>Nuages de points </a:t>
            </a:r>
          </a:p>
          <a:p>
            <a:pPr marL="342900" indent="-342900">
              <a:buFont typeface="Arial" panose="020B0604020202020204" pitchFamily="34" charset="0"/>
              <a:buChar char="•"/>
            </a:pPr>
            <a:r>
              <a:rPr lang="fr-FR" sz="2800" dirty="0">
                <a:cs typeface="Times New Roman" pitchFamily="18" charset="0"/>
              </a:rPr>
              <a:t>diagramme de dispersion des observations classées en fonction de leur rang </a:t>
            </a:r>
          </a:p>
        </p:txBody>
      </p:sp>
      <p:sp>
        <p:nvSpPr>
          <p:cNvPr id="3" name="Rectangle : coins arrondis 3">
            <a:extLst>
              <a:ext uri="{FF2B5EF4-FFF2-40B4-BE49-F238E27FC236}">
                <a16:creationId xmlns:a16="http://schemas.microsoft.com/office/drawing/2014/main" xmlns="" id="{4DA6CE65-D62B-43AD-B2AF-9993213ACBC1}"/>
              </a:ext>
            </a:extLst>
          </p:cNvPr>
          <p:cNvSpPr/>
          <p:nvPr/>
        </p:nvSpPr>
        <p:spPr>
          <a:xfrm>
            <a:off x="457200" y="482823"/>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4000" dirty="0" smtClean="0">
                <a:solidFill>
                  <a:srgbClr val="C00000"/>
                </a:solidFill>
              </a:rPr>
              <a:t>       </a:t>
            </a:r>
            <a:r>
              <a:rPr lang="fr-FR" sz="4000" b="1" dirty="0" smtClean="0">
                <a:solidFill>
                  <a:schemeClr val="bg2">
                    <a:lumMod val="50000"/>
                  </a:schemeClr>
                </a:solidFill>
              </a:rPr>
              <a:t>1. Données Aberrantes</a:t>
            </a:r>
            <a:endParaRPr lang="fr-FR" sz="4000" b="1" dirty="0">
              <a:solidFill>
                <a:schemeClr val="bg2">
                  <a:lumMod val="50000"/>
                </a:schemeClr>
              </a:solidFill>
            </a:endParaRPr>
          </a:p>
        </p:txBody>
      </p:sp>
      <p:sp>
        <p:nvSpPr>
          <p:cNvPr id="4" name="Rectangle : coins arrondis 6">
            <a:extLst>
              <a:ext uri="{FF2B5EF4-FFF2-40B4-BE49-F238E27FC236}">
                <a16:creationId xmlns:a16="http://schemas.microsoft.com/office/drawing/2014/main" xmlns="" id="{06771224-CD0C-4556-8DC4-9C7D24DD3CFA}"/>
              </a:ext>
            </a:extLst>
          </p:cNvPr>
          <p:cNvSpPr/>
          <p:nvPr/>
        </p:nvSpPr>
        <p:spPr>
          <a:xfrm>
            <a:off x="333375" y="1181099"/>
            <a:ext cx="11344436" cy="532447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2400" dirty="0" smtClean="0">
              <a:solidFill>
                <a:schemeClr val="tx1"/>
              </a:solidFill>
              <a:cs typeface="Times New Roman" pitchFamily="18" charset="0"/>
            </a:endParaRPr>
          </a:p>
        </p:txBody>
      </p:sp>
      <p:sp>
        <p:nvSpPr>
          <p:cNvPr id="5" name="Rectangle 4"/>
          <p:cNvSpPr/>
          <p:nvPr/>
        </p:nvSpPr>
        <p:spPr>
          <a:xfrm>
            <a:off x="961622" y="1492807"/>
            <a:ext cx="3761351" cy="523220"/>
          </a:xfrm>
          <a:prstGeom prst="rect">
            <a:avLst/>
          </a:prstGeom>
        </p:spPr>
        <p:txBody>
          <a:bodyPr wrap="none">
            <a:spAutoFit/>
          </a:bodyPr>
          <a:lstStyle/>
          <a:p>
            <a:r>
              <a:rPr lang="fr-FR" sz="2800" b="1" dirty="0" smtClean="0">
                <a:cs typeface="Times New Roman" pitchFamily="18" charset="0"/>
              </a:rPr>
              <a:t>Méthodes de détection:</a:t>
            </a:r>
            <a:endParaRPr lang="fr-FR" sz="2800" b="1" dirty="0">
              <a:cs typeface="Times New Roman" pitchFamily="18" charset="0"/>
            </a:endParaRPr>
          </a:p>
        </p:txBody>
      </p:sp>
    </p:spTree>
    <p:extLst>
      <p:ext uri="{BB962C8B-B14F-4D97-AF65-F5344CB8AC3E}">
        <p14:creationId xmlns:p14="http://schemas.microsoft.com/office/powerpoint/2010/main" val="2965859107"/>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999C353-CD5F-45DD-824D-F1684B269FE6}" type="slidenum">
              <a:rPr lang="fr-FR" smtClean="0">
                <a:solidFill>
                  <a:schemeClr val="tx1"/>
                </a:solidFill>
              </a:rPr>
              <a:pPr/>
              <a:t>28</a:t>
            </a:fld>
            <a:endParaRPr lang="fr-FR" dirty="0">
              <a:solidFill>
                <a:schemeClr val="tx1"/>
              </a:solidFill>
            </a:endParaRPr>
          </a:p>
        </p:txBody>
      </p:sp>
      <p:pic>
        <p:nvPicPr>
          <p:cNvPr id="5" name="Image 9" descr="logo-espri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82952" y="5807234"/>
            <a:ext cx="1870710" cy="600710"/>
          </a:xfrm>
          <a:prstGeom prst="rect">
            <a:avLst/>
          </a:prstGeom>
          <a:noFill/>
          <a:ln>
            <a:noFill/>
          </a:ln>
        </p:spPr>
      </p:pic>
      <p:sp>
        <p:nvSpPr>
          <p:cNvPr id="6" name="Rectangle : coins arrondis 5">
            <a:extLst>
              <a:ext uri="{FF2B5EF4-FFF2-40B4-BE49-F238E27FC236}">
                <a16:creationId xmlns:a16="http://schemas.microsoft.com/office/drawing/2014/main" xmlns="" id="{7D24254B-E1F9-4204-90D2-CC9D48C99128}"/>
              </a:ext>
            </a:extLst>
          </p:cNvPr>
          <p:cNvSpPr/>
          <p:nvPr/>
        </p:nvSpPr>
        <p:spPr>
          <a:xfrm>
            <a:off x="190661" y="527146"/>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400" b="1" dirty="0" smtClean="0">
                <a:solidFill>
                  <a:srgbClr val="C00000"/>
                </a:solidFill>
              </a:rPr>
              <a:t>Détection graphique: Boîte </a:t>
            </a:r>
            <a:r>
              <a:rPr lang="fr-FR" sz="4400" b="1" dirty="0">
                <a:solidFill>
                  <a:srgbClr val="C00000"/>
                </a:solidFill>
              </a:rPr>
              <a:t>à moustaches</a:t>
            </a:r>
          </a:p>
        </p:txBody>
      </p:sp>
      <p:sp>
        <p:nvSpPr>
          <p:cNvPr id="7" name="Rectangle : coins arrondis 6">
            <a:extLst>
              <a:ext uri="{FF2B5EF4-FFF2-40B4-BE49-F238E27FC236}">
                <a16:creationId xmlns:a16="http://schemas.microsoft.com/office/drawing/2014/main" xmlns="" id="{A1450EBF-D5F2-4B01-B955-DFFFA3C6DB91}"/>
              </a:ext>
            </a:extLst>
          </p:cNvPr>
          <p:cNvSpPr/>
          <p:nvPr/>
        </p:nvSpPr>
        <p:spPr>
          <a:xfrm>
            <a:off x="190661" y="1524000"/>
            <a:ext cx="11487150" cy="47339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9728" indent="0" algn="just">
              <a:buNone/>
            </a:pPr>
            <a:r>
              <a:rPr lang="fr-FR" sz="2800" dirty="0">
                <a:solidFill>
                  <a:schemeClr val="tx1"/>
                </a:solidFill>
                <a:cs typeface="Times New Roman" pitchFamily="18" charset="0"/>
              </a:rPr>
              <a:t>Les boîtes à moustaches sont des représentations graphiques utilisable pour des variables numériques. </a:t>
            </a:r>
          </a:p>
          <a:p>
            <a:pPr marL="109728" indent="0" algn="just">
              <a:buNone/>
            </a:pPr>
            <a:r>
              <a:rPr lang="fr-FR" sz="2800" dirty="0">
                <a:solidFill>
                  <a:schemeClr val="tx1"/>
                </a:solidFill>
                <a:cs typeface="Times New Roman" pitchFamily="18" charset="0"/>
              </a:rPr>
              <a:t>La « boîte » est délimitée par le premier et le troisième quartiles, elle contient donc 50% de la population. </a:t>
            </a:r>
          </a:p>
          <a:p>
            <a:pPr marL="109728" indent="0" algn="just">
              <a:buNone/>
            </a:pPr>
            <a:endParaRPr lang="fr-FR" sz="2800" dirty="0">
              <a:solidFill>
                <a:schemeClr val="tx1"/>
              </a:solidFill>
              <a:cs typeface="Times New Roman" pitchFamily="18" charset="0"/>
            </a:endParaRPr>
          </a:p>
          <a:p>
            <a:pPr marL="109728" indent="0" algn="just">
              <a:buNone/>
            </a:pPr>
            <a:r>
              <a:rPr lang="fr-FR" sz="2800" dirty="0">
                <a:solidFill>
                  <a:schemeClr val="tx1"/>
                </a:solidFill>
                <a:cs typeface="Times New Roman" pitchFamily="18" charset="0"/>
              </a:rPr>
              <a:t>Les moustaches encadrent les individus “proches” du centre. Au-delà des moustaches, on trouve soit </a:t>
            </a:r>
            <a:r>
              <a:rPr lang="fr-FR" sz="2800" b="1" dirty="0">
                <a:solidFill>
                  <a:schemeClr val="tx1"/>
                </a:solidFill>
                <a:cs typeface="Times New Roman" pitchFamily="18" charset="0"/>
              </a:rPr>
              <a:t>les valeurs aberrantes </a:t>
            </a:r>
            <a:r>
              <a:rPr lang="fr-FR" sz="2800" dirty="0">
                <a:solidFill>
                  <a:schemeClr val="tx1"/>
                </a:solidFill>
                <a:cs typeface="Times New Roman" pitchFamily="18" charset="0"/>
              </a:rPr>
              <a:t>(erreur de saisie), soit </a:t>
            </a:r>
            <a:r>
              <a:rPr lang="fr-FR" sz="2800" b="1" dirty="0">
                <a:solidFill>
                  <a:schemeClr val="tx1"/>
                </a:solidFill>
                <a:cs typeface="Times New Roman" pitchFamily="18" charset="0"/>
              </a:rPr>
              <a:t>les valeurs éloignées du centre</a:t>
            </a:r>
            <a:r>
              <a:rPr lang="fr-FR" sz="2800" dirty="0">
                <a:solidFill>
                  <a:schemeClr val="tx1"/>
                </a:solidFill>
                <a:cs typeface="Times New Roman" pitchFamily="18" charset="0"/>
              </a:rPr>
              <a:t> (valeurs extrêmes).</a:t>
            </a:r>
            <a:endParaRPr lang="fr-FR" sz="2800" dirty="0">
              <a:solidFill>
                <a:schemeClr val="tx1"/>
              </a:solidFill>
            </a:endParaRPr>
          </a:p>
        </p:txBody>
      </p:sp>
    </p:spTree>
    <p:extLst>
      <p:ext uri="{BB962C8B-B14F-4D97-AF65-F5344CB8AC3E}">
        <p14:creationId xmlns:p14="http://schemas.microsoft.com/office/powerpoint/2010/main" val="2672208298"/>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8999C353-CD5F-45DD-824D-F1684B269FE6}" type="slidenum">
              <a:rPr lang="fr-FR" smtClean="0">
                <a:solidFill>
                  <a:schemeClr val="tx1"/>
                </a:solidFill>
              </a:rPr>
              <a:pPr/>
              <a:t>29</a:t>
            </a:fld>
            <a:endParaRPr lang="fr-FR" dirty="0">
              <a:solidFill>
                <a:schemeClr val="tx1"/>
              </a:solidFill>
            </a:endParaRPr>
          </a:p>
        </p:txBody>
      </p:sp>
      <p:sp>
        <p:nvSpPr>
          <p:cNvPr id="3" name="ZoneTexte 2"/>
          <p:cNvSpPr txBox="1"/>
          <p:nvPr/>
        </p:nvSpPr>
        <p:spPr>
          <a:xfrm>
            <a:off x="2855640" y="2093794"/>
            <a:ext cx="5393912" cy="830997"/>
          </a:xfrm>
          <a:prstGeom prst="rect">
            <a:avLst/>
          </a:prstGeom>
          <a:noFill/>
        </p:spPr>
        <p:txBody>
          <a:bodyPr wrap="none" rtlCol="0">
            <a:spAutoFit/>
          </a:bodyPr>
          <a:lstStyle/>
          <a:p>
            <a:r>
              <a:rPr lang="fr-FR" sz="4800" b="1" dirty="0"/>
              <a:t>Packages R :</a:t>
            </a:r>
            <a:r>
              <a:rPr lang="fr-FR" sz="4800" b="1" dirty="0">
                <a:latin typeface="Times New Roman" pitchFamily="18" charset="0"/>
                <a:cs typeface="Times New Roman" pitchFamily="18" charset="0"/>
              </a:rPr>
              <a:t> ggplot2</a:t>
            </a:r>
            <a:endParaRPr lang="fr-FR" sz="4800" b="1" dirty="0"/>
          </a:p>
        </p:txBody>
      </p:sp>
      <p:pic>
        <p:nvPicPr>
          <p:cNvPr id="10242" name="Picture 2" descr="RÃ©sultat de recherche d'images pour &quot;package R&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01372" y="3429000"/>
            <a:ext cx="1902447" cy="144323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 coins arrondis 4">
            <a:extLst>
              <a:ext uri="{FF2B5EF4-FFF2-40B4-BE49-F238E27FC236}">
                <a16:creationId xmlns:a16="http://schemas.microsoft.com/office/drawing/2014/main" xmlns="" id="{1CF0F3B9-9E42-401C-8A9E-E3A932F84BCD}"/>
              </a:ext>
            </a:extLst>
          </p:cNvPr>
          <p:cNvSpPr/>
          <p:nvPr/>
        </p:nvSpPr>
        <p:spPr>
          <a:xfrm>
            <a:off x="352426" y="1669157"/>
            <a:ext cx="11487149" cy="466725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dirty="0">
              <a:solidFill>
                <a:schemeClr val="tx1"/>
              </a:solidFill>
            </a:endParaRPr>
          </a:p>
        </p:txBody>
      </p:sp>
      <p:sp>
        <p:nvSpPr>
          <p:cNvPr id="7" name="Rectangle : coins arrondis 5">
            <a:extLst>
              <a:ext uri="{FF2B5EF4-FFF2-40B4-BE49-F238E27FC236}">
                <a16:creationId xmlns:a16="http://schemas.microsoft.com/office/drawing/2014/main" xmlns="" id="{7D24254B-E1F9-4204-90D2-CC9D48C99128}"/>
              </a:ext>
            </a:extLst>
          </p:cNvPr>
          <p:cNvSpPr/>
          <p:nvPr/>
        </p:nvSpPr>
        <p:spPr>
          <a:xfrm>
            <a:off x="190661" y="527146"/>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400" b="1" dirty="0" smtClean="0">
                <a:solidFill>
                  <a:srgbClr val="C00000"/>
                </a:solidFill>
              </a:rPr>
              <a:t>Détection graphique: Boîte </a:t>
            </a:r>
            <a:r>
              <a:rPr lang="fr-FR" sz="4400" b="1" dirty="0">
                <a:solidFill>
                  <a:srgbClr val="C00000"/>
                </a:solidFill>
              </a:rPr>
              <a:t>à moustaches</a:t>
            </a:r>
          </a:p>
        </p:txBody>
      </p:sp>
    </p:spTree>
    <p:extLst>
      <p:ext uri="{BB962C8B-B14F-4D97-AF65-F5344CB8AC3E}">
        <p14:creationId xmlns:p14="http://schemas.microsoft.com/office/powerpoint/2010/main" val="713947748"/>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999C353-CD5F-45DD-824D-F1684B269FE6}" type="slidenum">
              <a:rPr lang="fr-FR" smtClean="0"/>
              <a:pPr/>
              <a:t>30</a:t>
            </a:fld>
            <a:endParaRPr lang="fr-FR" dirty="0"/>
          </a:p>
        </p:txBody>
      </p:sp>
      <p:sp>
        <p:nvSpPr>
          <p:cNvPr id="8" name="Rectangle : coins arrondis 7">
            <a:extLst>
              <a:ext uri="{FF2B5EF4-FFF2-40B4-BE49-F238E27FC236}">
                <a16:creationId xmlns:a16="http://schemas.microsoft.com/office/drawing/2014/main" xmlns="" id="{B0B9995A-AF8B-49EC-8E50-9D3BD82C0074}"/>
              </a:ext>
            </a:extLst>
          </p:cNvPr>
          <p:cNvSpPr/>
          <p:nvPr/>
        </p:nvSpPr>
        <p:spPr>
          <a:xfrm>
            <a:off x="504825" y="1352550"/>
            <a:ext cx="11172986" cy="531147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9728" indent="0">
              <a:buNone/>
            </a:pPr>
            <a:r>
              <a:rPr lang="fr-FR" sz="2400" dirty="0">
                <a:solidFill>
                  <a:schemeClr val="tx1"/>
                </a:solidFill>
                <a:cs typeface="Times New Roman" pitchFamily="18" charset="0"/>
              </a:rPr>
              <a:t>Le jeu de données  </a:t>
            </a:r>
            <a:r>
              <a:rPr lang="fr-FR" sz="2400" b="1" dirty="0" err="1">
                <a:solidFill>
                  <a:schemeClr val="tx1"/>
                </a:solidFill>
                <a:cs typeface="Times New Roman" pitchFamily="18" charset="0"/>
              </a:rPr>
              <a:t>mpg</a:t>
            </a:r>
            <a:r>
              <a:rPr lang="fr-FR" sz="2400" dirty="0">
                <a:solidFill>
                  <a:schemeClr val="tx1"/>
                </a:solidFill>
                <a:cs typeface="Times New Roman" pitchFamily="18" charset="0"/>
              </a:rPr>
              <a:t> contenues dans le package </a:t>
            </a:r>
            <a:r>
              <a:rPr lang="fr-FR" sz="2400" b="1" dirty="0">
                <a:solidFill>
                  <a:schemeClr val="tx1"/>
                </a:solidFill>
                <a:cs typeface="Times New Roman" pitchFamily="18" charset="0"/>
              </a:rPr>
              <a:t>ggplot2</a:t>
            </a:r>
            <a:r>
              <a:rPr lang="fr-FR" sz="2400" dirty="0">
                <a:solidFill>
                  <a:schemeClr val="tx1"/>
                </a:solidFill>
                <a:cs typeface="Times New Roman" pitchFamily="18" charset="0"/>
              </a:rPr>
              <a:t>.</a:t>
            </a:r>
          </a:p>
          <a:p>
            <a:pPr marL="109728" indent="0">
              <a:buNone/>
            </a:pPr>
            <a:endParaRPr lang="fr-FR" sz="2400" dirty="0">
              <a:solidFill>
                <a:schemeClr val="tx1"/>
              </a:solidFill>
              <a:cs typeface="Times New Roman" pitchFamily="18" charset="0"/>
            </a:endParaRPr>
          </a:p>
          <a:p>
            <a:pPr marL="109728" indent="0">
              <a:buNone/>
            </a:pPr>
            <a:r>
              <a:rPr lang="fr-FR" sz="2400" dirty="0">
                <a:solidFill>
                  <a:schemeClr val="tx1"/>
                </a:solidFill>
                <a:cs typeface="Times New Roman" pitchFamily="18" charset="0"/>
              </a:rPr>
              <a:t>On s'intéresse à la variable </a:t>
            </a:r>
            <a:r>
              <a:rPr lang="fr-FR" sz="2400" b="1" dirty="0" err="1">
                <a:solidFill>
                  <a:schemeClr val="tx1"/>
                </a:solidFill>
                <a:cs typeface="Times New Roman" pitchFamily="18" charset="0"/>
              </a:rPr>
              <a:t>hwy</a:t>
            </a:r>
            <a:r>
              <a:rPr lang="fr-FR" sz="2400" dirty="0">
                <a:solidFill>
                  <a:schemeClr val="tx1"/>
                </a:solidFill>
                <a:cs typeface="Times New Roman" pitchFamily="18" charset="0"/>
              </a:rPr>
              <a:t> (Highway miles per gallon) en fonction du type de véhicule (variable class).</a:t>
            </a:r>
          </a:p>
          <a:p>
            <a:pPr marL="109728" indent="0">
              <a:buNone/>
            </a:pPr>
            <a:endParaRPr lang="fr-FR" sz="2400" dirty="0">
              <a:solidFill>
                <a:schemeClr val="tx1"/>
              </a:solidFill>
              <a:cs typeface="Times New Roman" pitchFamily="18" charset="0"/>
            </a:endParaRPr>
          </a:p>
          <a:p>
            <a:pPr marL="109728" indent="0">
              <a:buNone/>
            </a:pPr>
            <a:r>
              <a:rPr lang="fr-FR" sz="2400" i="1" dirty="0">
                <a:solidFill>
                  <a:schemeClr val="accent1"/>
                </a:solidFill>
                <a:cs typeface="Times New Roman" pitchFamily="18" charset="0"/>
              </a:rPr>
              <a:t>&gt;</a:t>
            </a:r>
            <a:r>
              <a:rPr lang="fr-FR" sz="2400" i="1" dirty="0" err="1">
                <a:solidFill>
                  <a:schemeClr val="accent1"/>
                </a:solidFill>
                <a:cs typeface="Times New Roman" pitchFamily="18" charset="0"/>
              </a:rPr>
              <a:t>library</a:t>
            </a:r>
            <a:r>
              <a:rPr lang="fr-FR" sz="2400" i="1" dirty="0">
                <a:solidFill>
                  <a:schemeClr val="accent1"/>
                </a:solidFill>
                <a:cs typeface="Times New Roman" pitchFamily="18" charset="0"/>
              </a:rPr>
              <a:t>(ggplot2)</a:t>
            </a:r>
          </a:p>
          <a:p>
            <a:pPr marL="109728" indent="0">
              <a:buNone/>
            </a:pPr>
            <a:r>
              <a:rPr lang="fr-FR" sz="2400" i="1" dirty="0">
                <a:solidFill>
                  <a:schemeClr val="accent1"/>
                </a:solidFill>
                <a:cs typeface="Times New Roman" pitchFamily="18" charset="0"/>
              </a:rPr>
              <a:t>&gt;</a:t>
            </a:r>
            <a:r>
              <a:rPr lang="fr-FR" sz="2400" i="1" dirty="0" err="1">
                <a:solidFill>
                  <a:schemeClr val="accent1"/>
                </a:solidFill>
                <a:cs typeface="Times New Roman" pitchFamily="18" charset="0"/>
              </a:rPr>
              <a:t>ggplot</a:t>
            </a:r>
            <a:r>
              <a:rPr lang="fr-FR" sz="2400" i="1" dirty="0">
                <a:solidFill>
                  <a:schemeClr val="accent1"/>
                </a:solidFill>
                <a:cs typeface="Times New Roman" pitchFamily="18" charset="0"/>
              </a:rPr>
              <a:t>(</a:t>
            </a:r>
            <a:r>
              <a:rPr lang="fr-FR" sz="2400" i="1" dirty="0" err="1">
                <a:solidFill>
                  <a:schemeClr val="accent1"/>
                </a:solidFill>
                <a:cs typeface="Times New Roman" pitchFamily="18" charset="0"/>
              </a:rPr>
              <a:t>mpg</a:t>
            </a:r>
            <a:r>
              <a:rPr lang="fr-FR" sz="2400" i="1" dirty="0">
                <a:solidFill>
                  <a:schemeClr val="accent1"/>
                </a:solidFill>
                <a:cs typeface="Times New Roman" pitchFamily="18" charset="0"/>
              </a:rPr>
              <a:t>, </a:t>
            </a:r>
            <a:r>
              <a:rPr lang="fr-FR" sz="2400" i="1" dirty="0" err="1">
                <a:solidFill>
                  <a:schemeClr val="accent1"/>
                </a:solidFill>
                <a:cs typeface="Times New Roman" pitchFamily="18" charset="0"/>
              </a:rPr>
              <a:t>aes</a:t>
            </a:r>
            <a:r>
              <a:rPr lang="fr-FR" sz="2400" i="1" dirty="0">
                <a:solidFill>
                  <a:schemeClr val="accent1"/>
                </a:solidFill>
                <a:cs typeface="Times New Roman" pitchFamily="18" charset="0"/>
              </a:rPr>
              <a:t>( x=</a:t>
            </a:r>
            <a:r>
              <a:rPr lang="fr-FR" sz="2400" i="1" dirty="0" err="1">
                <a:solidFill>
                  <a:schemeClr val="accent1"/>
                </a:solidFill>
                <a:cs typeface="Times New Roman" pitchFamily="18" charset="0"/>
              </a:rPr>
              <a:t>class,y</a:t>
            </a:r>
            <a:r>
              <a:rPr lang="fr-FR" sz="2400" i="1" dirty="0">
                <a:solidFill>
                  <a:schemeClr val="accent1"/>
                </a:solidFill>
                <a:cs typeface="Times New Roman" pitchFamily="18" charset="0"/>
              </a:rPr>
              <a:t>=</a:t>
            </a:r>
            <a:r>
              <a:rPr lang="fr-FR" sz="2400" i="1" dirty="0" err="1">
                <a:solidFill>
                  <a:schemeClr val="accent1"/>
                </a:solidFill>
                <a:cs typeface="Times New Roman" pitchFamily="18" charset="0"/>
              </a:rPr>
              <a:t>hwy</a:t>
            </a:r>
            <a:r>
              <a:rPr lang="fr-FR" sz="2400" i="1" dirty="0">
                <a:solidFill>
                  <a:schemeClr val="accent1"/>
                </a:solidFill>
                <a:cs typeface="Times New Roman" pitchFamily="18" charset="0"/>
              </a:rPr>
              <a:t>, </a:t>
            </a:r>
            <a:r>
              <a:rPr lang="fr-FR" sz="2400" i="1" dirty="0" err="1">
                <a:solidFill>
                  <a:schemeClr val="accent1"/>
                </a:solidFill>
                <a:cs typeface="Times New Roman" pitchFamily="18" charset="0"/>
              </a:rPr>
              <a:t>fill</a:t>
            </a:r>
            <a:r>
              <a:rPr lang="fr-FR" sz="2400" i="1" dirty="0">
                <a:solidFill>
                  <a:schemeClr val="accent1"/>
                </a:solidFill>
                <a:cs typeface="Times New Roman" pitchFamily="18" charset="0"/>
              </a:rPr>
              <a:t>=class)) + </a:t>
            </a:r>
            <a:r>
              <a:rPr lang="fr-FR" sz="2400" i="1" dirty="0" err="1">
                <a:solidFill>
                  <a:schemeClr val="accent1"/>
                </a:solidFill>
                <a:cs typeface="Times New Roman" pitchFamily="18" charset="0"/>
              </a:rPr>
              <a:t>geom_boxplot</a:t>
            </a:r>
            <a:r>
              <a:rPr lang="fr-FR" sz="2400" i="1" dirty="0">
                <a:solidFill>
                  <a:schemeClr val="accent1"/>
                </a:solidFill>
                <a:cs typeface="Times New Roman" pitchFamily="18" charset="0"/>
              </a:rPr>
              <a:t>()+ </a:t>
            </a:r>
            <a:r>
              <a:rPr lang="fr-FR" sz="2400" i="1" dirty="0" err="1">
                <a:solidFill>
                  <a:schemeClr val="accent1"/>
                </a:solidFill>
                <a:cs typeface="Times New Roman" pitchFamily="18" charset="0"/>
              </a:rPr>
              <a:t>xlab</a:t>
            </a:r>
            <a:r>
              <a:rPr lang="fr-FR" sz="2400" i="1" dirty="0">
                <a:solidFill>
                  <a:schemeClr val="accent1"/>
                </a:solidFill>
                <a:cs typeface="Times New Roman" pitchFamily="18" charset="0"/>
              </a:rPr>
              <a:t>(label = "Type of car") + </a:t>
            </a:r>
            <a:r>
              <a:rPr lang="fr-FR" sz="2400" i="1" dirty="0" err="1">
                <a:solidFill>
                  <a:schemeClr val="accent1"/>
                </a:solidFill>
                <a:cs typeface="Times New Roman" pitchFamily="18" charset="0"/>
              </a:rPr>
              <a:t>ylab</a:t>
            </a:r>
            <a:r>
              <a:rPr lang="fr-FR" sz="2400" i="1" dirty="0">
                <a:solidFill>
                  <a:schemeClr val="accent1"/>
                </a:solidFill>
                <a:cs typeface="Times New Roman" pitchFamily="18" charset="0"/>
              </a:rPr>
              <a:t>(label = "Highway miles per gallon") + </a:t>
            </a:r>
            <a:r>
              <a:rPr lang="fr-FR" sz="2400" i="1" dirty="0" err="1">
                <a:solidFill>
                  <a:schemeClr val="accent1"/>
                </a:solidFill>
                <a:cs typeface="Times New Roman" pitchFamily="18" charset="0"/>
              </a:rPr>
              <a:t>theme</a:t>
            </a:r>
            <a:r>
              <a:rPr lang="fr-FR" sz="2400" i="1" dirty="0">
                <a:solidFill>
                  <a:schemeClr val="accent1"/>
                </a:solidFill>
                <a:cs typeface="Times New Roman" pitchFamily="18" charset="0"/>
              </a:rPr>
              <a:t>(</a:t>
            </a:r>
            <a:r>
              <a:rPr lang="fr-FR" sz="2400" i="1" dirty="0" err="1">
                <a:solidFill>
                  <a:schemeClr val="accent1"/>
                </a:solidFill>
                <a:cs typeface="Times New Roman" pitchFamily="18" charset="0"/>
              </a:rPr>
              <a:t>axis.text.x</a:t>
            </a:r>
            <a:r>
              <a:rPr lang="fr-FR" sz="2400" i="1" dirty="0">
                <a:solidFill>
                  <a:schemeClr val="accent1"/>
                </a:solidFill>
                <a:cs typeface="Times New Roman" pitchFamily="18" charset="0"/>
              </a:rPr>
              <a:t> = </a:t>
            </a:r>
            <a:r>
              <a:rPr lang="fr-FR" sz="2400" i="1" dirty="0" err="1">
                <a:solidFill>
                  <a:schemeClr val="accent1"/>
                </a:solidFill>
                <a:cs typeface="Times New Roman" pitchFamily="18" charset="0"/>
              </a:rPr>
              <a:t>element_text</a:t>
            </a:r>
            <a:r>
              <a:rPr lang="fr-FR" sz="2400" i="1" dirty="0">
                <a:solidFill>
                  <a:schemeClr val="accent1"/>
                </a:solidFill>
                <a:cs typeface="Times New Roman" pitchFamily="18" charset="0"/>
              </a:rPr>
              <a:t>(angle=30, </a:t>
            </a:r>
            <a:r>
              <a:rPr lang="fr-FR" sz="2400" i="1" dirty="0" err="1">
                <a:solidFill>
                  <a:schemeClr val="accent1"/>
                </a:solidFill>
                <a:cs typeface="Times New Roman" pitchFamily="18" charset="0"/>
              </a:rPr>
              <a:t>hjust</a:t>
            </a:r>
            <a:r>
              <a:rPr lang="fr-FR" sz="2400" i="1" dirty="0">
                <a:solidFill>
                  <a:schemeClr val="accent1"/>
                </a:solidFill>
                <a:cs typeface="Times New Roman" pitchFamily="18" charset="0"/>
              </a:rPr>
              <a:t>=1, </a:t>
            </a:r>
            <a:r>
              <a:rPr lang="fr-FR" sz="2400" i="1" dirty="0" err="1">
                <a:solidFill>
                  <a:schemeClr val="accent1"/>
                </a:solidFill>
                <a:cs typeface="Times New Roman" pitchFamily="18" charset="0"/>
              </a:rPr>
              <a:t>vjust</a:t>
            </a:r>
            <a:r>
              <a:rPr lang="fr-FR" sz="2400" i="1" dirty="0">
                <a:solidFill>
                  <a:schemeClr val="accent1"/>
                </a:solidFill>
                <a:cs typeface="Times New Roman" pitchFamily="18" charset="0"/>
              </a:rPr>
              <a:t>=1))+</a:t>
            </a:r>
            <a:r>
              <a:rPr lang="fr-FR" sz="2400" i="1" dirty="0" err="1">
                <a:solidFill>
                  <a:schemeClr val="accent1"/>
                </a:solidFill>
                <a:cs typeface="Times New Roman" pitchFamily="18" charset="0"/>
              </a:rPr>
              <a:t>theme</a:t>
            </a:r>
            <a:r>
              <a:rPr lang="fr-FR" sz="2400" i="1" dirty="0">
                <a:solidFill>
                  <a:schemeClr val="accent1"/>
                </a:solidFill>
                <a:cs typeface="Times New Roman" pitchFamily="18" charset="0"/>
              </a:rPr>
              <a:t>(</a:t>
            </a:r>
            <a:r>
              <a:rPr lang="fr-FR" sz="2400" i="1" dirty="0" err="1">
                <a:solidFill>
                  <a:schemeClr val="accent1"/>
                </a:solidFill>
                <a:cs typeface="Times New Roman" pitchFamily="18" charset="0"/>
              </a:rPr>
              <a:t>legend.position</a:t>
            </a:r>
            <a:r>
              <a:rPr lang="fr-FR" sz="2400" i="1" dirty="0">
                <a:solidFill>
                  <a:schemeClr val="accent1"/>
                </a:solidFill>
                <a:cs typeface="Times New Roman" pitchFamily="18" charset="0"/>
              </a:rPr>
              <a:t>="none")+</a:t>
            </a:r>
            <a:r>
              <a:rPr lang="fr-FR" sz="2400" i="1" dirty="0" err="1">
                <a:solidFill>
                  <a:schemeClr val="accent1"/>
                </a:solidFill>
                <a:cs typeface="Times New Roman" pitchFamily="18" charset="0"/>
              </a:rPr>
              <a:t>ggtitle</a:t>
            </a:r>
            <a:r>
              <a:rPr lang="fr-FR" sz="2400" i="1" dirty="0">
                <a:solidFill>
                  <a:schemeClr val="accent1"/>
                </a:solidFill>
                <a:cs typeface="Times New Roman" pitchFamily="18" charset="0"/>
              </a:rPr>
              <a:t>("Exemple de </a:t>
            </a:r>
            <a:r>
              <a:rPr lang="fr-FR" sz="2400" i="1" dirty="0" err="1">
                <a:solidFill>
                  <a:schemeClr val="accent1"/>
                </a:solidFill>
                <a:cs typeface="Times New Roman" pitchFamily="18" charset="0"/>
              </a:rPr>
              <a:t>boxplots</a:t>
            </a:r>
            <a:r>
              <a:rPr lang="fr-FR" sz="2400" i="1" dirty="0">
                <a:solidFill>
                  <a:schemeClr val="accent1"/>
                </a:solidFill>
                <a:cs typeface="Times New Roman" pitchFamily="18" charset="0"/>
              </a:rPr>
              <a:t> sur les données </a:t>
            </a:r>
            <a:r>
              <a:rPr lang="fr-FR" sz="2400" i="1" dirty="0" err="1">
                <a:solidFill>
                  <a:schemeClr val="accent1"/>
                </a:solidFill>
                <a:cs typeface="Times New Roman" pitchFamily="18" charset="0"/>
              </a:rPr>
              <a:t>mpg</a:t>
            </a:r>
            <a:r>
              <a:rPr lang="fr-FR" sz="2400" i="1" dirty="0">
                <a:solidFill>
                  <a:schemeClr val="accent1"/>
                </a:solidFill>
                <a:cs typeface="Times New Roman" pitchFamily="18" charset="0"/>
              </a:rPr>
              <a:t>")</a:t>
            </a:r>
          </a:p>
        </p:txBody>
      </p:sp>
      <p:sp>
        <p:nvSpPr>
          <p:cNvPr id="5" name="Rectangle : coins arrondis 5">
            <a:extLst>
              <a:ext uri="{FF2B5EF4-FFF2-40B4-BE49-F238E27FC236}">
                <a16:creationId xmlns:a16="http://schemas.microsoft.com/office/drawing/2014/main" xmlns="" id="{7D24254B-E1F9-4204-90D2-CC9D48C99128}"/>
              </a:ext>
            </a:extLst>
          </p:cNvPr>
          <p:cNvSpPr/>
          <p:nvPr/>
        </p:nvSpPr>
        <p:spPr>
          <a:xfrm>
            <a:off x="190661" y="527146"/>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400" b="1" dirty="0" smtClean="0">
                <a:solidFill>
                  <a:srgbClr val="C00000"/>
                </a:solidFill>
              </a:rPr>
              <a:t>Boîte </a:t>
            </a:r>
            <a:r>
              <a:rPr lang="fr-FR" sz="4400" b="1" dirty="0">
                <a:solidFill>
                  <a:srgbClr val="C00000"/>
                </a:solidFill>
              </a:rPr>
              <a:t>à </a:t>
            </a:r>
            <a:r>
              <a:rPr lang="fr-FR" sz="4400" b="1" dirty="0" err="1" smtClean="0">
                <a:solidFill>
                  <a:srgbClr val="C00000"/>
                </a:solidFill>
              </a:rPr>
              <a:t>moustaches:Exemple</a:t>
            </a:r>
            <a:endParaRPr lang="fr-FR" sz="4400" b="1" dirty="0">
              <a:solidFill>
                <a:srgbClr val="C00000"/>
              </a:solidFill>
            </a:endParaRPr>
          </a:p>
        </p:txBody>
      </p:sp>
    </p:spTree>
    <p:extLst>
      <p:ext uri="{BB962C8B-B14F-4D97-AF65-F5344CB8AC3E}">
        <p14:creationId xmlns:p14="http://schemas.microsoft.com/office/powerpoint/2010/main" val="3784067882"/>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p:cNvPicPr>
          <p:nvPr>
            <p:ph idx="1"/>
          </p:nvPr>
        </p:nvPicPr>
        <p:blipFill rotWithShape="1">
          <a:blip r:embed="rId2"/>
          <a:srcRect l="8102" t="24113" r="38658" b="12076"/>
          <a:stretch/>
        </p:blipFill>
        <p:spPr bwMode="auto">
          <a:xfrm>
            <a:off x="838200" y="1816200"/>
            <a:ext cx="6886641" cy="4540150"/>
          </a:xfrm>
          <a:prstGeom prst="rect">
            <a:avLst/>
          </a:prstGeom>
          <a:ln>
            <a:noFill/>
          </a:ln>
          <a:extLst>
            <a:ext uri="{53640926-AAD7-44D8-BBD7-CCE9431645EC}">
              <a14:shadowObscured xmlns:a14="http://schemas.microsoft.com/office/drawing/2010/main"/>
            </a:ext>
          </a:extLst>
        </p:spPr>
      </p:pic>
      <p:sp>
        <p:nvSpPr>
          <p:cNvPr id="3" name="Slide Number Placeholder 2"/>
          <p:cNvSpPr>
            <a:spLocks noGrp="1"/>
          </p:cNvSpPr>
          <p:nvPr>
            <p:ph type="sldNum" sz="quarter" idx="12"/>
          </p:nvPr>
        </p:nvSpPr>
        <p:spPr/>
        <p:txBody>
          <a:bodyPr/>
          <a:lstStyle/>
          <a:p>
            <a:fld id="{8999C353-CD5F-45DD-824D-F1684B269FE6}" type="slidenum">
              <a:rPr lang="fr-FR" smtClean="0"/>
              <a:pPr/>
              <a:t>31</a:t>
            </a:fld>
            <a:endParaRPr lang="fr-FR" dirty="0"/>
          </a:p>
        </p:txBody>
      </p:sp>
      <p:sp>
        <p:nvSpPr>
          <p:cNvPr id="2" name="Rectangle : coins arrondis 1">
            <a:extLst>
              <a:ext uri="{FF2B5EF4-FFF2-40B4-BE49-F238E27FC236}">
                <a16:creationId xmlns:a16="http://schemas.microsoft.com/office/drawing/2014/main" xmlns="" id="{6C1F5FD3-C75D-405D-8BB1-95C44FDDE26D}"/>
              </a:ext>
            </a:extLst>
          </p:cNvPr>
          <p:cNvSpPr/>
          <p:nvPr/>
        </p:nvSpPr>
        <p:spPr>
          <a:xfrm>
            <a:off x="590550" y="1323975"/>
            <a:ext cx="11087260" cy="523169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xmlns="" id="{8A4A19AF-6AB0-4192-B558-8FB11BF406C3}"/>
              </a:ext>
            </a:extLst>
          </p:cNvPr>
          <p:cNvSpPr txBox="1"/>
          <p:nvPr/>
        </p:nvSpPr>
        <p:spPr>
          <a:xfrm>
            <a:off x="7724841" y="2252575"/>
            <a:ext cx="3667125" cy="3139321"/>
          </a:xfrm>
          <a:prstGeom prst="rect">
            <a:avLst/>
          </a:prstGeom>
          <a:noFill/>
        </p:spPr>
        <p:txBody>
          <a:bodyPr wrap="square" rtlCol="0">
            <a:spAutoFit/>
          </a:bodyPr>
          <a:lstStyle/>
          <a:p>
            <a:r>
              <a:rPr lang="fr-FR" dirty="0">
                <a:cs typeface="Arial" panose="020B0604020202020204" pitchFamily="34" charset="0"/>
              </a:rPr>
              <a:t>Sur cette visualisation des données, l</a:t>
            </a:r>
            <a:r>
              <a:rPr lang="fr-FR" b="1" dirty="0">
                <a:cs typeface="Arial" panose="020B0604020202020204" pitchFamily="34" charset="0"/>
              </a:rPr>
              <a:t>es valeurs aberrantes sont représentés sous forme de points</a:t>
            </a:r>
            <a:r>
              <a:rPr lang="fr-FR" dirty="0">
                <a:cs typeface="Arial" panose="020B0604020202020204" pitchFamily="34" charset="0"/>
              </a:rPr>
              <a:t>. Ils correspondent à des observations dont les valeurs sont :</a:t>
            </a:r>
          </a:p>
          <a:p>
            <a:r>
              <a:rPr lang="fr-FR" b="1" dirty="0">
                <a:cs typeface="Arial" panose="020B0604020202020204" pitchFamily="34" charset="0"/>
              </a:rPr>
              <a:t>supérieures à la valeur du 3ème quartile plus 1.5 fois l’intervalle </a:t>
            </a:r>
            <a:r>
              <a:rPr lang="fr-FR" b="1" dirty="0" err="1">
                <a:cs typeface="Arial" panose="020B0604020202020204" pitchFamily="34" charset="0"/>
              </a:rPr>
              <a:t>inter-quartile</a:t>
            </a:r>
            <a:r>
              <a:rPr lang="fr-FR" b="1" dirty="0">
                <a:cs typeface="Arial" panose="020B0604020202020204" pitchFamily="34" charset="0"/>
              </a:rPr>
              <a:t>,</a:t>
            </a:r>
            <a:r>
              <a:rPr lang="fr-FR" dirty="0">
                <a:cs typeface="Arial" panose="020B0604020202020204" pitchFamily="34" charset="0"/>
              </a:rPr>
              <a:t> </a:t>
            </a:r>
            <a:r>
              <a:rPr lang="fr-FR" b="1" dirty="0">
                <a:cs typeface="Arial" panose="020B0604020202020204" pitchFamily="34" charset="0"/>
              </a:rPr>
              <a:t>ou inférieures à la valeur du 1er quartile moins 1.5 fois l’intervalle </a:t>
            </a:r>
            <a:r>
              <a:rPr lang="fr-FR" b="1" dirty="0" err="1">
                <a:cs typeface="Arial" panose="020B0604020202020204" pitchFamily="34" charset="0"/>
              </a:rPr>
              <a:t>inter-quartile</a:t>
            </a:r>
            <a:r>
              <a:rPr lang="fr-FR" b="1" dirty="0">
                <a:cs typeface="Arial" panose="020B0604020202020204" pitchFamily="34" charset="0"/>
              </a:rPr>
              <a:t>.</a:t>
            </a:r>
            <a:endParaRPr lang="fr-FR" dirty="0">
              <a:cs typeface="Arial" panose="020B0604020202020204" pitchFamily="34" charset="0"/>
            </a:endParaRPr>
          </a:p>
          <a:p>
            <a:endParaRPr lang="fr-FR" dirty="0"/>
          </a:p>
        </p:txBody>
      </p:sp>
      <p:sp>
        <p:nvSpPr>
          <p:cNvPr id="8" name="Rectangle : coins arrondis 5">
            <a:extLst>
              <a:ext uri="{FF2B5EF4-FFF2-40B4-BE49-F238E27FC236}">
                <a16:creationId xmlns:a16="http://schemas.microsoft.com/office/drawing/2014/main" xmlns="" id="{7D24254B-E1F9-4204-90D2-CC9D48C99128}"/>
              </a:ext>
            </a:extLst>
          </p:cNvPr>
          <p:cNvSpPr/>
          <p:nvPr/>
        </p:nvSpPr>
        <p:spPr>
          <a:xfrm>
            <a:off x="190661" y="527146"/>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400" b="1" dirty="0" smtClean="0">
                <a:solidFill>
                  <a:srgbClr val="C00000"/>
                </a:solidFill>
              </a:rPr>
              <a:t>Boîte </a:t>
            </a:r>
            <a:r>
              <a:rPr lang="fr-FR" sz="4400" b="1" dirty="0">
                <a:solidFill>
                  <a:srgbClr val="C00000"/>
                </a:solidFill>
              </a:rPr>
              <a:t>à </a:t>
            </a:r>
            <a:r>
              <a:rPr lang="fr-FR" sz="4400" b="1" dirty="0" err="1" smtClean="0">
                <a:solidFill>
                  <a:srgbClr val="C00000"/>
                </a:solidFill>
              </a:rPr>
              <a:t>moustaches:Exemple</a:t>
            </a:r>
            <a:endParaRPr lang="fr-FR" sz="4400" b="1" dirty="0">
              <a:solidFill>
                <a:srgbClr val="C00000"/>
              </a:solidFill>
            </a:endParaRPr>
          </a:p>
        </p:txBody>
      </p:sp>
    </p:spTree>
    <p:extLst>
      <p:ext uri="{BB962C8B-B14F-4D97-AF65-F5344CB8AC3E}">
        <p14:creationId xmlns:p14="http://schemas.microsoft.com/office/powerpoint/2010/main" val="1904497870"/>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pPr marL="0" indent="0">
                  <a:buNone/>
                </a:pPr>
                <a:r>
                  <a:rPr lang="fr-FR" sz="3200" dirty="0" smtClean="0">
                    <a:cs typeface="Times New Roman" pitchFamily="18" charset="0"/>
                  </a:rPr>
                  <a:t>Le Z-score ; calculé statistiquement en se basant sur la valeur assigné (référence). Soit la variable aléatoire </a:t>
                </a:r>
                <a14:m>
                  <m:oMath xmlns:m="http://schemas.openxmlformats.org/officeDocument/2006/math">
                    <m:r>
                      <a:rPr lang="fr-FR" sz="3200" b="0" i="1" smtClean="0">
                        <a:latin typeface="Cambria Math" panose="02040503050406030204" pitchFamily="18" charset="0"/>
                        <a:cs typeface="Times New Roman" pitchFamily="18" charset="0"/>
                      </a:rPr>
                      <m:t>𝑋</m:t>
                    </m:r>
                    <m:r>
                      <a:rPr lang="fr-FR" sz="3200" b="0" i="1" smtClean="0">
                        <a:latin typeface="Cambria Math" panose="02040503050406030204" pitchFamily="18" charset="0"/>
                        <a:ea typeface="Cambria Math" panose="02040503050406030204" pitchFamily="18" charset="0"/>
                        <a:cs typeface="Times New Roman" pitchFamily="18" charset="0"/>
                      </a:rPr>
                      <m:t>~</m:t>
                    </m:r>
                    <m:r>
                      <a:rPr lang="fr-FR" sz="3200" b="0" i="1" smtClean="0">
                        <a:latin typeface="Cambria Math" panose="02040503050406030204" pitchFamily="18" charset="0"/>
                        <a:ea typeface="Cambria Math" panose="02040503050406030204" pitchFamily="18" charset="0"/>
                        <a:cs typeface="Times New Roman" pitchFamily="18" charset="0"/>
                      </a:rPr>
                      <m:t>𝑁</m:t>
                    </m:r>
                    <m:d>
                      <m:dPr>
                        <m:ctrlPr>
                          <a:rPr lang="fr-FR" sz="3200" b="0" i="1" smtClean="0">
                            <a:latin typeface="Cambria Math" panose="02040503050406030204" pitchFamily="18" charset="0"/>
                            <a:ea typeface="Cambria Math" panose="02040503050406030204" pitchFamily="18" charset="0"/>
                            <a:cs typeface="Times New Roman" pitchFamily="18" charset="0"/>
                          </a:rPr>
                        </m:ctrlPr>
                      </m:dPr>
                      <m:e>
                        <m:r>
                          <a:rPr lang="fr-FR" sz="3200" b="0" i="1" smtClean="0">
                            <a:latin typeface="Cambria Math" panose="02040503050406030204" pitchFamily="18" charset="0"/>
                            <a:ea typeface="Cambria Math" panose="02040503050406030204" pitchFamily="18" charset="0"/>
                            <a:cs typeface="Times New Roman" pitchFamily="18" charset="0"/>
                          </a:rPr>
                          <m:t>𝜇</m:t>
                        </m:r>
                        <m:r>
                          <a:rPr lang="fr-FR" sz="3200" b="0" i="1" smtClean="0">
                            <a:latin typeface="Cambria Math" panose="02040503050406030204" pitchFamily="18" charset="0"/>
                            <a:ea typeface="Cambria Math" panose="02040503050406030204" pitchFamily="18" charset="0"/>
                            <a:cs typeface="Times New Roman" pitchFamily="18" charset="0"/>
                          </a:rPr>
                          <m:t>,</m:t>
                        </m:r>
                        <m:r>
                          <a:rPr lang="fr-FR" sz="3200" b="0" i="1" smtClean="0">
                            <a:latin typeface="Cambria Math" panose="02040503050406030204" pitchFamily="18" charset="0"/>
                            <a:ea typeface="Cambria Math" panose="02040503050406030204" pitchFamily="18" charset="0"/>
                            <a:cs typeface="Times New Roman" pitchFamily="18" charset="0"/>
                          </a:rPr>
                          <m:t>𝜎</m:t>
                        </m:r>
                      </m:e>
                    </m:d>
                    <m:r>
                      <a:rPr lang="fr-FR" sz="3200" b="0" i="1" smtClean="0">
                        <a:latin typeface="Cambria Math" panose="02040503050406030204" pitchFamily="18" charset="0"/>
                        <a:ea typeface="Cambria Math" panose="02040503050406030204" pitchFamily="18" charset="0"/>
                        <a:cs typeface="Times New Roman" pitchFamily="18" charset="0"/>
                      </a:rPr>
                      <m:t>.</m:t>
                    </m:r>
                  </m:oMath>
                </a14:m>
                <a:endParaRPr lang="fr-FR" sz="3200" dirty="0" smtClean="0">
                  <a:cs typeface="Times New Roman" pitchFamily="18" charset="0"/>
                </a:endParaRPr>
              </a:p>
              <a:p>
                <a:pPr marL="0" indent="0">
                  <a:buNone/>
                </a:pPr>
                <a:r>
                  <a:rPr lang="fr-FR" sz="3200" dirty="0" smtClean="0"/>
                  <a:t>Le Z </a:t>
                </a:r>
                <a:r>
                  <a:rPr lang="fr-FR" sz="3200" dirty="0"/>
                  <a:t>score </a:t>
                </a:r>
                <a:r>
                  <a:rPr lang="fr-FR" sz="3200" dirty="0" smtClean="0"/>
                  <a:t>est calculé comme suit:</a:t>
                </a:r>
              </a:p>
              <a:p>
                <a:pPr marL="0" indent="0">
                  <a:buNone/>
                </a:pPr>
                <a:endParaRPr lang="fr-FR" sz="3200" dirty="0" smtClean="0"/>
              </a:p>
              <a:p>
                <a:pPr marL="0" indent="0">
                  <a:buNone/>
                </a:pPr>
                <a14:m>
                  <m:oMathPara xmlns:m="http://schemas.openxmlformats.org/officeDocument/2006/math">
                    <m:oMathParaPr>
                      <m:jc m:val="centerGroup"/>
                    </m:oMathParaPr>
                    <m:oMath xmlns:m="http://schemas.openxmlformats.org/officeDocument/2006/math">
                      <m:sSub>
                        <m:sSubPr>
                          <m:ctrlPr>
                            <a:rPr lang="fr-FR" sz="3200" i="1" smtClean="0">
                              <a:latin typeface="Cambria Math" panose="02040503050406030204" pitchFamily="18" charset="0"/>
                            </a:rPr>
                          </m:ctrlPr>
                        </m:sSubPr>
                        <m:e>
                          <m:r>
                            <a:rPr lang="fr-FR" sz="3200" b="0" i="1" smtClean="0">
                              <a:latin typeface="Cambria Math" panose="02040503050406030204" pitchFamily="18" charset="0"/>
                            </a:rPr>
                            <m:t>𝑍</m:t>
                          </m:r>
                        </m:e>
                        <m:sub>
                          <m:r>
                            <a:rPr lang="fr-FR" sz="3200" b="0" i="1" smtClean="0">
                              <a:latin typeface="Cambria Math" panose="02040503050406030204" pitchFamily="18" charset="0"/>
                            </a:rPr>
                            <m:t>𝑠𝑐𝑜𝑟𝑒</m:t>
                          </m:r>
                        </m:sub>
                      </m:sSub>
                      <m:r>
                        <a:rPr lang="fr-FR" sz="3200" b="0" i="1" smtClean="0">
                          <a:latin typeface="Cambria Math" panose="02040503050406030204" pitchFamily="18" charset="0"/>
                        </a:rPr>
                        <m:t>=</m:t>
                      </m:r>
                      <m:f>
                        <m:fPr>
                          <m:ctrlPr>
                            <a:rPr lang="fr-FR" sz="3200" b="0" i="1" smtClean="0">
                              <a:latin typeface="Cambria Math" panose="02040503050406030204" pitchFamily="18" charset="0"/>
                            </a:rPr>
                          </m:ctrlPr>
                        </m:fPr>
                        <m:num>
                          <m:r>
                            <a:rPr lang="fr-FR" sz="3200" b="0" i="1" smtClean="0">
                              <a:latin typeface="Cambria Math" panose="02040503050406030204" pitchFamily="18" charset="0"/>
                            </a:rPr>
                            <m:t>𝑥</m:t>
                          </m:r>
                          <m:r>
                            <a:rPr lang="fr-FR" sz="3200" b="0" i="1" smtClean="0">
                              <a:latin typeface="Cambria Math" panose="02040503050406030204" pitchFamily="18" charset="0"/>
                            </a:rPr>
                            <m:t>−</m:t>
                          </m:r>
                          <m:r>
                            <a:rPr lang="fr-FR" sz="3200" b="0" i="1" smtClean="0">
                              <a:latin typeface="Cambria Math" panose="02040503050406030204" pitchFamily="18" charset="0"/>
                              <a:ea typeface="Cambria Math" panose="02040503050406030204" pitchFamily="18" charset="0"/>
                            </a:rPr>
                            <m:t>𝜇</m:t>
                          </m:r>
                        </m:num>
                        <m:den>
                          <m:r>
                            <a:rPr lang="fr-FR" sz="3200" b="0" i="1" smtClean="0">
                              <a:latin typeface="Cambria Math" panose="02040503050406030204" pitchFamily="18" charset="0"/>
                              <a:ea typeface="Cambria Math" panose="02040503050406030204" pitchFamily="18" charset="0"/>
                            </a:rPr>
                            <m:t>𝜎</m:t>
                          </m:r>
                        </m:den>
                      </m:f>
                    </m:oMath>
                  </m:oMathPara>
                </a14:m>
                <a:endParaRPr lang="fr-FR" sz="3200" dirty="0" smtClean="0"/>
              </a:p>
              <a:p>
                <a:pPr marL="0" indent="0">
                  <a:buNone/>
                </a:pPr>
                <a:r>
                  <a:rPr lang="fr-FR" sz="3200" dirty="0" smtClean="0"/>
                  <a:t>Avec;</a:t>
                </a:r>
              </a:p>
              <a:p>
                <a:pPr marL="0" indent="0">
                  <a:buNone/>
                </a:pPr>
                <a14:m>
                  <m:oMath xmlns:m="http://schemas.openxmlformats.org/officeDocument/2006/math">
                    <m:r>
                      <a:rPr lang="fr-FR" sz="3200" i="1">
                        <a:latin typeface="Cambria Math" panose="02040503050406030204" pitchFamily="18" charset="0"/>
                      </a:rPr>
                      <m:t>𝑥</m:t>
                    </m:r>
                  </m:oMath>
                </a14:m>
                <a:r>
                  <a:rPr lang="fr-FR" sz="3200" dirty="0" smtClean="0"/>
                  <a:t>: La valeur de mesure</a:t>
                </a:r>
              </a:p>
              <a:p>
                <a:pPr marL="0" indent="0">
                  <a:buNone/>
                </a:pPr>
                <a14:m>
                  <m:oMath xmlns:m="http://schemas.openxmlformats.org/officeDocument/2006/math">
                    <m:r>
                      <a:rPr lang="fr-FR" sz="3200" i="1">
                        <a:latin typeface="Cambria Math" panose="02040503050406030204" pitchFamily="18" charset="0"/>
                        <a:ea typeface="Cambria Math" panose="02040503050406030204" pitchFamily="18" charset="0"/>
                      </a:rPr>
                      <m:t>𝜇</m:t>
                    </m:r>
                  </m:oMath>
                </a14:m>
                <a:r>
                  <a:rPr lang="fr-FR" sz="3200" dirty="0" smtClean="0"/>
                  <a:t>: La moyenne de mesure</a:t>
                </a:r>
              </a:p>
              <a:p>
                <a:pPr marL="0" indent="0">
                  <a:buNone/>
                </a:pPr>
                <a14:m>
                  <m:oMath xmlns:m="http://schemas.openxmlformats.org/officeDocument/2006/math">
                    <m:r>
                      <a:rPr lang="fr-FR" sz="3200" i="1">
                        <a:latin typeface="Cambria Math" panose="02040503050406030204" pitchFamily="18" charset="0"/>
                        <a:ea typeface="Cambria Math" panose="02040503050406030204" pitchFamily="18" charset="0"/>
                      </a:rPr>
                      <m:t>𝜎</m:t>
                    </m:r>
                  </m:oMath>
                </a14:m>
                <a:r>
                  <a:rPr lang="fr-FR" sz="3200" dirty="0" smtClean="0"/>
                  <a:t>: l’écart type</a:t>
                </a:r>
              </a:p>
              <a:p>
                <a:pPr marL="0" indent="0">
                  <a:buNone/>
                </a:pPr>
                <a:endParaRPr lang="fr-FR" sz="3200" dirty="0" smtClean="0"/>
              </a:p>
              <a:p>
                <a:pPr marL="0" indent="0">
                  <a:buNone/>
                </a:pPr>
                <a:endParaRPr lang="fr-FR" sz="3200" dirty="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391" t="-4482"/>
                </a:stretch>
              </a:blipFill>
            </p:spPr>
            <p:txBody>
              <a:bodyPr/>
              <a:lstStyle/>
              <a:p>
                <a:r>
                  <a:rPr lang="fr-FR">
                    <a:noFill/>
                  </a:rPr>
                  <a:t> </a:t>
                </a:r>
              </a:p>
            </p:txBody>
          </p:sp>
        </mc:Fallback>
      </mc:AlternateContent>
      <p:sp>
        <p:nvSpPr>
          <p:cNvPr id="6" name="Slide Number Placeholder 2"/>
          <p:cNvSpPr>
            <a:spLocks noGrp="1"/>
          </p:cNvSpPr>
          <p:nvPr>
            <p:ph type="sldNum" sz="quarter" idx="12"/>
          </p:nvPr>
        </p:nvSpPr>
        <p:spPr>
          <a:xfrm>
            <a:off x="8610599" y="6387921"/>
            <a:ext cx="2761445" cy="333554"/>
          </a:xfrm>
        </p:spPr>
        <p:txBody>
          <a:bodyPr/>
          <a:lstStyle/>
          <a:p>
            <a:r>
              <a:rPr lang="fr-FR" dirty="0" smtClean="0"/>
              <a:t>22</a:t>
            </a:r>
            <a:endParaRPr lang="fr-FR" dirty="0"/>
          </a:p>
        </p:txBody>
      </p:sp>
      <p:sp>
        <p:nvSpPr>
          <p:cNvPr id="5" name="Rectangle : coins arrondis 5">
            <a:extLst>
              <a:ext uri="{FF2B5EF4-FFF2-40B4-BE49-F238E27FC236}">
                <a16:creationId xmlns:a16="http://schemas.microsoft.com/office/drawing/2014/main" xmlns="" id="{7D24254B-E1F9-4204-90D2-CC9D48C99128}"/>
              </a:ext>
            </a:extLst>
          </p:cNvPr>
          <p:cNvSpPr/>
          <p:nvPr/>
        </p:nvSpPr>
        <p:spPr>
          <a:xfrm>
            <a:off x="190661" y="527146"/>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400" b="1" dirty="0" smtClean="0">
                <a:solidFill>
                  <a:srgbClr val="C00000"/>
                </a:solidFill>
              </a:rPr>
              <a:t>Détection analytique: Z-Score</a:t>
            </a:r>
            <a:endParaRPr lang="fr-FR" sz="4400" b="1" dirty="0">
              <a:solidFill>
                <a:srgbClr val="C00000"/>
              </a:solidFill>
            </a:endParaRPr>
          </a:p>
        </p:txBody>
      </p:sp>
    </p:spTree>
    <p:extLst>
      <p:ext uri="{BB962C8B-B14F-4D97-AF65-F5344CB8AC3E}">
        <p14:creationId xmlns:p14="http://schemas.microsoft.com/office/powerpoint/2010/main" val="2851881265"/>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rotWithShape="1">
          <a:blip r:embed="rId2"/>
          <a:stretch/>
        </p:blipFill>
        <p:spPr bwMode="auto">
          <a:xfrm>
            <a:off x="2226255" y="1825625"/>
            <a:ext cx="7739489" cy="4351338"/>
          </a:xfrm>
          <a:prstGeom prst="rect">
            <a:avLst/>
          </a:prstGeom>
          <a:ln>
            <a:noFill/>
          </a:ln>
          <a:extLst>
            <a:ext uri="{53640926-AAD7-44D8-BBD7-CCE9431645EC}">
              <a14:shadowObscured xmlns:a14="http://schemas.microsoft.com/office/drawing/2010/main"/>
            </a:ext>
          </a:extLst>
        </p:spPr>
      </p:pic>
      <p:sp>
        <p:nvSpPr>
          <p:cNvPr id="6" name="Slide Number Placeholder 2"/>
          <p:cNvSpPr>
            <a:spLocks noGrp="1"/>
          </p:cNvSpPr>
          <p:nvPr>
            <p:ph type="sldNum" sz="quarter" idx="12"/>
          </p:nvPr>
        </p:nvSpPr>
        <p:spPr>
          <a:xfrm>
            <a:off x="8610599" y="6387921"/>
            <a:ext cx="2761445" cy="333554"/>
          </a:xfrm>
        </p:spPr>
        <p:txBody>
          <a:bodyPr/>
          <a:lstStyle/>
          <a:p>
            <a:r>
              <a:rPr lang="fr-FR" dirty="0" smtClean="0"/>
              <a:t>23</a:t>
            </a:r>
            <a:endParaRPr lang="fr-FR" dirty="0"/>
          </a:p>
        </p:txBody>
      </p:sp>
      <p:sp>
        <p:nvSpPr>
          <p:cNvPr id="7" name="Rectangle : coins arrondis 5">
            <a:extLst>
              <a:ext uri="{FF2B5EF4-FFF2-40B4-BE49-F238E27FC236}">
                <a16:creationId xmlns:a16="http://schemas.microsoft.com/office/drawing/2014/main" xmlns="" id="{7D24254B-E1F9-4204-90D2-CC9D48C99128}"/>
              </a:ext>
            </a:extLst>
          </p:cNvPr>
          <p:cNvSpPr/>
          <p:nvPr/>
        </p:nvSpPr>
        <p:spPr>
          <a:xfrm>
            <a:off x="190661" y="527146"/>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400" b="1" dirty="0" smtClean="0">
                <a:solidFill>
                  <a:srgbClr val="C00000"/>
                </a:solidFill>
              </a:rPr>
              <a:t>Détection analytique: Z-Score</a:t>
            </a:r>
            <a:endParaRPr lang="fr-FR" sz="4400" b="1" dirty="0">
              <a:solidFill>
                <a:srgbClr val="C00000"/>
              </a:solidFill>
            </a:endParaRPr>
          </a:p>
        </p:txBody>
      </p:sp>
    </p:spTree>
    <p:extLst>
      <p:ext uri="{BB962C8B-B14F-4D97-AF65-F5344CB8AC3E}">
        <p14:creationId xmlns:p14="http://schemas.microsoft.com/office/powerpoint/2010/main" val="1462674967"/>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pPr marL="0" indent="0">
                  <a:buNone/>
                </a:pPr>
                <a:r>
                  <a:rPr lang="fr-FR" sz="3200" dirty="0" smtClean="0">
                    <a:cs typeface="Times New Roman" pitchFamily="18" charset="0"/>
                  </a:rPr>
                  <a:t>Soit un ensemble de données </a:t>
                </a:r>
                <a14:m>
                  <m:oMath xmlns:m="http://schemas.openxmlformats.org/officeDocument/2006/math">
                    <m:sSub>
                      <m:sSubPr>
                        <m:ctrlPr>
                          <a:rPr lang="fr-FR" sz="3200" i="1" smtClean="0">
                            <a:latin typeface="Cambria Math" panose="02040503050406030204" pitchFamily="18" charset="0"/>
                            <a:cs typeface="Times New Roman" pitchFamily="18" charset="0"/>
                          </a:rPr>
                        </m:ctrlPr>
                      </m:sSubPr>
                      <m:e>
                        <m:r>
                          <a:rPr lang="fr-FR" sz="3200" b="0" i="1" smtClean="0">
                            <a:latin typeface="Cambria Math" panose="02040503050406030204" pitchFamily="18" charset="0"/>
                            <a:cs typeface="Times New Roman" pitchFamily="18" charset="0"/>
                          </a:rPr>
                          <m:t>𝑥</m:t>
                        </m:r>
                      </m:e>
                      <m:sub>
                        <m:r>
                          <a:rPr lang="fr-FR" sz="3200" b="0" i="1" smtClean="0">
                            <a:latin typeface="Cambria Math" panose="02040503050406030204" pitchFamily="18" charset="0"/>
                            <a:cs typeface="Times New Roman" pitchFamily="18" charset="0"/>
                          </a:rPr>
                          <m:t>𝑖</m:t>
                        </m:r>
                      </m:sub>
                    </m:sSub>
                    <m:r>
                      <a:rPr lang="fr-FR" sz="3200" b="0" i="1" smtClean="0">
                        <a:latin typeface="Cambria Math" panose="02040503050406030204" pitchFamily="18" charset="0"/>
                        <a:cs typeface="Times New Roman" pitchFamily="18" charset="0"/>
                      </a:rPr>
                      <m:t> </m:t>
                    </m:r>
                  </m:oMath>
                </a14:m>
                <a:r>
                  <a:rPr lang="fr-FR" sz="3200" dirty="0" smtClean="0">
                    <a:cs typeface="Times New Roman" pitchFamily="18" charset="0"/>
                  </a:rPr>
                  <a:t>pour </a:t>
                </a:r>
                <a:r>
                  <a:rPr lang="fr-FR" sz="3200" dirty="0">
                    <a:cs typeface="Times New Roman" pitchFamily="18" charset="0"/>
                  </a:rPr>
                  <a:t>i = 1, 2, . . . . p, rangées en ordre croissant, alors pour déterminer si la plus grande observation est une valeur aberrante en utilisant le test de </a:t>
                </a:r>
                <a:r>
                  <a:rPr lang="fr-FR" sz="3200" dirty="0" err="1">
                    <a:cs typeface="Times New Roman" pitchFamily="18" charset="0"/>
                  </a:rPr>
                  <a:t>Grubbs</a:t>
                </a:r>
                <a:r>
                  <a:rPr lang="fr-FR" sz="3200" dirty="0">
                    <a:cs typeface="Times New Roman" pitchFamily="18" charset="0"/>
                  </a:rPr>
                  <a:t>, calculer la statistique de </a:t>
                </a:r>
                <a:r>
                  <a:rPr lang="fr-FR" sz="3200" dirty="0" err="1">
                    <a:cs typeface="Times New Roman" pitchFamily="18" charset="0"/>
                  </a:rPr>
                  <a:t>Grubbs</a:t>
                </a:r>
                <a:r>
                  <a:rPr lang="fr-FR" sz="3200" dirty="0">
                    <a:cs typeface="Times New Roman" pitchFamily="18" charset="0"/>
                  </a:rPr>
                  <a:t>, Gp </a:t>
                </a:r>
                <a:r>
                  <a:rPr lang="fr-FR" sz="3200" dirty="0" smtClean="0">
                    <a:cs typeface="Times New Roman" pitchFamily="18" charset="0"/>
                  </a:rPr>
                  <a:t>:</a:t>
                </a:r>
              </a:p>
              <a:p>
                <a:pPr marL="0" indent="0">
                  <a:buNone/>
                </a:pPr>
                <a:endParaRPr lang="fr-FR" sz="3200" dirty="0" smtClean="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fr-FR" sz="3200" i="1" smtClean="0">
                              <a:latin typeface="Cambria Math" panose="02040503050406030204" pitchFamily="18" charset="0"/>
                              <a:cs typeface="Times New Roman" pitchFamily="18" charset="0"/>
                            </a:rPr>
                          </m:ctrlPr>
                        </m:sSubPr>
                        <m:e>
                          <m:r>
                            <a:rPr lang="fr-FR" sz="3200" b="0" i="1" smtClean="0">
                              <a:latin typeface="Cambria Math" panose="02040503050406030204" pitchFamily="18" charset="0"/>
                              <a:cs typeface="Times New Roman" pitchFamily="18" charset="0"/>
                            </a:rPr>
                            <m:t>𝐺</m:t>
                          </m:r>
                        </m:e>
                        <m:sub>
                          <m:r>
                            <a:rPr lang="fr-FR" sz="3200" b="0" i="1" smtClean="0">
                              <a:latin typeface="Cambria Math" panose="02040503050406030204" pitchFamily="18" charset="0"/>
                              <a:cs typeface="Times New Roman" pitchFamily="18" charset="0"/>
                            </a:rPr>
                            <m:t>𝑝</m:t>
                          </m:r>
                        </m:sub>
                      </m:sSub>
                      <m:r>
                        <a:rPr lang="fr-FR" sz="3200" b="0" i="1" smtClean="0">
                          <a:latin typeface="Cambria Math" panose="02040503050406030204" pitchFamily="18" charset="0"/>
                          <a:cs typeface="Times New Roman" pitchFamily="18" charset="0"/>
                        </a:rPr>
                        <m:t>=</m:t>
                      </m:r>
                      <m:f>
                        <m:fPr>
                          <m:ctrlPr>
                            <a:rPr lang="fr-FR" sz="3200" b="0" i="1" smtClean="0">
                              <a:latin typeface="Cambria Math" panose="02040503050406030204" pitchFamily="18" charset="0"/>
                              <a:cs typeface="Times New Roman" pitchFamily="18" charset="0"/>
                            </a:rPr>
                          </m:ctrlPr>
                        </m:fPr>
                        <m:num>
                          <m:r>
                            <a:rPr lang="fr-FR" sz="3200" b="0" i="1" smtClean="0">
                              <a:latin typeface="Cambria Math" panose="02040503050406030204" pitchFamily="18" charset="0"/>
                              <a:cs typeface="Times New Roman" pitchFamily="18" charset="0"/>
                            </a:rPr>
                            <m:t>(</m:t>
                          </m:r>
                          <m:sSub>
                            <m:sSubPr>
                              <m:ctrlPr>
                                <a:rPr lang="fr-FR" sz="3200" b="0" i="1" smtClean="0">
                                  <a:latin typeface="Cambria Math" panose="02040503050406030204" pitchFamily="18" charset="0"/>
                                  <a:cs typeface="Times New Roman" pitchFamily="18" charset="0"/>
                                </a:rPr>
                              </m:ctrlPr>
                            </m:sSubPr>
                            <m:e>
                              <m:r>
                                <a:rPr lang="fr-FR" sz="3200" b="0" i="1" smtClean="0">
                                  <a:latin typeface="Cambria Math" panose="02040503050406030204" pitchFamily="18" charset="0"/>
                                  <a:cs typeface="Times New Roman" pitchFamily="18" charset="0"/>
                                </a:rPr>
                                <m:t>𝑥</m:t>
                              </m:r>
                            </m:e>
                            <m:sub>
                              <m:r>
                                <a:rPr lang="fr-FR" sz="3200" b="0" i="1" smtClean="0">
                                  <a:latin typeface="Cambria Math" panose="02040503050406030204" pitchFamily="18" charset="0"/>
                                  <a:cs typeface="Times New Roman" pitchFamily="18" charset="0"/>
                                </a:rPr>
                                <m:t>𝑝</m:t>
                              </m:r>
                            </m:sub>
                          </m:sSub>
                          <m:r>
                            <a:rPr lang="fr-FR" sz="3200" b="0" i="1" smtClean="0">
                              <a:latin typeface="Cambria Math" panose="02040503050406030204" pitchFamily="18" charset="0"/>
                              <a:cs typeface="Times New Roman" pitchFamily="18" charset="0"/>
                            </a:rPr>
                            <m:t>−</m:t>
                          </m:r>
                          <m:acc>
                            <m:accPr>
                              <m:chr m:val="̅"/>
                              <m:ctrlPr>
                                <a:rPr lang="fr-FR" sz="3200" b="0" i="1" smtClean="0">
                                  <a:latin typeface="Cambria Math" panose="02040503050406030204" pitchFamily="18" charset="0"/>
                                  <a:cs typeface="Times New Roman" pitchFamily="18" charset="0"/>
                                </a:rPr>
                              </m:ctrlPr>
                            </m:accPr>
                            <m:e>
                              <m:r>
                                <a:rPr lang="fr-FR" sz="3200" b="0" i="1" smtClean="0">
                                  <a:latin typeface="Cambria Math" panose="02040503050406030204" pitchFamily="18" charset="0"/>
                                  <a:cs typeface="Times New Roman" pitchFamily="18" charset="0"/>
                                </a:rPr>
                                <m:t>𝑥</m:t>
                              </m:r>
                            </m:e>
                          </m:acc>
                          <m:r>
                            <a:rPr lang="fr-FR" sz="3200" b="0" i="1" smtClean="0">
                              <a:latin typeface="Cambria Math" panose="02040503050406030204" pitchFamily="18" charset="0"/>
                              <a:cs typeface="Times New Roman" pitchFamily="18" charset="0"/>
                            </a:rPr>
                            <m:t>)</m:t>
                          </m:r>
                        </m:num>
                        <m:den>
                          <m:r>
                            <a:rPr lang="fr-FR" sz="3200" b="0" i="1" smtClean="0">
                              <a:latin typeface="Cambria Math" panose="02040503050406030204" pitchFamily="18" charset="0"/>
                              <a:ea typeface="Cambria Math" panose="02040503050406030204" pitchFamily="18" charset="0"/>
                              <a:cs typeface="Times New Roman" pitchFamily="18" charset="0"/>
                            </a:rPr>
                            <m:t>𝜎</m:t>
                          </m:r>
                        </m:den>
                      </m:f>
                    </m:oMath>
                  </m:oMathPara>
                </a14:m>
                <a:endParaRPr lang="fr-FR" sz="3200" dirty="0" smtClean="0">
                  <a:cs typeface="Times New Roman" pitchFamily="18" charset="0"/>
                </a:endParaRPr>
              </a:p>
              <a:p>
                <a:pPr marL="0" indent="0">
                  <a:buNone/>
                </a:pPr>
                <a:r>
                  <a:rPr lang="fr-FR" sz="3200" dirty="0" smtClean="0">
                    <a:cs typeface="Times New Roman" pitchFamily="18" charset="0"/>
                  </a:rPr>
                  <a:t>Où:</a:t>
                </a:r>
              </a:p>
              <a:p>
                <a:pPr marL="0" indent="0">
                  <a:buNone/>
                </a:pPr>
                <a14:m>
                  <m:oMath xmlns:m="http://schemas.openxmlformats.org/officeDocument/2006/math">
                    <m:acc>
                      <m:accPr>
                        <m:chr m:val="̅"/>
                        <m:ctrlPr>
                          <a:rPr lang="fr-FR" sz="3200" i="1" smtClean="0">
                            <a:latin typeface="Cambria Math" panose="02040503050406030204" pitchFamily="18" charset="0"/>
                            <a:cs typeface="Times New Roman" pitchFamily="18" charset="0"/>
                          </a:rPr>
                        </m:ctrlPr>
                      </m:accPr>
                      <m:e>
                        <m:r>
                          <a:rPr lang="fr-FR" sz="3200" b="0" i="1" smtClean="0">
                            <a:latin typeface="Cambria Math" panose="02040503050406030204" pitchFamily="18" charset="0"/>
                            <a:cs typeface="Times New Roman" pitchFamily="18" charset="0"/>
                          </a:rPr>
                          <m:t>𝑥</m:t>
                        </m:r>
                      </m:e>
                    </m:acc>
                    <m:r>
                      <a:rPr lang="fr-FR" sz="3200" b="0" i="1" smtClean="0">
                        <a:latin typeface="Cambria Math" panose="02040503050406030204" pitchFamily="18" charset="0"/>
                        <a:cs typeface="Times New Roman" pitchFamily="18" charset="0"/>
                      </a:rPr>
                      <m:t>=</m:t>
                    </m:r>
                    <m:f>
                      <m:fPr>
                        <m:ctrlPr>
                          <a:rPr lang="fr-FR" sz="3200" b="0" i="1" smtClean="0">
                            <a:latin typeface="Cambria Math" panose="02040503050406030204" pitchFamily="18" charset="0"/>
                            <a:cs typeface="Times New Roman" pitchFamily="18" charset="0"/>
                          </a:rPr>
                        </m:ctrlPr>
                      </m:fPr>
                      <m:num>
                        <m:r>
                          <a:rPr lang="fr-FR" sz="3200" b="0" i="1" smtClean="0">
                            <a:latin typeface="Cambria Math" panose="02040503050406030204" pitchFamily="18" charset="0"/>
                            <a:cs typeface="Times New Roman" pitchFamily="18" charset="0"/>
                          </a:rPr>
                          <m:t>1</m:t>
                        </m:r>
                      </m:num>
                      <m:den>
                        <m:r>
                          <a:rPr lang="fr-FR" sz="3200" b="0" i="1" smtClean="0">
                            <a:latin typeface="Cambria Math" panose="02040503050406030204" pitchFamily="18" charset="0"/>
                            <a:cs typeface="Times New Roman" pitchFamily="18" charset="0"/>
                          </a:rPr>
                          <m:t>𝑝</m:t>
                        </m:r>
                      </m:den>
                    </m:f>
                    <m:nary>
                      <m:naryPr>
                        <m:chr m:val="∑"/>
                        <m:ctrlPr>
                          <a:rPr lang="fr-FR" sz="3200" b="0" i="1" smtClean="0">
                            <a:latin typeface="Cambria Math" panose="02040503050406030204" pitchFamily="18" charset="0"/>
                            <a:cs typeface="Times New Roman" pitchFamily="18" charset="0"/>
                          </a:rPr>
                        </m:ctrlPr>
                      </m:naryPr>
                      <m:sub>
                        <m:r>
                          <m:rPr>
                            <m:brk m:alnAt="23"/>
                          </m:rPr>
                          <a:rPr lang="fr-FR" sz="3200" b="0" i="1" smtClean="0">
                            <a:latin typeface="Cambria Math" panose="02040503050406030204" pitchFamily="18" charset="0"/>
                            <a:cs typeface="Times New Roman" pitchFamily="18" charset="0"/>
                          </a:rPr>
                          <m:t>𝑖</m:t>
                        </m:r>
                        <m:r>
                          <a:rPr lang="fr-FR" sz="3200" b="0" i="1" smtClean="0">
                            <a:latin typeface="Cambria Math" panose="02040503050406030204" pitchFamily="18" charset="0"/>
                            <a:cs typeface="Times New Roman" pitchFamily="18" charset="0"/>
                          </a:rPr>
                          <m:t>=1</m:t>
                        </m:r>
                      </m:sub>
                      <m:sup>
                        <m:r>
                          <a:rPr lang="fr-FR" sz="3200" b="0" i="1" smtClean="0">
                            <a:latin typeface="Cambria Math" panose="02040503050406030204" pitchFamily="18" charset="0"/>
                            <a:cs typeface="Times New Roman" pitchFamily="18" charset="0"/>
                          </a:rPr>
                          <m:t>𝑝</m:t>
                        </m:r>
                      </m:sup>
                      <m:e>
                        <m:sSub>
                          <m:sSubPr>
                            <m:ctrlPr>
                              <a:rPr lang="fr-FR" sz="3200" b="0" i="1" smtClean="0">
                                <a:latin typeface="Cambria Math" panose="02040503050406030204" pitchFamily="18" charset="0"/>
                                <a:cs typeface="Times New Roman" pitchFamily="18" charset="0"/>
                              </a:rPr>
                            </m:ctrlPr>
                          </m:sSubPr>
                          <m:e>
                            <m:r>
                              <a:rPr lang="fr-FR" sz="3200" b="0" i="1" smtClean="0">
                                <a:latin typeface="Cambria Math" panose="02040503050406030204" pitchFamily="18" charset="0"/>
                                <a:cs typeface="Times New Roman" pitchFamily="18" charset="0"/>
                              </a:rPr>
                              <m:t>𝑥</m:t>
                            </m:r>
                          </m:e>
                          <m:sub>
                            <m:r>
                              <a:rPr lang="fr-FR" sz="3200" b="0" i="1" smtClean="0">
                                <a:latin typeface="Cambria Math" panose="02040503050406030204" pitchFamily="18" charset="0"/>
                                <a:cs typeface="Times New Roman" pitchFamily="18" charset="0"/>
                              </a:rPr>
                              <m:t>𝑖</m:t>
                            </m:r>
                          </m:sub>
                        </m:sSub>
                      </m:e>
                    </m:nary>
                  </m:oMath>
                </a14:m>
                <a:r>
                  <a:rPr lang="fr-FR" sz="3200" dirty="0" smtClean="0">
                    <a:cs typeface="Times New Roman" pitchFamily="18" charset="0"/>
                  </a:rPr>
                  <a:t>   Et </a:t>
                </a:r>
                <a14:m>
                  <m:oMath xmlns:m="http://schemas.openxmlformats.org/officeDocument/2006/math">
                    <m:r>
                      <a:rPr lang="fr-FR" sz="3200" i="1" smtClean="0">
                        <a:latin typeface="Cambria Math" panose="02040503050406030204" pitchFamily="18" charset="0"/>
                        <a:ea typeface="Cambria Math" panose="02040503050406030204" pitchFamily="18" charset="0"/>
                        <a:cs typeface="Times New Roman" pitchFamily="18" charset="0"/>
                      </a:rPr>
                      <m:t>𝜎</m:t>
                    </m:r>
                    <m:r>
                      <a:rPr lang="fr-FR" sz="3200" b="0" i="1" smtClean="0">
                        <a:latin typeface="Cambria Math" panose="02040503050406030204" pitchFamily="18" charset="0"/>
                        <a:ea typeface="Cambria Math" panose="02040503050406030204" pitchFamily="18" charset="0"/>
                        <a:cs typeface="Times New Roman" pitchFamily="18" charset="0"/>
                      </a:rPr>
                      <m:t>=</m:t>
                    </m:r>
                    <m:rad>
                      <m:radPr>
                        <m:degHide m:val="on"/>
                        <m:ctrlPr>
                          <a:rPr lang="fr-FR" sz="3200" b="0" i="1" smtClean="0">
                            <a:latin typeface="Cambria Math" panose="02040503050406030204" pitchFamily="18" charset="0"/>
                            <a:ea typeface="Cambria Math" panose="02040503050406030204" pitchFamily="18" charset="0"/>
                            <a:cs typeface="Times New Roman" pitchFamily="18" charset="0"/>
                          </a:rPr>
                        </m:ctrlPr>
                      </m:radPr>
                      <m:deg/>
                      <m:e>
                        <m:f>
                          <m:fPr>
                            <m:ctrlPr>
                              <a:rPr lang="fr-FR" sz="3200" b="0" i="1" smtClean="0">
                                <a:latin typeface="Cambria Math" panose="02040503050406030204" pitchFamily="18" charset="0"/>
                                <a:ea typeface="Cambria Math" panose="02040503050406030204" pitchFamily="18" charset="0"/>
                                <a:cs typeface="Times New Roman" pitchFamily="18" charset="0"/>
                              </a:rPr>
                            </m:ctrlPr>
                          </m:fPr>
                          <m:num>
                            <m:r>
                              <a:rPr lang="fr-FR" sz="3200" b="0" i="1" smtClean="0">
                                <a:latin typeface="Cambria Math" panose="02040503050406030204" pitchFamily="18" charset="0"/>
                                <a:ea typeface="Cambria Math" panose="02040503050406030204" pitchFamily="18" charset="0"/>
                                <a:cs typeface="Times New Roman" pitchFamily="18" charset="0"/>
                              </a:rPr>
                              <m:t>1</m:t>
                            </m:r>
                          </m:num>
                          <m:den>
                            <m:r>
                              <a:rPr lang="fr-FR" sz="3200" b="0" i="1" smtClean="0">
                                <a:latin typeface="Cambria Math" panose="02040503050406030204" pitchFamily="18" charset="0"/>
                                <a:ea typeface="Cambria Math" panose="02040503050406030204" pitchFamily="18" charset="0"/>
                                <a:cs typeface="Times New Roman" pitchFamily="18" charset="0"/>
                              </a:rPr>
                              <m:t>𝑝</m:t>
                            </m:r>
                            <m:r>
                              <a:rPr lang="fr-FR" sz="3200" b="0" i="1" smtClean="0">
                                <a:latin typeface="Cambria Math" panose="02040503050406030204" pitchFamily="18" charset="0"/>
                                <a:ea typeface="Cambria Math" panose="02040503050406030204" pitchFamily="18" charset="0"/>
                                <a:cs typeface="Times New Roman" pitchFamily="18" charset="0"/>
                              </a:rPr>
                              <m:t>−1</m:t>
                            </m:r>
                          </m:den>
                        </m:f>
                        <m:nary>
                          <m:naryPr>
                            <m:chr m:val="∑"/>
                            <m:ctrlPr>
                              <a:rPr lang="fr-FR" sz="3200" b="0" i="1" smtClean="0">
                                <a:latin typeface="Cambria Math" panose="02040503050406030204" pitchFamily="18" charset="0"/>
                                <a:ea typeface="Cambria Math" panose="02040503050406030204" pitchFamily="18" charset="0"/>
                                <a:cs typeface="Times New Roman" pitchFamily="18" charset="0"/>
                              </a:rPr>
                            </m:ctrlPr>
                          </m:naryPr>
                          <m:sub>
                            <m:r>
                              <m:rPr>
                                <m:brk m:alnAt="23"/>
                              </m:rPr>
                              <a:rPr lang="fr-FR" sz="3200" b="0" i="1" smtClean="0">
                                <a:latin typeface="Cambria Math" panose="02040503050406030204" pitchFamily="18" charset="0"/>
                                <a:ea typeface="Cambria Math" panose="02040503050406030204" pitchFamily="18" charset="0"/>
                                <a:cs typeface="Times New Roman" pitchFamily="18" charset="0"/>
                              </a:rPr>
                              <m:t>𝑖</m:t>
                            </m:r>
                            <m:r>
                              <a:rPr lang="fr-FR" sz="3200" b="0" i="1" smtClean="0">
                                <a:latin typeface="Cambria Math" panose="02040503050406030204" pitchFamily="18" charset="0"/>
                                <a:ea typeface="Cambria Math" panose="02040503050406030204" pitchFamily="18" charset="0"/>
                                <a:cs typeface="Times New Roman" pitchFamily="18" charset="0"/>
                              </a:rPr>
                              <m:t>=1</m:t>
                            </m:r>
                          </m:sub>
                          <m:sup>
                            <m:r>
                              <a:rPr lang="fr-FR" sz="3200" b="0" i="1" smtClean="0">
                                <a:latin typeface="Cambria Math" panose="02040503050406030204" pitchFamily="18" charset="0"/>
                                <a:ea typeface="Cambria Math" panose="02040503050406030204" pitchFamily="18" charset="0"/>
                                <a:cs typeface="Times New Roman" pitchFamily="18" charset="0"/>
                              </a:rPr>
                              <m:t>𝑝</m:t>
                            </m:r>
                          </m:sup>
                          <m:e>
                            <m:sSup>
                              <m:sSupPr>
                                <m:ctrlPr>
                                  <a:rPr lang="fr-FR" sz="3200" b="0" i="1" smtClean="0">
                                    <a:latin typeface="Cambria Math" panose="02040503050406030204" pitchFamily="18" charset="0"/>
                                    <a:ea typeface="Cambria Math" panose="02040503050406030204" pitchFamily="18" charset="0"/>
                                    <a:cs typeface="Times New Roman" pitchFamily="18" charset="0"/>
                                  </a:rPr>
                                </m:ctrlPr>
                              </m:sSupPr>
                              <m:e>
                                <m:r>
                                  <a:rPr lang="fr-FR" sz="3200" b="0" i="1" smtClean="0">
                                    <a:latin typeface="Cambria Math" panose="02040503050406030204" pitchFamily="18" charset="0"/>
                                    <a:ea typeface="Cambria Math" panose="02040503050406030204" pitchFamily="18" charset="0"/>
                                    <a:cs typeface="Times New Roman" pitchFamily="18" charset="0"/>
                                  </a:rPr>
                                  <m:t>(</m:t>
                                </m:r>
                                <m:sSub>
                                  <m:sSubPr>
                                    <m:ctrlPr>
                                      <a:rPr lang="fr-FR" sz="3200" b="0" i="1" smtClean="0">
                                        <a:latin typeface="Cambria Math" panose="02040503050406030204" pitchFamily="18" charset="0"/>
                                        <a:ea typeface="Cambria Math" panose="02040503050406030204" pitchFamily="18" charset="0"/>
                                        <a:cs typeface="Times New Roman" pitchFamily="18" charset="0"/>
                                      </a:rPr>
                                    </m:ctrlPr>
                                  </m:sSubPr>
                                  <m:e>
                                    <m:r>
                                      <a:rPr lang="fr-FR" sz="3200" b="0" i="1" smtClean="0">
                                        <a:latin typeface="Cambria Math" panose="02040503050406030204" pitchFamily="18" charset="0"/>
                                        <a:ea typeface="Cambria Math" panose="02040503050406030204" pitchFamily="18" charset="0"/>
                                        <a:cs typeface="Times New Roman" pitchFamily="18" charset="0"/>
                                      </a:rPr>
                                      <m:t>𝑥</m:t>
                                    </m:r>
                                  </m:e>
                                  <m:sub>
                                    <m:r>
                                      <a:rPr lang="fr-FR" sz="3200" b="0" i="1" smtClean="0">
                                        <a:latin typeface="Cambria Math" panose="02040503050406030204" pitchFamily="18" charset="0"/>
                                        <a:ea typeface="Cambria Math" panose="02040503050406030204" pitchFamily="18" charset="0"/>
                                        <a:cs typeface="Times New Roman" pitchFamily="18" charset="0"/>
                                      </a:rPr>
                                      <m:t>𝑖</m:t>
                                    </m:r>
                                  </m:sub>
                                </m:sSub>
                                <m:r>
                                  <a:rPr lang="fr-FR" sz="3200" b="0" i="1" smtClean="0">
                                    <a:latin typeface="Cambria Math" panose="02040503050406030204" pitchFamily="18" charset="0"/>
                                    <a:ea typeface="Cambria Math" panose="02040503050406030204" pitchFamily="18" charset="0"/>
                                    <a:cs typeface="Times New Roman" pitchFamily="18" charset="0"/>
                                  </a:rPr>
                                  <m:t>−</m:t>
                                </m:r>
                                <m:acc>
                                  <m:accPr>
                                    <m:chr m:val="̅"/>
                                    <m:ctrlPr>
                                      <a:rPr lang="fr-FR" sz="3200" b="0" i="1" smtClean="0">
                                        <a:latin typeface="Cambria Math" panose="02040503050406030204" pitchFamily="18" charset="0"/>
                                        <a:ea typeface="Cambria Math" panose="02040503050406030204" pitchFamily="18" charset="0"/>
                                        <a:cs typeface="Times New Roman" pitchFamily="18" charset="0"/>
                                      </a:rPr>
                                    </m:ctrlPr>
                                  </m:accPr>
                                  <m:e>
                                    <m:r>
                                      <a:rPr lang="fr-FR" sz="3200" b="0" i="1" smtClean="0">
                                        <a:latin typeface="Cambria Math" panose="02040503050406030204" pitchFamily="18" charset="0"/>
                                        <a:ea typeface="Cambria Math" panose="02040503050406030204" pitchFamily="18" charset="0"/>
                                        <a:cs typeface="Times New Roman" pitchFamily="18" charset="0"/>
                                      </a:rPr>
                                      <m:t>𝑥</m:t>
                                    </m:r>
                                  </m:e>
                                </m:acc>
                                <m:r>
                                  <a:rPr lang="fr-FR" sz="3200" b="0" i="1" smtClean="0">
                                    <a:latin typeface="Cambria Math" panose="02040503050406030204" pitchFamily="18" charset="0"/>
                                    <a:ea typeface="Cambria Math" panose="02040503050406030204" pitchFamily="18" charset="0"/>
                                    <a:cs typeface="Times New Roman" pitchFamily="18" charset="0"/>
                                  </a:rPr>
                                  <m:t> )</m:t>
                                </m:r>
                              </m:e>
                              <m:sup>
                                <m:r>
                                  <a:rPr lang="fr-FR" sz="3200" b="0" i="1" smtClean="0">
                                    <a:latin typeface="Cambria Math" panose="02040503050406030204" pitchFamily="18" charset="0"/>
                                    <a:ea typeface="Cambria Math" panose="02040503050406030204" pitchFamily="18" charset="0"/>
                                    <a:cs typeface="Times New Roman" pitchFamily="18" charset="0"/>
                                  </a:rPr>
                                  <m:t>2</m:t>
                                </m:r>
                              </m:sup>
                            </m:sSup>
                          </m:e>
                        </m:nary>
                      </m:e>
                    </m:rad>
                  </m:oMath>
                </a14:m>
                <a:endParaRPr lang="fr-FR" sz="3200" dirty="0" smtClean="0">
                  <a:cs typeface="Times New Roman" pitchFamily="18" charset="0"/>
                </a:endParaRPr>
              </a:p>
              <a:p>
                <a:pPr marL="0" indent="0">
                  <a:buNone/>
                </a:pPr>
                <a:endParaRPr lang="fr-FR" sz="3200" dirty="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391" t="-3641" r="-2029"/>
                </a:stretch>
              </a:blipFill>
            </p:spPr>
            <p:txBody>
              <a:bodyPr/>
              <a:lstStyle/>
              <a:p>
                <a:r>
                  <a:rPr lang="fr-FR">
                    <a:noFill/>
                  </a:rPr>
                  <a:t> </a:t>
                </a:r>
              </a:p>
            </p:txBody>
          </p:sp>
        </mc:Fallback>
      </mc:AlternateContent>
      <p:sp>
        <p:nvSpPr>
          <p:cNvPr id="7" name="Slide Number Placeholder 2"/>
          <p:cNvSpPr>
            <a:spLocks noGrp="1"/>
          </p:cNvSpPr>
          <p:nvPr>
            <p:ph type="sldNum" sz="quarter" idx="12"/>
          </p:nvPr>
        </p:nvSpPr>
        <p:spPr/>
        <p:txBody>
          <a:bodyPr/>
          <a:lstStyle/>
          <a:p>
            <a:r>
              <a:rPr lang="fr-FR" dirty="0" smtClean="0"/>
              <a:t>24</a:t>
            </a:r>
            <a:endParaRPr lang="fr-FR" dirty="0"/>
          </a:p>
        </p:txBody>
      </p:sp>
      <p:sp>
        <p:nvSpPr>
          <p:cNvPr id="5" name="Rectangle : coins arrondis 6">
            <a:extLst>
              <a:ext uri="{FF2B5EF4-FFF2-40B4-BE49-F238E27FC236}">
                <a16:creationId xmlns:a16="http://schemas.microsoft.com/office/drawing/2014/main" xmlns="" id="{0304905A-EBAC-45A7-A2B2-CE5B78226B0A}"/>
              </a:ext>
            </a:extLst>
          </p:cNvPr>
          <p:cNvSpPr/>
          <p:nvPr/>
        </p:nvSpPr>
        <p:spPr>
          <a:xfrm>
            <a:off x="-121558" y="573300"/>
            <a:ext cx="11172987"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400" b="1" dirty="0">
                <a:solidFill>
                  <a:srgbClr val="C00000"/>
                </a:solidFill>
              </a:rPr>
              <a:t>Détection analytique: Test de </a:t>
            </a:r>
            <a:r>
              <a:rPr lang="fr-FR" sz="4400" b="1" dirty="0" err="1">
                <a:solidFill>
                  <a:srgbClr val="C00000"/>
                </a:solidFill>
              </a:rPr>
              <a:t>Grubbs</a:t>
            </a:r>
            <a:endParaRPr lang="fr-FR" sz="4400" b="1" dirty="0">
              <a:solidFill>
                <a:srgbClr val="C00000"/>
              </a:solidFill>
            </a:endParaRPr>
          </a:p>
        </p:txBody>
      </p:sp>
    </p:spTree>
    <p:extLst>
      <p:ext uri="{BB962C8B-B14F-4D97-AF65-F5344CB8AC3E}">
        <p14:creationId xmlns:p14="http://schemas.microsoft.com/office/powerpoint/2010/main" val="945607029"/>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455313"/>
                <a:ext cx="10515600" cy="4721650"/>
              </a:xfrm>
            </p:spPr>
            <p:txBody>
              <a:bodyPr>
                <a:normAutofit/>
              </a:bodyPr>
              <a:lstStyle/>
              <a:p>
                <a:pPr marL="0" indent="0">
                  <a:buNone/>
                </a:pPr>
                <a:r>
                  <a:rPr lang="fr-FR" dirty="0" smtClean="0"/>
                  <a:t>Pour tester la signification de la plus petite observation, calculer la statistique du test</a:t>
                </a:r>
              </a:p>
              <a:p>
                <a:pPr marL="0" indent="0">
                  <a:buNone/>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𝐺</m:t>
                          </m:r>
                        </m:e>
                        <m:sub>
                          <m:r>
                            <a:rPr lang="fr-FR" b="0" i="1" smtClean="0">
                              <a:latin typeface="Cambria Math" panose="02040503050406030204" pitchFamily="18" charset="0"/>
                            </a:rPr>
                            <m:t>1</m:t>
                          </m:r>
                        </m:sub>
                      </m:sSub>
                      <m:r>
                        <a:rPr lang="fr-FR" b="0" i="1" smtClean="0">
                          <a:latin typeface="Cambria Math" panose="02040503050406030204" pitchFamily="18" charset="0"/>
                        </a:rPr>
                        <m:t>=</m:t>
                      </m:r>
                      <m:f>
                        <m:fPr>
                          <m:ctrlPr>
                            <a:rPr lang="fr-FR" b="0" i="1" smtClean="0">
                              <a:latin typeface="Cambria Math" panose="02040503050406030204" pitchFamily="18" charset="0"/>
                            </a:rPr>
                          </m:ctrlPr>
                        </m:fPr>
                        <m:num>
                          <m:r>
                            <a:rPr lang="fr-FR" b="0" i="1" smtClean="0">
                              <a:latin typeface="Cambria Math" panose="02040503050406030204" pitchFamily="18" charset="0"/>
                            </a:rPr>
                            <m:t>(</m:t>
                          </m:r>
                          <m:acc>
                            <m:accPr>
                              <m:chr m:val="̅"/>
                              <m:ctrlPr>
                                <a:rPr lang="fr-FR" b="0" i="1" smtClean="0">
                                  <a:latin typeface="Cambria Math" panose="02040503050406030204" pitchFamily="18" charset="0"/>
                                </a:rPr>
                              </m:ctrlPr>
                            </m:accPr>
                            <m:e>
                              <m:r>
                                <a:rPr lang="fr-FR" b="0" i="1" smtClean="0">
                                  <a:latin typeface="Cambria Math" panose="02040503050406030204" pitchFamily="18" charset="0"/>
                                </a:rPr>
                                <m:t>𝑥</m:t>
                              </m:r>
                            </m:e>
                          </m:acc>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𝑥</m:t>
                              </m:r>
                            </m:e>
                            <m:sub>
                              <m:r>
                                <a:rPr lang="fr-FR" b="0" i="1" smtClean="0">
                                  <a:latin typeface="Cambria Math" panose="02040503050406030204" pitchFamily="18" charset="0"/>
                                </a:rPr>
                                <m:t>1</m:t>
                              </m:r>
                            </m:sub>
                          </m:sSub>
                          <m:r>
                            <a:rPr lang="fr-FR" b="0" i="1" smtClean="0">
                              <a:latin typeface="Cambria Math" panose="02040503050406030204" pitchFamily="18" charset="0"/>
                            </a:rPr>
                            <m:t>)</m:t>
                          </m:r>
                        </m:num>
                        <m:den>
                          <m:r>
                            <a:rPr lang="fr-FR" b="0" i="1" smtClean="0">
                              <a:latin typeface="Cambria Math" panose="02040503050406030204" pitchFamily="18" charset="0"/>
                              <a:ea typeface="Cambria Math" panose="02040503050406030204" pitchFamily="18" charset="0"/>
                            </a:rPr>
                            <m:t>𝜎</m:t>
                          </m:r>
                        </m:den>
                      </m:f>
                    </m:oMath>
                  </m:oMathPara>
                </a14:m>
                <a:endParaRPr lang="fr-FR" dirty="0" smtClean="0"/>
              </a:p>
              <a:p>
                <a:pPr>
                  <a:buFont typeface="Wingdings" panose="05000000000000000000" pitchFamily="2" charset="2"/>
                  <a:buChar char="Ø"/>
                </a:pPr>
                <a:r>
                  <a:rPr lang="fr-FR" dirty="0" smtClean="0"/>
                  <a:t> Si </a:t>
                </a:r>
                <a:r>
                  <a:rPr lang="fr-FR" dirty="0"/>
                  <a:t>la statistique du test est inférieure ou égale à sa valeur critique à 5 %, l’individu testé est accepté comme étant correct</a:t>
                </a:r>
                <a:r>
                  <a:rPr lang="fr-FR" dirty="0" smtClean="0"/>
                  <a:t>.</a:t>
                </a:r>
              </a:p>
              <a:p>
                <a:pPr marL="0" indent="0">
                  <a:buNone/>
                </a:pPr>
                <a:endParaRPr lang="fr-FR" dirty="0" smtClean="0"/>
              </a:p>
              <a:p>
                <a:pPr>
                  <a:buFont typeface="Wingdings" panose="05000000000000000000" pitchFamily="2" charset="2"/>
                  <a:buChar char="Ø"/>
                </a:pPr>
                <a:r>
                  <a:rPr lang="fr-FR" dirty="0" smtClean="0"/>
                  <a:t> Si </a:t>
                </a:r>
                <a:r>
                  <a:rPr lang="fr-FR" b="1" dirty="0"/>
                  <a:t>la statistique du test est supérieure </a:t>
                </a:r>
                <a:r>
                  <a:rPr lang="fr-FR" dirty="0"/>
                  <a:t>à sa valeur critique à </a:t>
                </a:r>
                <a:r>
                  <a:rPr lang="fr-FR" b="1" dirty="0"/>
                  <a:t>1 %, </a:t>
                </a:r>
                <a:r>
                  <a:rPr lang="fr-FR" dirty="0"/>
                  <a:t>l’individu testé est appelé </a:t>
                </a:r>
                <a:r>
                  <a:rPr lang="fr-FR" b="1" dirty="0"/>
                  <a:t>valeur statistique aberrante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455313"/>
                <a:ext cx="10515600" cy="4721650"/>
              </a:xfrm>
              <a:blipFill rotWithShape="0">
                <a:blip r:embed="rId2"/>
                <a:stretch>
                  <a:fillRect l="-1217" t="-2196" r="-870"/>
                </a:stretch>
              </a:blipFill>
            </p:spPr>
            <p:txBody>
              <a:bodyPr/>
              <a:lstStyle/>
              <a:p>
                <a:r>
                  <a:rPr lang="fr-FR">
                    <a:noFill/>
                  </a:rPr>
                  <a:t> </a:t>
                </a:r>
              </a:p>
            </p:txBody>
          </p:sp>
        </mc:Fallback>
      </mc:AlternateContent>
      <p:sp>
        <p:nvSpPr>
          <p:cNvPr id="5" name="Slide Number Placeholder 2"/>
          <p:cNvSpPr>
            <a:spLocks noGrp="1"/>
          </p:cNvSpPr>
          <p:nvPr>
            <p:ph type="sldNum" sz="quarter" idx="12"/>
          </p:nvPr>
        </p:nvSpPr>
        <p:spPr/>
        <p:txBody>
          <a:bodyPr/>
          <a:lstStyle/>
          <a:p>
            <a:r>
              <a:rPr lang="fr-FR" dirty="0" smtClean="0"/>
              <a:t>25</a:t>
            </a:r>
            <a:endParaRPr lang="fr-FR" dirty="0"/>
          </a:p>
        </p:txBody>
      </p:sp>
      <p:sp>
        <p:nvSpPr>
          <p:cNvPr id="6" name="Rectangle : coins arrondis 6">
            <a:extLst>
              <a:ext uri="{FF2B5EF4-FFF2-40B4-BE49-F238E27FC236}">
                <a16:creationId xmlns:a16="http://schemas.microsoft.com/office/drawing/2014/main" xmlns="" id="{0304905A-EBAC-45A7-A2B2-CE5B78226B0A}"/>
              </a:ext>
            </a:extLst>
          </p:cNvPr>
          <p:cNvSpPr/>
          <p:nvPr/>
        </p:nvSpPr>
        <p:spPr>
          <a:xfrm>
            <a:off x="-1" y="618566"/>
            <a:ext cx="11172987"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4400" b="1" dirty="0">
                <a:solidFill>
                  <a:srgbClr val="C00000"/>
                </a:solidFill>
              </a:rPr>
              <a:t>Détection analytique: Test de </a:t>
            </a:r>
            <a:r>
              <a:rPr lang="fr-FR" sz="4400" b="1" dirty="0" err="1">
                <a:solidFill>
                  <a:srgbClr val="C00000"/>
                </a:solidFill>
              </a:rPr>
              <a:t>Grubbs</a:t>
            </a:r>
            <a:endParaRPr lang="fr-FR" sz="4400" b="1" dirty="0">
              <a:solidFill>
                <a:srgbClr val="C00000"/>
              </a:solidFill>
            </a:endParaRPr>
          </a:p>
        </p:txBody>
      </p:sp>
    </p:spTree>
    <p:extLst>
      <p:ext uri="{BB962C8B-B14F-4D97-AF65-F5344CB8AC3E}">
        <p14:creationId xmlns:p14="http://schemas.microsoft.com/office/powerpoint/2010/main" val="3638941104"/>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p:cNvSpPr>
            <a:spLocks noGrp="1"/>
          </p:cNvSpPr>
          <p:nvPr>
            <p:ph type="sldNum" sz="quarter" idx="12"/>
          </p:nvPr>
        </p:nvSpPr>
        <p:spPr/>
        <p:txBody>
          <a:bodyPr/>
          <a:lstStyle/>
          <a:p>
            <a:fld id="{8999C353-CD5F-45DD-824D-F1684B269FE6}" type="slidenum">
              <a:rPr lang="fr-FR" smtClean="0"/>
              <a:pPr/>
              <a:t>36</a:t>
            </a:fld>
            <a:endParaRPr lang="fr-FR" dirty="0"/>
          </a:p>
        </p:txBody>
      </p:sp>
      <p:pic>
        <p:nvPicPr>
          <p:cNvPr id="6" name="Image 9" descr="logo-esprit"/>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66322" y="5807234"/>
            <a:ext cx="1870710" cy="600710"/>
          </a:xfrm>
          <a:prstGeom prst="rect">
            <a:avLst/>
          </a:prstGeom>
          <a:noFill/>
          <a:ln>
            <a:noFill/>
          </a:ln>
        </p:spPr>
      </p:pic>
      <p:sp>
        <p:nvSpPr>
          <p:cNvPr id="8" name="Rectangle : coins arrondis 7">
            <a:extLst>
              <a:ext uri="{FF2B5EF4-FFF2-40B4-BE49-F238E27FC236}">
                <a16:creationId xmlns:a16="http://schemas.microsoft.com/office/drawing/2014/main" xmlns="" id="{F4A2479F-27D4-4BCA-AA91-95E54A7C95AE}"/>
              </a:ext>
            </a:extLst>
          </p:cNvPr>
          <p:cNvSpPr/>
          <p:nvPr/>
        </p:nvSpPr>
        <p:spPr>
          <a:xfrm>
            <a:off x="504823" y="1623219"/>
            <a:ext cx="11172987" cy="47847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marL="342900" indent="-342900">
              <a:lnSpc>
                <a:spcPct val="150000"/>
              </a:lnSpc>
              <a:buFont typeface="Arial" panose="020B0604020202020204" pitchFamily="34" charset="0"/>
              <a:buChar char="•"/>
            </a:pPr>
            <a:r>
              <a:rPr lang="fr-FR" sz="2400" dirty="0"/>
              <a:t>Les tableaux de données couramment utilisés dans l’analyse statistique présentent souvent des données manquantes. </a:t>
            </a:r>
          </a:p>
          <a:p>
            <a:pPr marL="342900" indent="-342900">
              <a:lnSpc>
                <a:spcPct val="150000"/>
              </a:lnSpc>
              <a:buFont typeface="Arial" panose="020B0604020202020204" pitchFamily="34" charset="0"/>
              <a:buChar char="•"/>
            </a:pPr>
            <a:r>
              <a:rPr lang="fr-FR" sz="2400" dirty="0"/>
              <a:t>Il est fréquent que les personnes qui ont volontairement répondu à un sondage d’opinion refusent de répondre à certaines questions </a:t>
            </a:r>
          </a:p>
          <a:p>
            <a:pPr marL="342900" indent="-342900">
              <a:lnSpc>
                <a:spcPct val="150000"/>
              </a:lnSpc>
              <a:buFont typeface="Arial" panose="020B0604020202020204" pitchFamily="34" charset="0"/>
              <a:buChar char="•"/>
            </a:pPr>
            <a:r>
              <a:rPr lang="fr-FR" sz="2400" dirty="0"/>
              <a:t>Les techniques statistiques partent des données pour apporter de l’information, et ne sont généralement pas propres à traiter des ensembles de données dans lesquels certaines d’entre elles sont inconnues. </a:t>
            </a:r>
          </a:p>
          <a:p>
            <a:pPr>
              <a:buNone/>
            </a:pPr>
            <a:endParaRPr lang="fr-FR" sz="2400" dirty="0">
              <a:cs typeface="Times New Roman" pitchFamily="18" charset="0"/>
            </a:endParaRPr>
          </a:p>
        </p:txBody>
      </p:sp>
      <p:sp>
        <p:nvSpPr>
          <p:cNvPr id="9" name="Rectangle : coins arrondis 3">
            <a:extLst>
              <a:ext uri="{FF2B5EF4-FFF2-40B4-BE49-F238E27FC236}">
                <a16:creationId xmlns:a16="http://schemas.microsoft.com/office/drawing/2014/main" xmlns="" id="{4DA6CE65-D62B-43AD-B2AF-9993213ACBC1}"/>
              </a:ext>
            </a:extLst>
          </p:cNvPr>
          <p:cNvSpPr/>
          <p:nvPr/>
        </p:nvSpPr>
        <p:spPr>
          <a:xfrm>
            <a:off x="457200" y="482823"/>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4000" dirty="0" smtClean="0">
                <a:solidFill>
                  <a:srgbClr val="C00000"/>
                </a:solidFill>
              </a:rPr>
              <a:t>       </a:t>
            </a:r>
            <a:r>
              <a:rPr lang="fr-FR" sz="4000" b="1" dirty="0" smtClean="0">
                <a:solidFill>
                  <a:schemeClr val="bg2">
                    <a:lumMod val="50000"/>
                  </a:schemeClr>
                </a:solidFill>
              </a:rPr>
              <a:t>2. Données Manquantes</a:t>
            </a:r>
            <a:endParaRPr lang="fr-FR" sz="4000" b="1" dirty="0">
              <a:solidFill>
                <a:schemeClr val="bg2">
                  <a:lumMod val="50000"/>
                </a:schemeClr>
              </a:solidFill>
            </a:endParaRP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999C353-CD5F-45DD-824D-F1684B269FE6}" type="slidenum">
              <a:rPr lang="fr-FR" smtClean="0"/>
              <a:pPr/>
              <a:t>37</a:t>
            </a:fld>
            <a:endParaRPr lang="fr-FR" dirty="0"/>
          </a:p>
        </p:txBody>
      </p:sp>
      <p:pic>
        <p:nvPicPr>
          <p:cNvPr id="5" name="Image 9" descr="logo-espri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09247" y="6120765"/>
            <a:ext cx="1870710" cy="600710"/>
          </a:xfrm>
          <a:prstGeom prst="rect">
            <a:avLst/>
          </a:prstGeom>
          <a:noFill/>
          <a:ln>
            <a:noFill/>
          </a:ln>
        </p:spPr>
      </p:pic>
      <p:sp>
        <p:nvSpPr>
          <p:cNvPr id="7" name="Rectangle : coins arrondis 6">
            <a:extLst>
              <a:ext uri="{FF2B5EF4-FFF2-40B4-BE49-F238E27FC236}">
                <a16:creationId xmlns:a16="http://schemas.microsoft.com/office/drawing/2014/main" xmlns="" id="{700C0692-29EE-4049-8604-06C669C621A7}"/>
              </a:ext>
            </a:extLst>
          </p:cNvPr>
          <p:cNvSpPr/>
          <p:nvPr/>
        </p:nvSpPr>
        <p:spPr>
          <a:xfrm>
            <a:off x="504823" y="1602022"/>
            <a:ext cx="11172987" cy="466725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9728" indent="0">
              <a:buNone/>
            </a:pPr>
            <a:r>
              <a:rPr lang="fr-FR" sz="3200" b="1" dirty="0" smtClean="0">
                <a:solidFill>
                  <a:schemeClr val="tx1"/>
                </a:solidFill>
                <a:cs typeface="Times New Roman" pitchFamily="18" charset="0"/>
              </a:rPr>
              <a:t>Types:</a:t>
            </a:r>
          </a:p>
          <a:p>
            <a:pPr marL="109728" indent="0">
              <a:buNone/>
            </a:pPr>
            <a:r>
              <a:rPr lang="fr-FR" sz="3200" dirty="0" smtClean="0">
                <a:solidFill>
                  <a:schemeClr val="tx1"/>
                </a:solidFill>
                <a:cs typeface="Times New Roman" pitchFamily="18" charset="0"/>
              </a:rPr>
              <a:t>On </a:t>
            </a:r>
            <a:r>
              <a:rPr lang="fr-FR" sz="3200" dirty="0">
                <a:solidFill>
                  <a:schemeClr val="tx1"/>
                </a:solidFill>
                <a:cs typeface="Times New Roman" pitchFamily="18" charset="0"/>
              </a:rPr>
              <a:t>distingue deux catégories de </a:t>
            </a:r>
            <a:r>
              <a:rPr lang="fr-FR" sz="3200" b="1" dirty="0">
                <a:solidFill>
                  <a:schemeClr val="tx1"/>
                </a:solidFill>
                <a:cs typeface="Times New Roman" pitchFamily="18" charset="0"/>
              </a:rPr>
              <a:t>non-réponse</a:t>
            </a:r>
            <a:r>
              <a:rPr lang="fr-FR" sz="3200" dirty="0">
                <a:solidFill>
                  <a:schemeClr val="tx1"/>
                </a:solidFill>
                <a:cs typeface="Times New Roman" pitchFamily="18" charset="0"/>
              </a:rPr>
              <a:t> :</a:t>
            </a:r>
          </a:p>
          <a:p>
            <a:pPr marL="109728" indent="0">
              <a:buNone/>
            </a:pPr>
            <a:endParaRPr lang="fr-FR" sz="3200" dirty="0">
              <a:solidFill>
                <a:schemeClr val="tx1"/>
              </a:solidFill>
              <a:cs typeface="Times New Roman" pitchFamily="18" charset="0"/>
            </a:endParaRPr>
          </a:p>
          <a:p>
            <a:pPr>
              <a:buFont typeface="Wingdings" panose="05000000000000000000" pitchFamily="2" charset="2"/>
              <a:buChar char="§"/>
            </a:pPr>
            <a:r>
              <a:rPr lang="fr-FR" sz="3200" dirty="0">
                <a:solidFill>
                  <a:schemeClr val="tx1"/>
                </a:solidFill>
                <a:cs typeface="Times New Roman" pitchFamily="18" charset="0"/>
              </a:rPr>
              <a:t>la </a:t>
            </a:r>
            <a:r>
              <a:rPr lang="fr-FR" sz="3200" b="1" dirty="0">
                <a:solidFill>
                  <a:srgbClr val="C00000"/>
                </a:solidFill>
                <a:cs typeface="Times New Roman" pitchFamily="18" charset="0"/>
              </a:rPr>
              <a:t>non-réponse totale</a:t>
            </a:r>
            <a:r>
              <a:rPr lang="fr-FR" sz="3200" dirty="0">
                <a:solidFill>
                  <a:schemeClr val="tx1"/>
                </a:solidFill>
                <a:cs typeface="Times New Roman" pitchFamily="18" charset="0"/>
              </a:rPr>
              <a:t>, lorsque aucune information n’est recueillie sur une unité échantillonnée.</a:t>
            </a:r>
          </a:p>
          <a:p>
            <a:pPr marL="109728" indent="0">
              <a:buNone/>
            </a:pPr>
            <a:endParaRPr lang="fr-FR" sz="3200" dirty="0">
              <a:solidFill>
                <a:schemeClr val="tx1"/>
              </a:solidFill>
              <a:cs typeface="Times New Roman" pitchFamily="18" charset="0"/>
            </a:endParaRPr>
          </a:p>
          <a:p>
            <a:pPr>
              <a:buFont typeface="Wingdings" panose="05000000000000000000" pitchFamily="2" charset="2"/>
              <a:buChar char="§"/>
            </a:pPr>
            <a:r>
              <a:rPr lang="fr-FR" sz="3200" dirty="0">
                <a:solidFill>
                  <a:schemeClr val="tx1"/>
                </a:solidFill>
                <a:cs typeface="Times New Roman" pitchFamily="18" charset="0"/>
              </a:rPr>
              <a:t>la </a:t>
            </a:r>
            <a:r>
              <a:rPr lang="fr-FR" sz="3200" b="1" dirty="0">
                <a:solidFill>
                  <a:srgbClr val="C00000"/>
                </a:solidFill>
                <a:cs typeface="Times New Roman" pitchFamily="18" charset="0"/>
              </a:rPr>
              <a:t>non-réponse partielle</a:t>
            </a:r>
            <a:r>
              <a:rPr lang="fr-FR" sz="3200" dirty="0">
                <a:solidFill>
                  <a:schemeClr val="tx1"/>
                </a:solidFill>
                <a:cs typeface="Times New Roman" pitchFamily="18" charset="0"/>
              </a:rPr>
              <a:t>, lorsque le manque d’information est limité à certaines variables. </a:t>
            </a:r>
          </a:p>
        </p:txBody>
      </p:sp>
      <p:sp>
        <p:nvSpPr>
          <p:cNvPr id="8" name="Rectangle : coins arrondis 3">
            <a:extLst>
              <a:ext uri="{FF2B5EF4-FFF2-40B4-BE49-F238E27FC236}">
                <a16:creationId xmlns:a16="http://schemas.microsoft.com/office/drawing/2014/main" xmlns="" id="{4DA6CE65-D62B-43AD-B2AF-9993213ACBC1}"/>
              </a:ext>
            </a:extLst>
          </p:cNvPr>
          <p:cNvSpPr/>
          <p:nvPr/>
        </p:nvSpPr>
        <p:spPr>
          <a:xfrm>
            <a:off x="457200" y="482823"/>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4000" dirty="0" smtClean="0">
                <a:solidFill>
                  <a:srgbClr val="C00000"/>
                </a:solidFill>
              </a:rPr>
              <a:t>       </a:t>
            </a:r>
            <a:r>
              <a:rPr lang="fr-FR" sz="4000" b="1" dirty="0" smtClean="0">
                <a:solidFill>
                  <a:schemeClr val="bg2">
                    <a:lumMod val="50000"/>
                  </a:schemeClr>
                </a:solidFill>
              </a:rPr>
              <a:t>2. Données Manquantes</a:t>
            </a:r>
            <a:endParaRPr lang="fr-FR" sz="4000" b="1" dirty="0">
              <a:solidFill>
                <a:schemeClr val="bg2">
                  <a:lumMod val="50000"/>
                </a:schemeClr>
              </a:solidFill>
            </a:endParaRPr>
          </a:p>
        </p:txBody>
      </p:sp>
    </p:spTree>
    <p:extLst>
      <p:ext uri="{BB962C8B-B14F-4D97-AF65-F5344CB8AC3E}">
        <p14:creationId xmlns:p14="http://schemas.microsoft.com/office/powerpoint/2010/main" val="1626567078"/>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3">
            <a:extLst>
              <a:ext uri="{FF2B5EF4-FFF2-40B4-BE49-F238E27FC236}">
                <a16:creationId xmlns:a16="http://schemas.microsoft.com/office/drawing/2014/main" xmlns="" id="{4DA6CE65-D62B-43AD-B2AF-9993213ACBC1}"/>
              </a:ext>
            </a:extLst>
          </p:cNvPr>
          <p:cNvSpPr/>
          <p:nvPr/>
        </p:nvSpPr>
        <p:spPr>
          <a:xfrm>
            <a:off x="457200" y="482823"/>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4000" dirty="0" smtClean="0">
                <a:solidFill>
                  <a:srgbClr val="C00000"/>
                </a:solidFill>
              </a:rPr>
              <a:t>       </a:t>
            </a:r>
            <a:r>
              <a:rPr lang="fr-FR" sz="4000" b="1" dirty="0" smtClean="0">
                <a:solidFill>
                  <a:schemeClr val="bg2">
                    <a:lumMod val="50000"/>
                  </a:schemeClr>
                </a:solidFill>
              </a:rPr>
              <a:t>2. Données Manquantes</a:t>
            </a:r>
            <a:endParaRPr lang="fr-FR" sz="4000" b="1" dirty="0">
              <a:solidFill>
                <a:schemeClr val="bg2">
                  <a:lumMod val="50000"/>
                </a:schemeClr>
              </a:solidFill>
            </a:endParaRPr>
          </a:p>
        </p:txBody>
      </p:sp>
      <p:sp>
        <p:nvSpPr>
          <p:cNvPr id="3" name="Rectangle 2"/>
          <p:cNvSpPr/>
          <p:nvPr/>
        </p:nvSpPr>
        <p:spPr>
          <a:xfrm>
            <a:off x="922985" y="1775936"/>
            <a:ext cx="9856631" cy="2554545"/>
          </a:xfrm>
          <a:prstGeom prst="rect">
            <a:avLst/>
          </a:prstGeom>
        </p:spPr>
        <p:txBody>
          <a:bodyPr wrap="square">
            <a:spAutoFit/>
          </a:bodyPr>
          <a:lstStyle/>
          <a:p>
            <a:pPr marL="109728" indent="0">
              <a:buNone/>
            </a:pPr>
            <a:r>
              <a:rPr lang="fr-FR" sz="3200" dirty="0">
                <a:cs typeface="Times New Roman" pitchFamily="18" charset="0"/>
              </a:rPr>
              <a:t>Soient:</a:t>
            </a:r>
          </a:p>
          <a:p>
            <a:r>
              <a:rPr lang="fr-FR" sz="3200" dirty="0">
                <a:cs typeface="Times New Roman" pitchFamily="18" charset="0"/>
              </a:rPr>
              <a:t>X un vecteur de variables complètes</a:t>
            </a:r>
          </a:p>
          <a:p>
            <a:r>
              <a:rPr lang="fr-FR" sz="3200" dirty="0">
                <a:cs typeface="Times New Roman" pitchFamily="18" charset="0"/>
              </a:rPr>
              <a:t>Y vecteur de variables incomplètes</a:t>
            </a:r>
          </a:p>
          <a:p>
            <a:endParaRPr lang="fr-FR" sz="3200" dirty="0">
              <a:cs typeface="Times New Roman" pitchFamily="18" charset="0"/>
            </a:endParaRPr>
          </a:p>
          <a:p>
            <a:pPr marL="109728" indent="0">
              <a:buNone/>
            </a:pPr>
            <a:endParaRPr lang="fr-FR" sz="3200" dirty="0">
              <a:cs typeface="Times New Roman" pitchFamily="18" charset="0"/>
            </a:endParaRPr>
          </a:p>
        </p:txBody>
      </p:sp>
      <p:sp>
        <p:nvSpPr>
          <p:cNvPr id="4" name="Rectangle : coins arrondis 6">
            <a:extLst>
              <a:ext uri="{FF2B5EF4-FFF2-40B4-BE49-F238E27FC236}">
                <a16:creationId xmlns:a16="http://schemas.microsoft.com/office/drawing/2014/main" xmlns="" id="{700C0692-29EE-4049-8604-06C669C621A7}"/>
              </a:ext>
            </a:extLst>
          </p:cNvPr>
          <p:cNvSpPr/>
          <p:nvPr/>
        </p:nvSpPr>
        <p:spPr>
          <a:xfrm>
            <a:off x="504823" y="1602022"/>
            <a:ext cx="11172987" cy="466725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9728" indent="0">
              <a:buNone/>
            </a:pPr>
            <a:endParaRPr lang="fr-FR" sz="3200" dirty="0">
              <a:solidFill>
                <a:schemeClr val="tx1"/>
              </a:solidFill>
              <a:cs typeface="Times New Roman" pitchFamily="18" charset="0"/>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8654" y="3267704"/>
            <a:ext cx="6012234" cy="2983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5086200"/>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2189" y="2216124"/>
            <a:ext cx="10818253" cy="4154984"/>
          </a:xfrm>
          <a:prstGeom prst="rect">
            <a:avLst/>
          </a:prstGeom>
        </p:spPr>
        <p:txBody>
          <a:bodyPr wrap="square">
            <a:spAutoFit/>
          </a:bodyPr>
          <a:lstStyle/>
          <a:p>
            <a:r>
              <a:rPr lang="fr-FR" sz="2400" dirty="0">
                <a:solidFill>
                  <a:schemeClr val="dk1"/>
                </a:solidFill>
              </a:rPr>
              <a:t>Les deux formes, radicalement différentes, pour contourner ou résoudre le problème de données manquantes  sont les suivantes : </a:t>
            </a:r>
          </a:p>
          <a:p>
            <a:endParaRPr lang="fr-FR" sz="2400" dirty="0">
              <a:solidFill>
                <a:schemeClr val="dk1"/>
              </a:solidFill>
            </a:endParaRPr>
          </a:p>
          <a:p>
            <a:pPr marL="285750" indent="-285750">
              <a:buFont typeface="Wingdings" pitchFamily="2" charset="2"/>
              <a:buChar char="Ø"/>
            </a:pPr>
            <a:r>
              <a:rPr lang="fr-FR" sz="2400" b="1" dirty="0">
                <a:solidFill>
                  <a:srgbClr val="C00000"/>
                </a:solidFill>
              </a:rPr>
              <a:t>Elimination</a:t>
            </a:r>
            <a:r>
              <a:rPr lang="fr-FR" sz="2400" dirty="0">
                <a:solidFill>
                  <a:schemeClr val="dk1"/>
                </a:solidFill>
              </a:rPr>
              <a:t>: réduire l’échantillon aux individus «complets», parmi lesquels on ne trouve aucune donnée manquante. </a:t>
            </a:r>
          </a:p>
          <a:p>
            <a:pPr marL="285750" indent="-285750">
              <a:buFont typeface="Wingdings" pitchFamily="2" charset="2"/>
              <a:buChar char="Ø"/>
            </a:pPr>
            <a:endParaRPr lang="fr-FR" sz="2400" dirty="0">
              <a:solidFill>
                <a:schemeClr val="dk1"/>
              </a:solidFill>
            </a:endParaRPr>
          </a:p>
          <a:p>
            <a:r>
              <a:rPr lang="fr-FR" sz="2400" dirty="0">
                <a:solidFill>
                  <a:schemeClr val="dk1"/>
                </a:solidFill>
                <a:sym typeface="Wingdings" pitchFamily="2" charset="2"/>
              </a:rPr>
              <a:t></a:t>
            </a:r>
            <a:r>
              <a:rPr lang="fr-FR" sz="2400" dirty="0">
                <a:solidFill>
                  <a:schemeClr val="dk1"/>
                </a:solidFill>
              </a:rPr>
              <a:t>Retirer les individus qui présentent des données manquantes, s’ils représentent un faible pourcentage de l’échantillon (</a:t>
            </a:r>
            <a:r>
              <a:rPr lang="fr-FR" sz="2400" b="1" dirty="0">
                <a:solidFill>
                  <a:srgbClr val="C00000"/>
                </a:solidFill>
              </a:rPr>
              <a:t>5% ou moins</a:t>
            </a:r>
            <a:r>
              <a:rPr lang="fr-FR" sz="2400" dirty="0">
                <a:solidFill>
                  <a:schemeClr val="dk1"/>
                </a:solidFill>
              </a:rPr>
              <a:t>), peut paraître raisonnable. </a:t>
            </a:r>
          </a:p>
          <a:p>
            <a:endParaRPr lang="fr-FR" sz="2400" dirty="0">
              <a:solidFill>
                <a:schemeClr val="dk1"/>
              </a:solidFill>
            </a:endParaRPr>
          </a:p>
          <a:p>
            <a:pPr marL="285750" indent="-285750">
              <a:buFont typeface="Wingdings" pitchFamily="2" charset="2"/>
              <a:buChar char="Ø"/>
            </a:pPr>
            <a:r>
              <a:rPr lang="fr-FR" sz="2400" b="1" dirty="0">
                <a:solidFill>
                  <a:srgbClr val="C00000"/>
                </a:solidFill>
              </a:rPr>
              <a:t>Imputation </a:t>
            </a:r>
            <a:r>
              <a:rPr lang="fr-FR" sz="2400" dirty="0">
                <a:solidFill>
                  <a:schemeClr val="dk1"/>
                </a:solidFill>
              </a:rPr>
              <a:t>: attribuer des valeurs aux données manquantes selon un critère rationnel. </a:t>
            </a:r>
          </a:p>
        </p:txBody>
      </p:sp>
      <p:sp>
        <p:nvSpPr>
          <p:cNvPr id="3" name="Rectangle : coins arrondis 3">
            <a:extLst>
              <a:ext uri="{FF2B5EF4-FFF2-40B4-BE49-F238E27FC236}">
                <a16:creationId xmlns:a16="http://schemas.microsoft.com/office/drawing/2014/main" xmlns="" id="{4DA6CE65-D62B-43AD-B2AF-9993213ACBC1}"/>
              </a:ext>
            </a:extLst>
          </p:cNvPr>
          <p:cNvSpPr/>
          <p:nvPr/>
        </p:nvSpPr>
        <p:spPr>
          <a:xfrm>
            <a:off x="457200" y="482823"/>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4000" dirty="0" smtClean="0">
                <a:solidFill>
                  <a:srgbClr val="C00000"/>
                </a:solidFill>
              </a:rPr>
              <a:t>       </a:t>
            </a:r>
            <a:r>
              <a:rPr lang="fr-FR" sz="4000" b="1" dirty="0" smtClean="0">
                <a:solidFill>
                  <a:schemeClr val="bg2">
                    <a:lumMod val="50000"/>
                  </a:schemeClr>
                </a:solidFill>
              </a:rPr>
              <a:t>2. Données Manquantes</a:t>
            </a:r>
            <a:endParaRPr lang="fr-FR" sz="4000" b="1" dirty="0">
              <a:solidFill>
                <a:schemeClr val="bg2">
                  <a:lumMod val="50000"/>
                </a:schemeClr>
              </a:solidFill>
            </a:endParaRPr>
          </a:p>
        </p:txBody>
      </p:sp>
      <p:sp>
        <p:nvSpPr>
          <p:cNvPr id="4" name="Rectangle : coins arrondis 6">
            <a:extLst>
              <a:ext uri="{FF2B5EF4-FFF2-40B4-BE49-F238E27FC236}">
                <a16:creationId xmlns:a16="http://schemas.microsoft.com/office/drawing/2014/main" xmlns="" id="{700C0692-29EE-4049-8604-06C669C621A7}"/>
              </a:ext>
            </a:extLst>
          </p:cNvPr>
          <p:cNvSpPr/>
          <p:nvPr/>
        </p:nvSpPr>
        <p:spPr>
          <a:xfrm>
            <a:off x="504823" y="1602022"/>
            <a:ext cx="11172987" cy="466725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9728" indent="0">
              <a:buNone/>
            </a:pPr>
            <a:endParaRPr lang="fr-FR" sz="3200" dirty="0">
              <a:solidFill>
                <a:schemeClr val="tx1"/>
              </a:solidFill>
              <a:cs typeface="Times New Roman" pitchFamily="18" charset="0"/>
            </a:endParaRPr>
          </a:p>
        </p:txBody>
      </p:sp>
      <p:pic>
        <p:nvPicPr>
          <p:cNvPr id="5" name="Picture 2" descr="Image associÃ©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20377" y="5665915"/>
            <a:ext cx="1123973" cy="88275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968218" y="1646967"/>
            <a:ext cx="1993174" cy="584775"/>
          </a:xfrm>
          <a:prstGeom prst="rect">
            <a:avLst/>
          </a:prstGeom>
        </p:spPr>
        <p:txBody>
          <a:bodyPr wrap="none">
            <a:spAutoFit/>
          </a:bodyPr>
          <a:lstStyle/>
          <a:p>
            <a:pPr marL="109728" indent="0">
              <a:buNone/>
            </a:pPr>
            <a:r>
              <a:rPr lang="fr-FR" sz="3200" b="1" dirty="0">
                <a:cs typeface="Times New Roman" pitchFamily="18" charset="0"/>
              </a:rPr>
              <a:t>Solutions:</a:t>
            </a:r>
          </a:p>
        </p:txBody>
      </p:sp>
    </p:spTree>
    <p:extLst>
      <p:ext uri="{BB962C8B-B14F-4D97-AF65-F5344CB8AC3E}">
        <p14:creationId xmlns:p14="http://schemas.microsoft.com/office/powerpoint/2010/main" val="93806565"/>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4908" y="2364578"/>
            <a:ext cx="10980995" cy="3416320"/>
          </a:xfrm>
          <a:prstGeom prst="rect">
            <a:avLst/>
          </a:prstGeom>
        </p:spPr>
        <p:txBody>
          <a:bodyPr wrap="square">
            <a:spAutoFit/>
          </a:bodyPr>
          <a:lstStyle/>
          <a:p>
            <a:r>
              <a:rPr lang="fr-FR" b="1" u="sng" dirty="0">
                <a:solidFill>
                  <a:srgbClr val="C00000"/>
                </a:solidFill>
              </a:rPr>
              <a:t>Principe</a:t>
            </a:r>
            <a:r>
              <a:rPr lang="fr-FR" dirty="0">
                <a:solidFill>
                  <a:schemeClr val="dk1"/>
                </a:solidFill>
              </a:rPr>
              <a:t>: Remplacer chaque DM par une valeur plausible. Cela peut être: </a:t>
            </a:r>
            <a:r>
              <a:rPr lang="fr-FR" b="1" dirty="0"/>
              <a:t>la moyenne </a:t>
            </a:r>
            <a:r>
              <a:rPr lang="fr-FR" dirty="0">
                <a:solidFill>
                  <a:schemeClr val="dk1"/>
                </a:solidFill>
              </a:rPr>
              <a:t>ou </a:t>
            </a:r>
            <a:r>
              <a:rPr lang="fr-FR" b="1" dirty="0">
                <a:solidFill>
                  <a:schemeClr val="dk1"/>
                </a:solidFill>
              </a:rPr>
              <a:t>la médiane </a:t>
            </a:r>
            <a:r>
              <a:rPr lang="fr-FR" dirty="0">
                <a:solidFill>
                  <a:schemeClr val="dk1"/>
                </a:solidFill>
              </a:rPr>
              <a:t>pour les variables quantitatives ou </a:t>
            </a:r>
            <a:r>
              <a:rPr lang="fr-FR" b="1" dirty="0">
                <a:solidFill>
                  <a:schemeClr val="dk1"/>
                </a:solidFill>
              </a:rPr>
              <a:t>le mode </a:t>
            </a:r>
            <a:r>
              <a:rPr lang="fr-FR" dirty="0">
                <a:solidFill>
                  <a:schemeClr val="dk1"/>
                </a:solidFill>
              </a:rPr>
              <a:t>pour les variables qualitatives.</a:t>
            </a:r>
          </a:p>
          <a:p>
            <a:pPr marL="109728" indent="0">
              <a:buNone/>
            </a:pPr>
            <a:r>
              <a:rPr lang="fr-FR" dirty="0">
                <a:solidFill>
                  <a:schemeClr val="dk1"/>
                </a:solidFill>
              </a:rPr>
              <a:t>Cette méthode peut comprendre deux types:</a:t>
            </a:r>
          </a:p>
          <a:p>
            <a:pPr marL="109728" indent="0">
              <a:buNone/>
            </a:pPr>
            <a:endParaRPr lang="fr-FR" dirty="0">
              <a:solidFill>
                <a:schemeClr val="dk1"/>
              </a:solidFill>
            </a:endParaRPr>
          </a:p>
          <a:p>
            <a:pPr>
              <a:buFont typeface="Wingdings" pitchFamily="2" charset="2"/>
              <a:buChar char="q"/>
            </a:pPr>
            <a:r>
              <a:rPr lang="fr-FR" dirty="0">
                <a:solidFill>
                  <a:schemeClr val="dk1"/>
                </a:solidFill>
              </a:rPr>
              <a:t>    </a:t>
            </a:r>
            <a:r>
              <a:rPr lang="fr-FR" b="1" u="sng" dirty="0" err="1">
                <a:solidFill>
                  <a:schemeClr val="dk1"/>
                </a:solidFill>
              </a:rPr>
              <a:t>Generalized</a:t>
            </a:r>
            <a:r>
              <a:rPr lang="fr-FR" b="1" u="sng" dirty="0">
                <a:solidFill>
                  <a:schemeClr val="dk1"/>
                </a:solidFill>
              </a:rPr>
              <a:t> imputation</a:t>
            </a:r>
          </a:p>
          <a:p>
            <a:pPr marL="109728" indent="0">
              <a:buNone/>
            </a:pPr>
            <a:r>
              <a:rPr lang="fr-FR" dirty="0">
                <a:solidFill>
                  <a:schemeClr val="dk1"/>
                </a:solidFill>
              </a:rPr>
              <a:t>On calcule la moyenne ou bien la médiane de toutes les valeurs non manquantes que prend la variable, puis on remplace les DM par ces valeurs (Mode dans le cas des variables qualitatives</a:t>
            </a:r>
            <a:r>
              <a:rPr lang="fr-FR" dirty="0" smtClean="0">
                <a:solidFill>
                  <a:schemeClr val="dk1"/>
                </a:solidFill>
              </a:rPr>
              <a:t>)</a:t>
            </a:r>
            <a:endParaRPr lang="fr-FR" dirty="0">
              <a:solidFill>
                <a:schemeClr val="dk1"/>
              </a:solidFill>
            </a:endParaRPr>
          </a:p>
          <a:p>
            <a:pPr>
              <a:buFont typeface="Wingdings" pitchFamily="2" charset="2"/>
              <a:buChar char="q"/>
            </a:pPr>
            <a:endParaRPr lang="fr-FR" dirty="0">
              <a:solidFill>
                <a:schemeClr val="dk1"/>
              </a:solidFill>
            </a:endParaRPr>
          </a:p>
          <a:p>
            <a:pPr marL="109728" indent="0">
              <a:buNone/>
            </a:pPr>
            <a:endParaRPr lang="fr-FR" dirty="0">
              <a:solidFill>
                <a:schemeClr val="dk1"/>
              </a:solidFill>
            </a:endParaRPr>
          </a:p>
          <a:p>
            <a:pPr>
              <a:buFont typeface="Wingdings" pitchFamily="2" charset="2"/>
              <a:buChar char="q"/>
            </a:pPr>
            <a:r>
              <a:rPr lang="fr-FR" dirty="0">
                <a:solidFill>
                  <a:schemeClr val="dk1"/>
                </a:solidFill>
              </a:rPr>
              <a:t>     </a:t>
            </a:r>
            <a:r>
              <a:rPr lang="fr-FR" b="1" u="sng" dirty="0" err="1">
                <a:solidFill>
                  <a:schemeClr val="dk1"/>
                </a:solidFill>
              </a:rPr>
              <a:t>Similar</a:t>
            </a:r>
            <a:r>
              <a:rPr lang="fr-FR" b="1" u="sng" dirty="0">
                <a:solidFill>
                  <a:schemeClr val="dk1"/>
                </a:solidFill>
              </a:rPr>
              <a:t> case imputation</a:t>
            </a:r>
          </a:p>
          <a:p>
            <a:pPr marL="109728" indent="0">
              <a:buNone/>
            </a:pPr>
            <a:r>
              <a:rPr lang="fr-FR" dirty="0">
                <a:solidFill>
                  <a:schemeClr val="dk1"/>
                </a:solidFill>
              </a:rPr>
              <a:t>On remplace les DM par des valeurs provenant d’individus similaires pour lesquels, toute l’information a été observée</a:t>
            </a:r>
          </a:p>
        </p:txBody>
      </p:sp>
      <p:sp>
        <p:nvSpPr>
          <p:cNvPr id="3" name="Rectangle : coins arrondis 3">
            <a:extLst>
              <a:ext uri="{FF2B5EF4-FFF2-40B4-BE49-F238E27FC236}">
                <a16:creationId xmlns:a16="http://schemas.microsoft.com/office/drawing/2014/main" xmlns="" id="{4DA6CE65-D62B-43AD-B2AF-9993213ACBC1}"/>
              </a:ext>
            </a:extLst>
          </p:cNvPr>
          <p:cNvSpPr/>
          <p:nvPr/>
        </p:nvSpPr>
        <p:spPr>
          <a:xfrm>
            <a:off x="457200" y="482823"/>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4000" dirty="0" smtClean="0">
                <a:solidFill>
                  <a:srgbClr val="C00000"/>
                </a:solidFill>
              </a:rPr>
              <a:t>       </a:t>
            </a:r>
            <a:r>
              <a:rPr lang="fr-FR" sz="4000" b="1" dirty="0" smtClean="0">
                <a:solidFill>
                  <a:schemeClr val="bg2">
                    <a:lumMod val="50000"/>
                  </a:schemeClr>
                </a:solidFill>
              </a:rPr>
              <a:t>2. Données Manquantes</a:t>
            </a:r>
            <a:endParaRPr lang="fr-FR" sz="4000" b="1" dirty="0">
              <a:solidFill>
                <a:schemeClr val="bg2">
                  <a:lumMod val="50000"/>
                </a:schemeClr>
              </a:solidFill>
            </a:endParaRPr>
          </a:p>
        </p:txBody>
      </p:sp>
      <p:sp>
        <p:nvSpPr>
          <p:cNvPr id="4" name="Rectangle : coins arrondis 6">
            <a:extLst>
              <a:ext uri="{FF2B5EF4-FFF2-40B4-BE49-F238E27FC236}">
                <a16:creationId xmlns:a16="http://schemas.microsoft.com/office/drawing/2014/main" xmlns="" id="{700C0692-29EE-4049-8604-06C669C621A7}"/>
              </a:ext>
            </a:extLst>
          </p:cNvPr>
          <p:cNvSpPr/>
          <p:nvPr/>
        </p:nvSpPr>
        <p:spPr>
          <a:xfrm>
            <a:off x="504823" y="1602022"/>
            <a:ext cx="11172987" cy="466725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9728" indent="0">
              <a:buNone/>
            </a:pPr>
            <a:endParaRPr lang="fr-FR" sz="3200" dirty="0">
              <a:solidFill>
                <a:schemeClr val="tx1"/>
              </a:solidFill>
              <a:cs typeface="Times New Roman" pitchFamily="18" charset="0"/>
            </a:endParaRPr>
          </a:p>
        </p:txBody>
      </p:sp>
      <p:sp>
        <p:nvSpPr>
          <p:cNvPr id="5" name="Rectangle 4"/>
          <p:cNvSpPr/>
          <p:nvPr/>
        </p:nvSpPr>
        <p:spPr>
          <a:xfrm>
            <a:off x="879666" y="1769443"/>
            <a:ext cx="3450175" cy="584775"/>
          </a:xfrm>
          <a:prstGeom prst="rect">
            <a:avLst/>
          </a:prstGeom>
        </p:spPr>
        <p:txBody>
          <a:bodyPr wrap="none">
            <a:spAutoFit/>
          </a:bodyPr>
          <a:lstStyle/>
          <a:p>
            <a:r>
              <a:rPr lang="fr-FR" sz="3200" b="1" dirty="0">
                <a:cs typeface="Times New Roman" pitchFamily="18" charset="0"/>
              </a:rPr>
              <a:t>Imputation </a:t>
            </a:r>
            <a:r>
              <a:rPr lang="fr-FR" sz="3200" b="1" dirty="0" smtClean="0">
                <a:cs typeface="Times New Roman" pitchFamily="18" charset="0"/>
              </a:rPr>
              <a:t>Simple:</a:t>
            </a:r>
            <a:endParaRPr lang="fr-FR" sz="3200" b="1" dirty="0">
              <a:cs typeface="Times New Roman" pitchFamily="18" charset="0"/>
            </a:endParaRPr>
          </a:p>
        </p:txBody>
      </p:sp>
    </p:spTree>
    <p:extLst>
      <p:ext uri="{BB962C8B-B14F-4D97-AF65-F5344CB8AC3E}">
        <p14:creationId xmlns:p14="http://schemas.microsoft.com/office/powerpoint/2010/main" val="1350180234"/>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 coins arrondis 3">
            <a:extLst>
              <a:ext uri="{FF2B5EF4-FFF2-40B4-BE49-F238E27FC236}">
                <a16:creationId xmlns:a16="http://schemas.microsoft.com/office/drawing/2014/main" xmlns="" id="{4DA6CE65-D62B-43AD-B2AF-9993213ACBC1}"/>
              </a:ext>
            </a:extLst>
          </p:cNvPr>
          <p:cNvSpPr/>
          <p:nvPr/>
        </p:nvSpPr>
        <p:spPr>
          <a:xfrm>
            <a:off x="457200" y="482823"/>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4000" dirty="0" smtClean="0">
                <a:solidFill>
                  <a:srgbClr val="C00000"/>
                </a:solidFill>
              </a:rPr>
              <a:t>       </a:t>
            </a:r>
            <a:r>
              <a:rPr lang="fr-FR" sz="4000" b="1" dirty="0" smtClean="0">
                <a:solidFill>
                  <a:schemeClr val="bg2">
                    <a:lumMod val="50000"/>
                  </a:schemeClr>
                </a:solidFill>
              </a:rPr>
              <a:t>2. Données Manquantes</a:t>
            </a:r>
            <a:endParaRPr lang="fr-FR" sz="4000" b="1" dirty="0">
              <a:solidFill>
                <a:schemeClr val="bg2">
                  <a:lumMod val="50000"/>
                </a:schemeClr>
              </a:solidFill>
            </a:endParaRPr>
          </a:p>
        </p:txBody>
      </p:sp>
      <p:sp>
        <p:nvSpPr>
          <p:cNvPr id="4" name="Rectangle : coins arrondis 6">
            <a:extLst>
              <a:ext uri="{FF2B5EF4-FFF2-40B4-BE49-F238E27FC236}">
                <a16:creationId xmlns:a16="http://schemas.microsoft.com/office/drawing/2014/main" xmlns="" id="{700C0692-29EE-4049-8604-06C669C621A7}"/>
              </a:ext>
            </a:extLst>
          </p:cNvPr>
          <p:cNvSpPr/>
          <p:nvPr/>
        </p:nvSpPr>
        <p:spPr>
          <a:xfrm>
            <a:off x="504823" y="1602022"/>
            <a:ext cx="11172987" cy="466725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9728" indent="0">
              <a:buNone/>
            </a:pPr>
            <a:endParaRPr lang="fr-FR" sz="3200" dirty="0">
              <a:solidFill>
                <a:schemeClr val="tx1"/>
              </a:solidFill>
              <a:cs typeface="Times New Roman" pitchFamily="18" charset="0"/>
            </a:endParaRPr>
          </a:p>
        </p:txBody>
      </p:sp>
      <p:sp>
        <p:nvSpPr>
          <p:cNvPr id="5" name="Rectangle 4"/>
          <p:cNvSpPr/>
          <p:nvPr/>
        </p:nvSpPr>
        <p:spPr>
          <a:xfrm>
            <a:off x="879666" y="1769443"/>
            <a:ext cx="6687793" cy="584775"/>
          </a:xfrm>
          <a:prstGeom prst="rect">
            <a:avLst/>
          </a:prstGeom>
        </p:spPr>
        <p:txBody>
          <a:bodyPr wrap="none">
            <a:spAutoFit/>
          </a:bodyPr>
          <a:lstStyle/>
          <a:p>
            <a:r>
              <a:rPr lang="fr-FR" sz="3200" b="1" dirty="0">
                <a:cs typeface="Times New Roman" pitchFamily="18" charset="0"/>
              </a:rPr>
              <a:t>Imputation </a:t>
            </a:r>
            <a:r>
              <a:rPr lang="fr-FR" sz="3200" b="1" dirty="0" smtClean="0">
                <a:cs typeface="Times New Roman" pitchFamily="18" charset="0"/>
              </a:rPr>
              <a:t>par l’algorithme KNN (1/2)</a:t>
            </a:r>
            <a:endParaRPr lang="fr-FR" sz="3200" b="1" dirty="0">
              <a:cs typeface="Times New Roman" pitchFamily="18" charset="0"/>
            </a:endParaRPr>
          </a:p>
        </p:txBody>
      </p:sp>
      <p:sp>
        <p:nvSpPr>
          <p:cNvPr id="6" name="Rectangle 5"/>
          <p:cNvSpPr/>
          <p:nvPr/>
        </p:nvSpPr>
        <p:spPr>
          <a:xfrm>
            <a:off x="785611" y="2394065"/>
            <a:ext cx="9697791" cy="3277820"/>
          </a:xfrm>
          <a:prstGeom prst="rect">
            <a:avLst/>
          </a:prstGeom>
        </p:spPr>
        <p:txBody>
          <a:bodyPr wrap="square">
            <a:spAutoFit/>
          </a:bodyPr>
          <a:lstStyle/>
          <a:p>
            <a:pPr>
              <a:lnSpc>
                <a:spcPct val="150000"/>
              </a:lnSpc>
            </a:pPr>
            <a:endParaRPr lang="fr-FR" dirty="0" smtClean="0"/>
          </a:p>
          <a:p>
            <a:pPr>
              <a:lnSpc>
                <a:spcPct val="150000"/>
              </a:lnSpc>
            </a:pPr>
            <a:r>
              <a:rPr lang="fr-FR" dirty="0" smtClean="0"/>
              <a:t>Dans </a:t>
            </a:r>
            <a:r>
              <a:rPr lang="fr-FR" dirty="0">
                <a:solidFill>
                  <a:schemeClr val="dk1"/>
                </a:solidFill>
              </a:rPr>
              <a:t>cette méthode:</a:t>
            </a:r>
          </a:p>
          <a:p>
            <a:pPr marL="109728" indent="0">
              <a:lnSpc>
                <a:spcPct val="150000"/>
              </a:lnSpc>
              <a:buNone/>
            </a:pPr>
            <a:r>
              <a:rPr lang="fr-FR" dirty="0">
                <a:solidFill>
                  <a:schemeClr val="dk1"/>
                </a:solidFill>
              </a:rPr>
              <a:t>*Les DM d’une variable sont imputées en utilisant les variables les plus similaires de celui en question</a:t>
            </a:r>
          </a:p>
          <a:p>
            <a:pPr marL="109728" indent="0">
              <a:lnSpc>
                <a:spcPct val="150000"/>
              </a:lnSpc>
              <a:buNone/>
            </a:pPr>
            <a:r>
              <a:rPr lang="fr-FR" dirty="0">
                <a:solidFill>
                  <a:schemeClr val="dk1"/>
                </a:solidFill>
              </a:rPr>
              <a:t>*La similarité entre deux attributs est déterminée en utilisant une fonction de distance</a:t>
            </a:r>
          </a:p>
          <a:p>
            <a:pPr marL="109728" indent="0">
              <a:lnSpc>
                <a:spcPct val="150000"/>
              </a:lnSpc>
              <a:buNone/>
            </a:pPr>
            <a:r>
              <a:rPr lang="fr-FR" dirty="0">
                <a:solidFill>
                  <a:schemeClr val="dk1"/>
                </a:solidFill>
              </a:rPr>
              <a:t>*Le package </a:t>
            </a:r>
            <a:r>
              <a:rPr lang="fr-FR" b="1" dirty="0"/>
              <a:t>VIM</a:t>
            </a:r>
            <a:r>
              <a:rPr lang="fr-FR" dirty="0">
                <a:solidFill>
                  <a:schemeClr val="dk1"/>
                </a:solidFill>
              </a:rPr>
              <a:t> dans </a:t>
            </a:r>
            <a:r>
              <a:rPr lang="fr-FR" b="1" dirty="0" err="1">
                <a:solidFill>
                  <a:schemeClr val="dk1"/>
                </a:solidFill>
              </a:rPr>
              <a:t>R</a:t>
            </a:r>
            <a:r>
              <a:rPr lang="fr-FR" dirty="0" err="1">
                <a:solidFill>
                  <a:schemeClr val="dk1"/>
                </a:solidFill>
              </a:rPr>
              <a:t>,utilise</a:t>
            </a:r>
            <a:r>
              <a:rPr lang="fr-FR" dirty="0">
                <a:solidFill>
                  <a:schemeClr val="dk1"/>
                </a:solidFill>
              </a:rPr>
              <a:t> une fonction appelé </a:t>
            </a:r>
            <a:r>
              <a:rPr lang="fr-FR" dirty="0" err="1">
                <a:solidFill>
                  <a:schemeClr val="dk1"/>
                </a:solidFill>
              </a:rPr>
              <a:t>kNN</a:t>
            </a:r>
            <a:r>
              <a:rPr lang="fr-FR" dirty="0">
                <a:solidFill>
                  <a:schemeClr val="dk1"/>
                </a:solidFill>
              </a:rPr>
              <a:t> qui implémente </a:t>
            </a:r>
            <a:r>
              <a:rPr lang="fr-FR" b="1" u="sng" dirty="0"/>
              <a:t>une distance de </a:t>
            </a:r>
            <a:r>
              <a:rPr lang="fr-FR" b="1" u="sng" dirty="0" err="1"/>
              <a:t>Gowers</a:t>
            </a:r>
            <a:r>
              <a:rPr lang="fr-FR" b="1" u="sng" dirty="0"/>
              <a:t> </a:t>
            </a:r>
            <a:r>
              <a:rPr lang="fr-FR" dirty="0">
                <a:solidFill>
                  <a:schemeClr val="dk1"/>
                </a:solidFill>
              </a:rPr>
              <a:t>pour déterminer les K plus proches voisins </a:t>
            </a:r>
          </a:p>
          <a:p>
            <a:pPr marL="109728" indent="0">
              <a:buNone/>
            </a:pPr>
            <a:endParaRPr lang="fr-FR" dirty="0">
              <a:solidFill>
                <a:schemeClr val="dk1"/>
              </a:solidFill>
            </a:endParaRPr>
          </a:p>
        </p:txBody>
      </p:sp>
    </p:spTree>
    <p:extLst>
      <p:ext uri="{BB962C8B-B14F-4D97-AF65-F5344CB8AC3E}">
        <p14:creationId xmlns:p14="http://schemas.microsoft.com/office/powerpoint/2010/main" val="289510188"/>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 coins arrondis 3">
            <a:extLst>
              <a:ext uri="{FF2B5EF4-FFF2-40B4-BE49-F238E27FC236}">
                <a16:creationId xmlns:a16="http://schemas.microsoft.com/office/drawing/2014/main" xmlns="" id="{4DA6CE65-D62B-43AD-B2AF-9993213ACBC1}"/>
              </a:ext>
            </a:extLst>
          </p:cNvPr>
          <p:cNvSpPr/>
          <p:nvPr/>
        </p:nvSpPr>
        <p:spPr>
          <a:xfrm>
            <a:off x="457200" y="482823"/>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4000" dirty="0" smtClean="0">
                <a:solidFill>
                  <a:srgbClr val="C00000"/>
                </a:solidFill>
              </a:rPr>
              <a:t>       </a:t>
            </a:r>
            <a:r>
              <a:rPr lang="fr-FR" sz="4000" b="1" dirty="0" smtClean="0">
                <a:solidFill>
                  <a:schemeClr val="bg2">
                    <a:lumMod val="50000"/>
                  </a:schemeClr>
                </a:solidFill>
              </a:rPr>
              <a:t>2. Données Manquantes</a:t>
            </a:r>
            <a:endParaRPr lang="fr-FR" sz="4000" b="1" dirty="0">
              <a:solidFill>
                <a:schemeClr val="bg2">
                  <a:lumMod val="50000"/>
                </a:schemeClr>
              </a:solidFill>
            </a:endParaRPr>
          </a:p>
        </p:txBody>
      </p:sp>
      <p:sp>
        <p:nvSpPr>
          <p:cNvPr id="4" name="Rectangle : coins arrondis 6">
            <a:extLst>
              <a:ext uri="{FF2B5EF4-FFF2-40B4-BE49-F238E27FC236}">
                <a16:creationId xmlns:a16="http://schemas.microsoft.com/office/drawing/2014/main" xmlns="" id="{700C0692-29EE-4049-8604-06C669C621A7}"/>
              </a:ext>
            </a:extLst>
          </p:cNvPr>
          <p:cNvSpPr/>
          <p:nvPr/>
        </p:nvSpPr>
        <p:spPr>
          <a:xfrm>
            <a:off x="504823" y="1602022"/>
            <a:ext cx="11172987" cy="466725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9728" indent="0">
              <a:buNone/>
            </a:pPr>
            <a:endParaRPr lang="fr-FR" sz="3200" dirty="0">
              <a:solidFill>
                <a:schemeClr val="tx1"/>
              </a:solidFill>
              <a:cs typeface="Times New Roman" pitchFamily="18" charset="0"/>
            </a:endParaRPr>
          </a:p>
        </p:txBody>
      </p:sp>
      <p:sp>
        <p:nvSpPr>
          <p:cNvPr id="5" name="Rectangle 4"/>
          <p:cNvSpPr/>
          <p:nvPr/>
        </p:nvSpPr>
        <p:spPr>
          <a:xfrm>
            <a:off x="879666" y="1769443"/>
            <a:ext cx="6687793" cy="584775"/>
          </a:xfrm>
          <a:prstGeom prst="rect">
            <a:avLst/>
          </a:prstGeom>
        </p:spPr>
        <p:txBody>
          <a:bodyPr wrap="none">
            <a:spAutoFit/>
          </a:bodyPr>
          <a:lstStyle/>
          <a:p>
            <a:r>
              <a:rPr lang="fr-FR" sz="3200" b="1" dirty="0">
                <a:cs typeface="Times New Roman" pitchFamily="18" charset="0"/>
              </a:rPr>
              <a:t>Imputation </a:t>
            </a:r>
            <a:r>
              <a:rPr lang="fr-FR" sz="3200" b="1" dirty="0" smtClean="0">
                <a:cs typeface="Times New Roman" pitchFamily="18" charset="0"/>
              </a:rPr>
              <a:t>par l’algorithme KNN (2/2)</a:t>
            </a:r>
            <a:endParaRPr lang="fr-FR" sz="3200" b="1" dirty="0">
              <a:cs typeface="Times New Roman" pitchFamily="18" charset="0"/>
            </a:endParaRPr>
          </a:p>
        </p:txBody>
      </p:sp>
      <p:sp>
        <p:nvSpPr>
          <p:cNvPr id="2" name="Rectangle 1"/>
          <p:cNvSpPr/>
          <p:nvPr/>
        </p:nvSpPr>
        <p:spPr>
          <a:xfrm>
            <a:off x="789513" y="2413889"/>
            <a:ext cx="10427985" cy="3416320"/>
          </a:xfrm>
          <a:prstGeom prst="rect">
            <a:avLst/>
          </a:prstGeom>
        </p:spPr>
        <p:txBody>
          <a:bodyPr wrap="square">
            <a:spAutoFit/>
          </a:bodyPr>
          <a:lstStyle/>
          <a:p>
            <a:pPr>
              <a:lnSpc>
                <a:spcPct val="150000"/>
              </a:lnSpc>
            </a:pPr>
            <a:r>
              <a:rPr lang="fr-FR" sz="2400" dirty="0"/>
              <a:t>Pour effectuer une prédiction, l’algorithme K-NN va se baser sur le jeu de données en entier. En effet, pour une observation, qui ne fait pas parti du jeu de données, qu’on souhaite prédire, l’algorithme va chercher les K instances du jeu de données les plus proches de notre observation. Ensuite pour ces  voisins, l’algorithme se basera sur leurs variables de sortie (output variable)  pour calculer la valeur de la variable  de l’observation qu’on souhaite prédire.</a:t>
            </a:r>
          </a:p>
        </p:txBody>
      </p:sp>
    </p:spTree>
    <p:extLst>
      <p:ext uri="{BB962C8B-B14F-4D97-AF65-F5344CB8AC3E}">
        <p14:creationId xmlns:p14="http://schemas.microsoft.com/office/powerpoint/2010/main" val="3939662326"/>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 coins arrondis 3">
            <a:extLst>
              <a:ext uri="{FF2B5EF4-FFF2-40B4-BE49-F238E27FC236}">
                <a16:creationId xmlns:a16="http://schemas.microsoft.com/office/drawing/2014/main" xmlns="" id="{4DA6CE65-D62B-43AD-B2AF-9993213ACBC1}"/>
              </a:ext>
            </a:extLst>
          </p:cNvPr>
          <p:cNvSpPr/>
          <p:nvPr/>
        </p:nvSpPr>
        <p:spPr>
          <a:xfrm>
            <a:off x="457200" y="482823"/>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4000" dirty="0" smtClean="0">
                <a:solidFill>
                  <a:srgbClr val="C00000"/>
                </a:solidFill>
              </a:rPr>
              <a:t>       </a:t>
            </a:r>
            <a:r>
              <a:rPr lang="fr-FR" sz="4000" b="1" dirty="0" smtClean="0">
                <a:solidFill>
                  <a:schemeClr val="bg2">
                    <a:lumMod val="50000"/>
                  </a:schemeClr>
                </a:solidFill>
              </a:rPr>
              <a:t>2. Données Manquantes</a:t>
            </a:r>
            <a:endParaRPr lang="fr-FR" sz="4000" b="1" dirty="0">
              <a:solidFill>
                <a:schemeClr val="bg2">
                  <a:lumMod val="50000"/>
                </a:schemeClr>
              </a:solidFill>
            </a:endParaRPr>
          </a:p>
        </p:txBody>
      </p:sp>
      <p:sp>
        <p:nvSpPr>
          <p:cNvPr id="4" name="Rectangle : coins arrondis 6">
            <a:extLst>
              <a:ext uri="{FF2B5EF4-FFF2-40B4-BE49-F238E27FC236}">
                <a16:creationId xmlns:a16="http://schemas.microsoft.com/office/drawing/2014/main" xmlns="" id="{700C0692-29EE-4049-8604-06C669C621A7}"/>
              </a:ext>
            </a:extLst>
          </p:cNvPr>
          <p:cNvSpPr/>
          <p:nvPr/>
        </p:nvSpPr>
        <p:spPr>
          <a:xfrm>
            <a:off x="504823" y="1602022"/>
            <a:ext cx="11172987" cy="466725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9728" indent="0">
              <a:buNone/>
            </a:pPr>
            <a:endParaRPr lang="fr-FR" sz="3200" dirty="0">
              <a:solidFill>
                <a:schemeClr val="tx1"/>
              </a:solidFill>
              <a:cs typeface="Times New Roman" pitchFamily="18" charset="0"/>
            </a:endParaRPr>
          </a:p>
        </p:txBody>
      </p:sp>
      <p:sp>
        <p:nvSpPr>
          <p:cNvPr id="5" name="Rectangle 4"/>
          <p:cNvSpPr/>
          <p:nvPr/>
        </p:nvSpPr>
        <p:spPr>
          <a:xfrm>
            <a:off x="879666" y="1769443"/>
            <a:ext cx="3692229" cy="584775"/>
          </a:xfrm>
          <a:prstGeom prst="rect">
            <a:avLst/>
          </a:prstGeom>
        </p:spPr>
        <p:txBody>
          <a:bodyPr wrap="none">
            <a:spAutoFit/>
          </a:bodyPr>
          <a:lstStyle/>
          <a:p>
            <a:r>
              <a:rPr lang="fr-FR" sz="3200" b="1" dirty="0">
                <a:cs typeface="Times New Roman" pitchFamily="18" charset="0"/>
              </a:rPr>
              <a:t>Imputation </a:t>
            </a:r>
            <a:r>
              <a:rPr lang="fr-FR" sz="3200" b="1" dirty="0" smtClean="0">
                <a:cs typeface="Times New Roman" pitchFamily="18" charset="0"/>
              </a:rPr>
              <a:t>Hot </a:t>
            </a:r>
            <a:r>
              <a:rPr lang="fr-FR" sz="3200" b="1" dirty="0" err="1" smtClean="0">
                <a:cs typeface="Times New Roman" pitchFamily="18" charset="0"/>
              </a:rPr>
              <a:t>deck</a:t>
            </a:r>
            <a:endParaRPr lang="fr-FR" sz="3200" b="1" dirty="0">
              <a:cs typeface="Times New Roman" pitchFamily="18" charset="0"/>
            </a:endParaRPr>
          </a:p>
        </p:txBody>
      </p:sp>
      <p:sp>
        <p:nvSpPr>
          <p:cNvPr id="6" name="Espace réservé du contenu 1"/>
          <p:cNvSpPr txBox="1">
            <a:spLocks/>
          </p:cNvSpPr>
          <p:nvPr/>
        </p:nvSpPr>
        <p:spPr>
          <a:xfrm>
            <a:off x="779171" y="2372134"/>
            <a:ext cx="10000445" cy="45259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000" dirty="0" smtClean="0"/>
              <a:t>Imputer la valeur manquante avec une valeur observée de la même base de donnée aléatoirement (Sous R, la fonction </a:t>
            </a:r>
            <a:r>
              <a:rPr lang="fr-FR" sz="2000" b="1" dirty="0" smtClean="0"/>
              <a:t>impute</a:t>
            </a:r>
            <a:r>
              <a:rPr lang="fr-FR" sz="2000" dirty="0" smtClean="0"/>
              <a:t> du package </a:t>
            </a:r>
            <a:r>
              <a:rPr lang="fr-FR" sz="2000" b="1" dirty="0" err="1" smtClean="0"/>
              <a:t>Hmisc</a:t>
            </a:r>
            <a:r>
              <a:rPr lang="fr-FR" sz="2000" b="1" dirty="0" smtClean="0"/>
              <a:t> </a:t>
            </a:r>
            <a:r>
              <a:rPr lang="fr-FR" sz="2000" dirty="0" smtClean="0"/>
              <a:t>implémente cette méthode en utilisant la fonction)</a:t>
            </a:r>
          </a:p>
          <a:p>
            <a:r>
              <a:rPr lang="fr-FR" sz="2000" b="1" dirty="0" smtClean="0">
                <a:solidFill>
                  <a:srgbClr val="FF0000"/>
                </a:solidFill>
              </a:rPr>
              <a:t>Exemple:</a:t>
            </a:r>
            <a:r>
              <a:rPr lang="fr-FR" sz="2000" dirty="0" smtClean="0"/>
              <a:t> Soit « </a:t>
            </a:r>
            <a:r>
              <a:rPr lang="fr-FR" sz="2000" dirty="0" err="1" smtClean="0"/>
              <a:t>height</a:t>
            </a:r>
            <a:r>
              <a:rPr lang="fr-FR" sz="2000" dirty="0" smtClean="0"/>
              <a:t> » les tailles extraites du jeu de données « </a:t>
            </a:r>
            <a:r>
              <a:rPr lang="fr-FR" sz="2000" dirty="0" err="1" smtClean="0"/>
              <a:t>Woman</a:t>
            </a:r>
            <a:r>
              <a:rPr lang="fr-FR" sz="2000" dirty="0" smtClean="0"/>
              <a:t> »</a:t>
            </a:r>
            <a:endParaRPr lang="fr-FR" sz="2000"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3177" y="3935647"/>
            <a:ext cx="7381867" cy="1898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967553"/>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999C353-CD5F-45DD-824D-F1684B269FE6}" type="slidenum">
              <a:rPr lang="fr-FR" smtClean="0"/>
              <a:pPr/>
              <a:t>44</a:t>
            </a:fld>
            <a:endParaRPr lang="fr-FR" dirty="0"/>
          </a:p>
        </p:txBody>
      </p:sp>
      <p:pic>
        <p:nvPicPr>
          <p:cNvPr id="5" name="Image 9" descr="logo-espri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66322" y="5770626"/>
            <a:ext cx="1870710" cy="600710"/>
          </a:xfrm>
          <a:prstGeom prst="rect">
            <a:avLst/>
          </a:prstGeom>
          <a:noFill/>
          <a:ln>
            <a:noFill/>
          </a:ln>
        </p:spPr>
      </p:pic>
      <p:sp>
        <p:nvSpPr>
          <p:cNvPr id="7" name="Rectangle : coins arrondis 6">
            <a:extLst>
              <a:ext uri="{FF2B5EF4-FFF2-40B4-BE49-F238E27FC236}">
                <a16:creationId xmlns:a16="http://schemas.microsoft.com/office/drawing/2014/main" xmlns="" id="{AA8E2EC2-18F6-499E-A93A-2724E3184797}"/>
              </a:ext>
            </a:extLst>
          </p:cNvPr>
          <p:cNvSpPr/>
          <p:nvPr/>
        </p:nvSpPr>
        <p:spPr>
          <a:xfrm>
            <a:off x="352426" y="1378039"/>
            <a:ext cx="11487149" cy="495836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dirty="0">
              <a:solidFill>
                <a:schemeClr val="tx1"/>
              </a:solidFill>
            </a:endParaRPr>
          </a:p>
        </p:txBody>
      </p:sp>
      <p:sp>
        <p:nvSpPr>
          <p:cNvPr id="10" name="Rectangle 9">
            <a:extLst>
              <a:ext uri="{FF2B5EF4-FFF2-40B4-BE49-F238E27FC236}">
                <a16:creationId xmlns:a16="http://schemas.microsoft.com/office/drawing/2014/main" xmlns="" id="{030488EA-CB10-495F-87F6-24CBBE655C31}"/>
              </a:ext>
            </a:extLst>
          </p:cNvPr>
          <p:cNvSpPr/>
          <p:nvPr/>
        </p:nvSpPr>
        <p:spPr>
          <a:xfrm>
            <a:off x="933450" y="1497930"/>
            <a:ext cx="9772650" cy="4893647"/>
          </a:xfrm>
          <a:prstGeom prst="rect">
            <a:avLst/>
          </a:prstGeom>
        </p:spPr>
        <p:txBody>
          <a:bodyPr wrap="square">
            <a:spAutoFit/>
          </a:bodyPr>
          <a:lstStyle/>
          <a:p>
            <a:r>
              <a:rPr lang="fr-FR" sz="2400" b="1" dirty="0" smtClean="0">
                <a:cs typeface="Times New Roman" pitchFamily="18" charset="0"/>
              </a:rPr>
              <a:t>Sous R:</a:t>
            </a:r>
          </a:p>
          <a:p>
            <a:pPr>
              <a:buFont typeface="Wingdings" panose="05000000000000000000" pitchFamily="2" charset="2"/>
              <a:buChar char="§"/>
            </a:pPr>
            <a:endParaRPr lang="fr-FR" sz="2400" dirty="0">
              <a:cs typeface="Times New Roman" pitchFamily="18" charset="0"/>
            </a:endParaRPr>
          </a:p>
          <a:p>
            <a:pPr>
              <a:buFont typeface="Wingdings" panose="05000000000000000000" pitchFamily="2" charset="2"/>
              <a:buChar char="§"/>
            </a:pPr>
            <a:r>
              <a:rPr lang="fr-FR" sz="2400" dirty="0" smtClean="0">
                <a:cs typeface="Times New Roman" pitchFamily="18" charset="0"/>
              </a:rPr>
              <a:t>Une </a:t>
            </a:r>
            <a:r>
              <a:rPr lang="fr-FR" sz="2400" dirty="0">
                <a:cs typeface="Times New Roman" pitchFamily="18" charset="0"/>
              </a:rPr>
              <a:t>valeur manquante est indiquée par NA :</a:t>
            </a:r>
          </a:p>
          <a:p>
            <a:pPr marL="109728" indent="0">
              <a:buNone/>
            </a:pPr>
            <a:r>
              <a:rPr lang="pl-PL" sz="2400" dirty="0">
                <a:solidFill>
                  <a:srgbClr val="C00000"/>
                </a:solidFill>
                <a:cs typeface="Times New Roman" pitchFamily="18" charset="0"/>
              </a:rPr>
              <a:t>u = c(31, 43, NA, 36, NA) </a:t>
            </a:r>
            <a:endParaRPr lang="fr-FR" sz="2400" dirty="0">
              <a:solidFill>
                <a:srgbClr val="C00000"/>
              </a:solidFill>
              <a:cs typeface="Times New Roman" pitchFamily="18" charset="0"/>
            </a:endParaRPr>
          </a:p>
          <a:p>
            <a:pPr marL="109728" indent="0">
              <a:buNone/>
            </a:pPr>
            <a:r>
              <a:rPr lang="pl-PL" sz="2400" dirty="0">
                <a:solidFill>
                  <a:srgbClr val="C00000"/>
                </a:solidFill>
                <a:cs typeface="Times New Roman" pitchFamily="18" charset="0"/>
              </a:rPr>
              <a:t>is.na(u) </a:t>
            </a:r>
            <a:endParaRPr lang="fr-FR" sz="2400" dirty="0">
              <a:solidFill>
                <a:srgbClr val="C00000"/>
              </a:solidFill>
              <a:cs typeface="Times New Roman" pitchFamily="18" charset="0"/>
            </a:endParaRPr>
          </a:p>
          <a:p>
            <a:pPr marL="109728" indent="0">
              <a:buNone/>
            </a:pPr>
            <a:r>
              <a:rPr lang="fr-FR" sz="2400" dirty="0">
                <a:cs typeface="Times New Roman" pitchFamily="18" charset="0"/>
              </a:rPr>
              <a:t>On ignore les valeurs manquantes :</a:t>
            </a:r>
          </a:p>
          <a:p>
            <a:pPr marL="109728" indent="0">
              <a:buNone/>
            </a:pPr>
            <a:r>
              <a:rPr lang="fr-FR" sz="2400" dirty="0" err="1">
                <a:solidFill>
                  <a:srgbClr val="C00000"/>
                </a:solidFill>
                <a:cs typeface="Times New Roman" pitchFamily="18" charset="0"/>
              </a:rPr>
              <a:t>mean</a:t>
            </a:r>
            <a:r>
              <a:rPr lang="fr-FR" sz="2400" dirty="0">
                <a:solidFill>
                  <a:srgbClr val="C00000"/>
                </a:solidFill>
                <a:cs typeface="Times New Roman" pitchFamily="18" charset="0"/>
              </a:rPr>
              <a:t>(u, na.rm = TRUE) </a:t>
            </a:r>
          </a:p>
          <a:p>
            <a:pPr algn="just">
              <a:buFont typeface="Wingdings" panose="05000000000000000000" pitchFamily="2" charset="2"/>
              <a:buChar char="§"/>
            </a:pPr>
            <a:r>
              <a:rPr lang="fr-FR" sz="2400" dirty="0">
                <a:cs typeface="Times New Roman" pitchFamily="18" charset="0"/>
              </a:rPr>
              <a:t>Si le fichier texte données contient des données manquantes, on ignore les individus correspondants en utilisant la commande </a:t>
            </a:r>
            <a:r>
              <a:rPr lang="fr-FR" sz="2400" dirty="0" err="1">
                <a:solidFill>
                  <a:srgbClr val="C00000"/>
                </a:solidFill>
                <a:cs typeface="Times New Roman" pitchFamily="18" charset="0"/>
              </a:rPr>
              <a:t>na.strings</a:t>
            </a:r>
            <a:r>
              <a:rPr lang="fr-FR" sz="2400" dirty="0">
                <a:solidFill>
                  <a:srgbClr val="C00000"/>
                </a:solidFill>
                <a:cs typeface="Times New Roman" pitchFamily="18" charset="0"/>
              </a:rPr>
              <a:t> </a:t>
            </a:r>
            <a:r>
              <a:rPr lang="fr-FR" sz="2400" dirty="0">
                <a:cs typeface="Times New Roman" pitchFamily="18" charset="0"/>
              </a:rPr>
              <a:t>:</a:t>
            </a:r>
          </a:p>
          <a:p>
            <a:pPr marL="109728" indent="0" algn="just">
              <a:buNone/>
            </a:pPr>
            <a:r>
              <a:rPr lang="fr-FR" sz="2400" dirty="0" err="1">
                <a:solidFill>
                  <a:srgbClr val="C00000"/>
                </a:solidFill>
                <a:cs typeface="Times New Roman" pitchFamily="18" charset="0"/>
              </a:rPr>
              <a:t>donnees</a:t>
            </a:r>
            <a:r>
              <a:rPr lang="fr-FR" sz="2400" dirty="0">
                <a:solidFill>
                  <a:srgbClr val="C00000"/>
                </a:solidFill>
                <a:cs typeface="Times New Roman" pitchFamily="18" charset="0"/>
              </a:rPr>
              <a:t> = </a:t>
            </a:r>
            <a:r>
              <a:rPr lang="fr-FR" sz="2400" dirty="0" err="1">
                <a:solidFill>
                  <a:srgbClr val="C00000"/>
                </a:solidFill>
                <a:cs typeface="Times New Roman" pitchFamily="18" charset="0"/>
              </a:rPr>
              <a:t>read.table</a:t>
            </a:r>
            <a:r>
              <a:rPr lang="fr-FR" sz="2400" dirty="0">
                <a:solidFill>
                  <a:srgbClr val="C00000"/>
                </a:solidFill>
                <a:cs typeface="Times New Roman" pitchFamily="18" charset="0"/>
              </a:rPr>
              <a:t>("donnees.txt", header = T, </a:t>
            </a:r>
            <a:r>
              <a:rPr lang="fr-FR" sz="2400" dirty="0" err="1">
                <a:solidFill>
                  <a:srgbClr val="C00000"/>
                </a:solidFill>
                <a:cs typeface="Times New Roman" pitchFamily="18" charset="0"/>
              </a:rPr>
              <a:t>na.strings</a:t>
            </a:r>
            <a:r>
              <a:rPr lang="fr-FR" sz="2400" dirty="0">
                <a:solidFill>
                  <a:srgbClr val="C00000"/>
                </a:solidFill>
                <a:cs typeface="Times New Roman" pitchFamily="18" charset="0"/>
              </a:rPr>
              <a:t> = "NA")</a:t>
            </a:r>
          </a:p>
          <a:p>
            <a:pPr algn="just">
              <a:buFont typeface="Wingdings" panose="05000000000000000000" pitchFamily="2" charset="2"/>
              <a:buChar char="§"/>
            </a:pPr>
            <a:r>
              <a:rPr lang="fr-FR" sz="2400" dirty="0">
                <a:cs typeface="Times New Roman" pitchFamily="18" charset="0"/>
              </a:rPr>
              <a:t>On peut également créer un nouveau jeu de données sans valeur manquante en faisant :</a:t>
            </a:r>
          </a:p>
          <a:p>
            <a:pPr marL="109728" indent="0" algn="just">
              <a:buNone/>
            </a:pPr>
            <a:r>
              <a:rPr lang="fr-FR" sz="2400" dirty="0">
                <a:solidFill>
                  <a:srgbClr val="C00000"/>
                </a:solidFill>
              </a:rPr>
              <a:t>donnees2 = </a:t>
            </a:r>
            <a:r>
              <a:rPr lang="fr-FR" sz="2400" dirty="0" err="1">
                <a:solidFill>
                  <a:srgbClr val="C00000"/>
                </a:solidFill>
              </a:rPr>
              <a:t>na.omit</a:t>
            </a:r>
            <a:r>
              <a:rPr lang="fr-FR" sz="2400" dirty="0">
                <a:solidFill>
                  <a:srgbClr val="C00000"/>
                </a:solidFill>
              </a:rPr>
              <a:t>(</a:t>
            </a:r>
            <a:r>
              <a:rPr lang="fr-FR" sz="2400" dirty="0" err="1">
                <a:solidFill>
                  <a:srgbClr val="C00000"/>
                </a:solidFill>
              </a:rPr>
              <a:t>donnees</a:t>
            </a:r>
            <a:r>
              <a:rPr lang="fr-FR" sz="2400" dirty="0">
                <a:solidFill>
                  <a:srgbClr val="C00000"/>
                </a:solidFill>
              </a:rPr>
              <a:t>) </a:t>
            </a:r>
            <a:endParaRPr lang="fr-FR" sz="2400" dirty="0">
              <a:solidFill>
                <a:srgbClr val="C00000"/>
              </a:solidFill>
              <a:cs typeface="Times New Roman" pitchFamily="18" charset="0"/>
            </a:endParaRPr>
          </a:p>
        </p:txBody>
      </p:sp>
      <p:sp>
        <p:nvSpPr>
          <p:cNvPr id="8" name="Rectangle : coins arrondis 3">
            <a:extLst>
              <a:ext uri="{FF2B5EF4-FFF2-40B4-BE49-F238E27FC236}">
                <a16:creationId xmlns:a16="http://schemas.microsoft.com/office/drawing/2014/main" xmlns="" id="{4DA6CE65-D62B-43AD-B2AF-9993213ACBC1}"/>
              </a:ext>
            </a:extLst>
          </p:cNvPr>
          <p:cNvSpPr/>
          <p:nvPr/>
        </p:nvSpPr>
        <p:spPr>
          <a:xfrm>
            <a:off x="457200" y="482823"/>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4000" dirty="0" smtClean="0">
                <a:solidFill>
                  <a:srgbClr val="C00000"/>
                </a:solidFill>
              </a:rPr>
              <a:t>       </a:t>
            </a:r>
            <a:r>
              <a:rPr lang="fr-FR" sz="4000" b="1" dirty="0" smtClean="0">
                <a:solidFill>
                  <a:schemeClr val="bg2">
                    <a:lumMod val="50000"/>
                  </a:schemeClr>
                </a:solidFill>
              </a:rPr>
              <a:t>2. Données Manquantes</a:t>
            </a:r>
            <a:endParaRPr lang="fr-FR" sz="4000" b="1" dirty="0">
              <a:solidFill>
                <a:schemeClr val="bg2">
                  <a:lumMod val="50000"/>
                </a:schemeClr>
              </a:solidFill>
            </a:endParaRPr>
          </a:p>
        </p:txBody>
      </p:sp>
    </p:spTree>
    <p:extLst>
      <p:ext uri="{BB962C8B-B14F-4D97-AF65-F5344CB8AC3E}">
        <p14:creationId xmlns:p14="http://schemas.microsoft.com/office/powerpoint/2010/main" val="4026877163"/>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999C353-CD5F-45DD-824D-F1684B269FE6}" type="slidenum">
              <a:rPr lang="fr-FR" smtClean="0"/>
              <a:pPr/>
              <a:t>45</a:t>
            </a:fld>
            <a:endParaRPr lang="fr-FR" dirty="0"/>
          </a:p>
        </p:txBody>
      </p:sp>
      <p:pic>
        <p:nvPicPr>
          <p:cNvPr id="5" name="Image 9" descr="logo-espri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10600" y="6006211"/>
            <a:ext cx="1870710" cy="600710"/>
          </a:xfrm>
          <a:prstGeom prst="rect">
            <a:avLst/>
          </a:prstGeom>
          <a:noFill/>
          <a:ln>
            <a:noFill/>
          </a:ln>
        </p:spPr>
      </p:pic>
      <p:sp>
        <p:nvSpPr>
          <p:cNvPr id="11" name="Rectangle : coins arrondis 10">
            <a:extLst>
              <a:ext uri="{FF2B5EF4-FFF2-40B4-BE49-F238E27FC236}">
                <a16:creationId xmlns:a16="http://schemas.microsoft.com/office/drawing/2014/main" xmlns="" id="{E43F4658-DAF9-483A-8A67-D62C2FFF14AF}"/>
              </a:ext>
            </a:extLst>
          </p:cNvPr>
          <p:cNvSpPr/>
          <p:nvPr/>
        </p:nvSpPr>
        <p:spPr>
          <a:xfrm>
            <a:off x="523875" y="1409700"/>
            <a:ext cx="11030110" cy="45965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b="1" dirty="0" smtClean="0">
                <a:solidFill>
                  <a:schemeClr val="tx1"/>
                </a:solidFill>
                <a:cs typeface="Times New Roman" pitchFamily="18" charset="0"/>
              </a:rPr>
              <a:t>Gestion des valeurs manquantes:</a:t>
            </a:r>
          </a:p>
          <a:p>
            <a:pPr>
              <a:buFont typeface="Wingdings" panose="05000000000000000000" pitchFamily="2" charset="2"/>
              <a:buChar char="Ø"/>
            </a:pPr>
            <a:r>
              <a:rPr lang="fr-FR" sz="2800" dirty="0" smtClean="0">
                <a:solidFill>
                  <a:schemeClr val="tx1"/>
                </a:solidFill>
                <a:cs typeface="Times New Roman" pitchFamily="18" charset="0"/>
              </a:rPr>
              <a:t>Compter </a:t>
            </a:r>
            <a:r>
              <a:rPr lang="fr-FR" sz="2800" dirty="0">
                <a:solidFill>
                  <a:schemeClr val="tx1"/>
                </a:solidFill>
                <a:cs typeface="Times New Roman" pitchFamily="18" charset="0"/>
              </a:rPr>
              <a:t>le nombre de valeurs manquantes dans chacune des colonnes</a:t>
            </a:r>
          </a:p>
          <a:p>
            <a:pPr marL="109728" indent="0">
              <a:buNone/>
            </a:pPr>
            <a:r>
              <a:rPr lang="en-US" sz="2800" dirty="0" err="1" smtClean="0">
                <a:solidFill>
                  <a:srgbClr val="C00000"/>
                </a:solidFill>
              </a:rPr>
              <a:t>sapply</a:t>
            </a:r>
            <a:r>
              <a:rPr lang="en-US" sz="2800" dirty="0" smtClean="0">
                <a:solidFill>
                  <a:srgbClr val="C00000"/>
                </a:solidFill>
              </a:rPr>
              <a:t>(</a:t>
            </a:r>
            <a:r>
              <a:rPr lang="en-US" sz="2800" dirty="0" err="1" smtClean="0">
                <a:solidFill>
                  <a:srgbClr val="C00000"/>
                </a:solidFill>
              </a:rPr>
              <a:t>données</a:t>
            </a:r>
            <a:r>
              <a:rPr lang="en-US" sz="2800" dirty="0" smtClean="0">
                <a:solidFill>
                  <a:srgbClr val="C00000"/>
                </a:solidFill>
              </a:rPr>
              <a:t>, sum(is.na(x</a:t>
            </a:r>
            <a:r>
              <a:rPr lang="en-US" sz="2800" dirty="0">
                <a:solidFill>
                  <a:srgbClr val="C00000"/>
                </a:solidFill>
              </a:rPr>
              <a:t>)))</a:t>
            </a:r>
            <a:endParaRPr lang="fr-FR" sz="2800" dirty="0">
              <a:solidFill>
                <a:srgbClr val="C00000"/>
              </a:solidFill>
            </a:endParaRPr>
          </a:p>
          <a:p>
            <a:pPr marL="109728" indent="0">
              <a:buNone/>
            </a:pPr>
            <a:endParaRPr lang="fr-FR" sz="2800" dirty="0">
              <a:solidFill>
                <a:schemeClr val="tx1"/>
              </a:solidFill>
            </a:endParaRPr>
          </a:p>
          <a:p>
            <a:pPr>
              <a:buFont typeface="Wingdings" panose="05000000000000000000" pitchFamily="2" charset="2"/>
              <a:buChar char="Ø"/>
            </a:pPr>
            <a:r>
              <a:rPr lang="fr-FR" sz="2800" dirty="0">
                <a:solidFill>
                  <a:schemeClr val="tx1"/>
                </a:solidFill>
                <a:cs typeface="Times New Roman" pitchFamily="18" charset="0"/>
              </a:rPr>
              <a:t>Compter le nombre de NA dans une colonne en particulier</a:t>
            </a:r>
          </a:p>
          <a:p>
            <a:pPr marL="109728" indent="0">
              <a:buNone/>
            </a:pPr>
            <a:r>
              <a:rPr lang="fr-FR" sz="2800" dirty="0" err="1" smtClean="0">
                <a:solidFill>
                  <a:srgbClr val="C00000"/>
                </a:solidFill>
              </a:rPr>
              <a:t>sum</a:t>
            </a:r>
            <a:r>
              <a:rPr lang="fr-FR" sz="2800" dirty="0" smtClean="0">
                <a:solidFill>
                  <a:srgbClr val="C00000"/>
                </a:solidFill>
              </a:rPr>
              <a:t>(is.na(</a:t>
            </a:r>
            <a:r>
              <a:rPr lang="fr-FR" sz="2800" dirty="0" err="1" smtClean="0">
                <a:solidFill>
                  <a:srgbClr val="C00000"/>
                </a:solidFill>
              </a:rPr>
              <a:t>données$colonne</a:t>
            </a:r>
            <a:r>
              <a:rPr lang="fr-FR" sz="2800" dirty="0">
                <a:solidFill>
                  <a:srgbClr val="C00000"/>
                </a:solidFill>
              </a:rPr>
              <a:t>))</a:t>
            </a:r>
          </a:p>
          <a:p>
            <a:pPr marL="109728" indent="0">
              <a:buNone/>
            </a:pPr>
            <a:endParaRPr lang="fr-FR" sz="2800" dirty="0">
              <a:solidFill>
                <a:schemeClr val="tx1"/>
              </a:solidFill>
            </a:endParaRPr>
          </a:p>
          <a:p>
            <a:pPr>
              <a:buFont typeface="Wingdings" panose="05000000000000000000" pitchFamily="2" charset="2"/>
              <a:buChar char="Ø"/>
            </a:pPr>
            <a:r>
              <a:rPr lang="fr-FR" sz="2800" dirty="0">
                <a:solidFill>
                  <a:schemeClr val="tx1"/>
                </a:solidFill>
                <a:cs typeface="Times New Roman" pitchFamily="18" charset="0"/>
              </a:rPr>
              <a:t>Afficher les lignes dont la valeur dans la colonne "colonne" est NA</a:t>
            </a:r>
          </a:p>
          <a:p>
            <a:pPr marL="109728" indent="0">
              <a:buNone/>
            </a:pPr>
            <a:r>
              <a:rPr lang="fr-FR" sz="2800" dirty="0" err="1" smtClean="0">
                <a:solidFill>
                  <a:schemeClr val="tx1"/>
                </a:solidFill>
              </a:rPr>
              <a:t>d</a:t>
            </a:r>
            <a:r>
              <a:rPr lang="fr-FR" sz="2800" dirty="0" err="1" smtClean="0">
                <a:solidFill>
                  <a:srgbClr val="C00000"/>
                </a:solidFill>
              </a:rPr>
              <a:t>ataset</a:t>
            </a:r>
            <a:r>
              <a:rPr lang="fr-FR" sz="2800" dirty="0" smtClean="0">
                <a:solidFill>
                  <a:srgbClr val="C00000"/>
                </a:solidFill>
              </a:rPr>
              <a:t>[is.na(</a:t>
            </a:r>
            <a:r>
              <a:rPr lang="fr-FR" sz="2800" dirty="0" err="1" smtClean="0">
                <a:solidFill>
                  <a:srgbClr val="C00000"/>
                </a:solidFill>
              </a:rPr>
              <a:t>données$colonne</a:t>
            </a:r>
            <a:r>
              <a:rPr lang="fr-FR" sz="2800" dirty="0">
                <a:solidFill>
                  <a:srgbClr val="C00000"/>
                </a:solidFill>
              </a:rPr>
              <a:t>),]</a:t>
            </a:r>
          </a:p>
        </p:txBody>
      </p:sp>
      <p:sp>
        <p:nvSpPr>
          <p:cNvPr id="7" name="Rectangle : coins arrondis 3">
            <a:extLst>
              <a:ext uri="{FF2B5EF4-FFF2-40B4-BE49-F238E27FC236}">
                <a16:creationId xmlns:a16="http://schemas.microsoft.com/office/drawing/2014/main" xmlns="" id="{4DA6CE65-D62B-43AD-B2AF-9993213ACBC1}"/>
              </a:ext>
            </a:extLst>
          </p:cNvPr>
          <p:cNvSpPr/>
          <p:nvPr/>
        </p:nvSpPr>
        <p:spPr>
          <a:xfrm>
            <a:off x="457200" y="482823"/>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4000" dirty="0" smtClean="0">
                <a:solidFill>
                  <a:srgbClr val="C00000"/>
                </a:solidFill>
              </a:rPr>
              <a:t>       </a:t>
            </a:r>
            <a:r>
              <a:rPr lang="fr-FR" sz="4000" b="1" dirty="0" smtClean="0">
                <a:solidFill>
                  <a:schemeClr val="bg2">
                    <a:lumMod val="50000"/>
                  </a:schemeClr>
                </a:solidFill>
              </a:rPr>
              <a:t>2. Données Manquantes</a:t>
            </a:r>
            <a:endParaRPr lang="fr-FR" sz="4000" b="1" dirty="0">
              <a:solidFill>
                <a:schemeClr val="bg2">
                  <a:lumMod val="50000"/>
                </a:schemeClr>
              </a:solidFill>
            </a:endParaRPr>
          </a:p>
        </p:txBody>
      </p:sp>
    </p:spTree>
    <p:extLst>
      <p:ext uri="{BB962C8B-B14F-4D97-AF65-F5344CB8AC3E}">
        <p14:creationId xmlns:p14="http://schemas.microsoft.com/office/powerpoint/2010/main" val="1242583422"/>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772732" y="1481328"/>
            <a:ext cx="10586434" cy="5116024"/>
          </a:xfrm>
        </p:spPr>
        <p:txBody>
          <a:bodyPr>
            <a:normAutofit fontScale="47500" lnSpcReduction="20000"/>
          </a:bodyPr>
          <a:lstStyle/>
          <a:p>
            <a:endParaRPr lang="fr-FR" sz="3200" dirty="0">
              <a:latin typeface="Times New Roman" pitchFamily="18" charset="0"/>
              <a:cs typeface="Times New Roman" pitchFamily="18" charset="0"/>
            </a:endParaRPr>
          </a:p>
          <a:p>
            <a:pPr marL="109728" indent="0">
              <a:buNone/>
            </a:pPr>
            <a:r>
              <a:rPr lang="fr-FR" sz="5100" dirty="0">
                <a:cs typeface="Times New Roman" pitchFamily="18" charset="0"/>
              </a:rPr>
              <a:t>De nombreux jeux de données sur lesquels vous serez amenés à travailler peuvent comporter des variables avec des caractères spéciaux.</a:t>
            </a:r>
          </a:p>
          <a:p>
            <a:pPr marL="109728" indent="0">
              <a:buNone/>
            </a:pPr>
            <a:endParaRPr lang="fr-FR" sz="5100" dirty="0">
              <a:cs typeface="Times New Roman" pitchFamily="18" charset="0"/>
            </a:endParaRPr>
          </a:p>
          <a:p>
            <a:pPr marL="109728" indent="0">
              <a:buNone/>
            </a:pPr>
            <a:r>
              <a:rPr lang="fr-FR" sz="5100" dirty="0">
                <a:cs typeface="Times New Roman" pitchFamily="18" charset="0"/>
              </a:rPr>
              <a:t>Pour enlever tous les caractères spéciaux pour faciliter les calculs sur ces données. Nous utilisons la fonction </a:t>
            </a:r>
            <a:r>
              <a:rPr lang="fr-FR" sz="5100" dirty="0" err="1">
                <a:cs typeface="Times New Roman" pitchFamily="18" charset="0"/>
              </a:rPr>
              <a:t>gsub</a:t>
            </a:r>
            <a:r>
              <a:rPr lang="fr-FR" sz="5100" dirty="0">
                <a:cs typeface="Times New Roman" pitchFamily="18" charset="0"/>
              </a:rPr>
              <a:t>() qui permet de remplacer des caractères par d'autres.</a:t>
            </a:r>
          </a:p>
          <a:p>
            <a:pPr marL="109728" indent="0">
              <a:buNone/>
            </a:pPr>
            <a:endParaRPr lang="fr-FR" sz="5100" dirty="0">
              <a:cs typeface="Times New Roman" pitchFamily="18" charset="0"/>
            </a:endParaRPr>
          </a:p>
          <a:p>
            <a:pPr marL="109728" indent="0">
              <a:buNone/>
            </a:pPr>
            <a:r>
              <a:rPr lang="fr-FR" sz="5100" b="1" dirty="0">
                <a:solidFill>
                  <a:srgbClr val="C00000"/>
                </a:solidFill>
                <a:cs typeface="Times New Roman" pitchFamily="18" charset="0"/>
              </a:rPr>
              <a:t>Exemple : Passer de $8,684 à 8684</a:t>
            </a:r>
          </a:p>
          <a:p>
            <a:pPr marL="109728" indent="0">
              <a:buNone/>
            </a:pPr>
            <a:endParaRPr lang="fr-FR" sz="5100" dirty="0">
              <a:cs typeface="Times New Roman" pitchFamily="18" charset="0"/>
            </a:endParaRPr>
          </a:p>
          <a:p>
            <a:pPr marL="109728" indent="0">
              <a:buNone/>
            </a:pPr>
            <a:r>
              <a:rPr lang="fr-FR" sz="5100" dirty="0" err="1">
                <a:solidFill>
                  <a:srgbClr val="0070C0"/>
                </a:solidFill>
                <a:cs typeface="Times New Roman" pitchFamily="18" charset="0"/>
              </a:rPr>
              <a:t>gsub</a:t>
            </a:r>
            <a:r>
              <a:rPr lang="fr-FR" sz="5100" dirty="0">
                <a:solidFill>
                  <a:srgbClr val="0070C0"/>
                </a:solidFill>
                <a:cs typeface="Times New Roman" pitchFamily="18" charset="0"/>
              </a:rPr>
              <a:t>(",","",</a:t>
            </a:r>
            <a:r>
              <a:rPr lang="fr-FR" sz="5100" dirty="0" err="1">
                <a:solidFill>
                  <a:srgbClr val="0070C0"/>
                </a:solidFill>
                <a:cs typeface="Times New Roman" pitchFamily="18" charset="0"/>
              </a:rPr>
              <a:t>données$colonne</a:t>
            </a:r>
            <a:r>
              <a:rPr lang="fr-FR" sz="5100" dirty="0">
                <a:solidFill>
                  <a:srgbClr val="0070C0"/>
                </a:solidFill>
                <a:cs typeface="Times New Roman" pitchFamily="18" charset="0"/>
              </a:rPr>
              <a:t>)</a:t>
            </a:r>
          </a:p>
          <a:p>
            <a:pPr marL="109728" indent="0">
              <a:buNone/>
            </a:pPr>
            <a:r>
              <a:rPr lang="fr-FR" sz="5100" dirty="0" err="1">
                <a:solidFill>
                  <a:srgbClr val="0070C0"/>
                </a:solidFill>
                <a:cs typeface="Times New Roman" pitchFamily="18" charset="0"/>
              </a:rPr>
              <a:t>gsub</a:t>
            </a:r>
            <a:r>
              <a:rPr lang="fr-FR" sz="5100" dirty="0">
                <a:solidFill>
                  <a:srgbClr val="0070C0"/>
                </a:solidFill>
                <a:cs typeface="Times New Roman" pitchFamily="18" charset="0"/>
              </a:rPr>
              <a:t>("\\$","",</a:t>
            </a:r>
            <a:r>
              <a:rPr lang="fr-FR" sz="5100" dirty="0" err="1">
                <a:solidFill>
                  <a:srgbClr val="0070C0"/>
                </a:solidFill>
                <a:cs typeface="Times New Roman" pitchFamily="18" charset="0"/>
              </a:rPr>
              <a:t>données$colonne</a:t>
            </a:r>
            <a:r>
              <a:rPr lang="fr-FR" sz="5100" dirty="0">
                <a:solidFill>
                  <a:srgbClr val="0070C0"/>
                </a:solidFill>
                <a:cs typeface="Times New Roman" pitchFamily="18" charset="0"/>
              </a:rPr>
              <a:t>)</a:t>
            </a:r>
          </a:p>
          <a:p>
            <a:pPr marL="109728" indent="0">
              <a:buNone/>
            </a:pPr>
            <a:r>
              <a:rPr lang="fr-FR" sz="2400" dirty="0">
                <a:solidFill>
                  <a:srgbClr val="0070C0"/>
                </a:solidFill>
              </a:rPr>
              <a:t/>
            </a:r>
            <a:br>
              <a:rPr lang="fr-FR" sz="2400" dirty="0">
                <a:solidFill>
                  <a:srgbClr val="0070C0"/>
                </a:solidFill>
              </a:rPr>
            </a:br>
            <a:endParaRPr lang="fr-FR" sz="2600" dirty="0">
              <a:solidFill>
                <a:srgbClr val="0070C0"/>
              </a:solidFill>
              <a:latin typeface="Times New Roman" pitchFamily="18" charset="0"/>
              <a:cs typeface="Times New Roman" pitchFamily="18" charset="0"/>
            </a:endParaRPr>
          </a:p>
        </p:txBody>
      </p:sp>
      <p:sp>
        <p:nvSpPr>
          <p:cNvPr id="6" name="Espace réservé du numéro de diapositive 5"/>
          <p:cNvSpPr>
            <a:spLocks noGrp="1"/>
          </p:cNvSpPr>
          <p:nvPr>
            <p:ph type="sldNum" sz="quarter" idx="12"/>
          </p:nvPr>
        </p:nvSpPr>
        <p:spPr/>
        <p:txBody>
          <a:bodyPr/>
          <a:lstStyle/>
          <a:p>
            <a:fld id="{8999C353-CD5F-45DD-824D-F1684B269FE6}" type="slidenum">
              <a:rPr lang="fr-FR" smtClean="0"/>
              <a:pPr/>
              <a:t>46</a:t>
            </a:fld>
            <a:endParaRPr lang="fr-FR" dirty="0"/>
          </a:p>
        </p:txBody>
      </p:sp>
      <p:pic>
        <p:nvPicPr>
          <p:cNvPr id="7" name="Image 9" descr="logo-esprit"/>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66322" y="5770626"/>
            <a:ext cx="1870710" cy="600710"/>
          </a:xfrm>
          <a:prstGeom prst="rect">
            <a:avLst/>
          </a:prstGeom>
          <a:noFill/>
          <a:ln>
            <a:noFill/>
          </a:ln>
        </p:spPr>
      </p:pic>
      <p:sp>
        <p:nvSpPr>
          <p:cNvPr id="8" name="Rectangle : coins arrondis 3">
            <a:extLst>
              <a:ext uri="{FF2B5EF4-FFF2-40B4-BE49-F238E27FC236}">
                <a16:creationId xmlns:a16="http://schemas.microsoft.com/office/drawing/2014/main" xmlns="" id="{4DA6CE65-D62B-43AD-B2AF-9993213ACBC1}"/>
              </a:ext>
            </a:extLst>
          </p:cNvPr>
          <p:cNvSpPr/>
          <p:nvPr/>
        </p:nvSpPr>
        <p:spPr>
          <a:xfrm>
            <a:off x="457200" y="482823"/>
            <a:ext cx="11487150" cy="790575"/>
          </a:xfrm>
          <a:prstGeom prst="round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fr-FR" sz="4000" dirty="0" smtClean="0">
                <a:solidFill>
                  <a:srgbClr val="C00000"/>
                </a:solidFill>
              </a:rPr>
              <a:t>       </a:t>
            </a:r>
            <a:r>
              <a:rPr lang="fr-FR" sz="4000" b="1" dirty="0" smtClean="0">
                <a:solidFill>
                  <a:schemeClr val="bg2">
                    <a:lumMod val="50000"/>
                  </a:schemeClr>
                </a:solidFill>
              </a:rPr>
              <a:t>3. Données Spéciales</a:t>
            </a:r>
            <a:endParaRPr lang="fr-FR" sz="4000" b="1" dirty="0">
              <a:solidFill>
                <a:schemeClr val="bg2">
                  <a:lumMod val="50000"/>
                </a:schemeClr>
              </a:solidFill>
            </a:endParaRPr>
          </a:p>
        </p:txBody>
      </p:sp>
      <p:sp>
        <p:nvSpPr>
          <p:cNvPr id="9" name="Rectangle : coins arrondis 10">
            <a:extLst>
              <a:ext uri="{FF2B5EF4-FFF2-40B4-BE49-F238E27FC236}">
                <a16:creationId xmlns:a16="http://schemas.microsoft.com/office/drawing/2014/main" xmlns="" id="{E43F4658-DAF9-483A-8A67-D62C2FFF14AF}"/>
              </a:ext>
            </a:extLst>
          </p:cNvPr>
          <p:cNvSpPr/>
          <p:nvPr/>
        </p:nvSpPr>
        <p:spPr>
          <a:xfrm>
            <a:off x="523875" y="1409700"/>
            <a:ext cx="11030110" cy="45965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2800" dirty="0">
              <a:solidFill>
                <a:srgbClr val="C00000"/>
              </a:solidFill>
            </a:endParaRP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 ESPRIT (1)</Template>
  <TotalTime>2902</TotalTime>
  <Words>1921</Words>
  <Application>Microsoft Office PowerPoint</Application>
  <PresentationFormat>Grand écran</PresentationFormat>
  <Paragraphs>344</Paragraphs>
  <Slides>46</Slides>
  <Notes>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46</vt:i4>
      </vt:variant>
    </vt:vector>
  </HeadingPairs>
  <TitlesOfParts>
    <vt:vector size="53" baseType="lpstr">
      <vt:lpstr>Arial</vt:lpstr>
      <vt:lpstr>Calibri</vt:lpstr>
      <vt:lpstr>Calibri Light</vt:lpstr>
      <vt:lpstr>Cambria Math</vt:lpstr>
      <vt:lpstr>Times New Roman</vt:lpstr>
      <vt:lpstr>Wingdings</vt:lpstr>
      <vt:lpstr>Thème Office</vt:lpstr>
      <vt:lpstr>Préparation des données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Utilisateur Windows</dc:creator>
  <cp:lastModifiedBy>LEGION</cp:lastModifiedBy>
  <cp:revision>61</cp:revision>
  <dcterms:created xsi:type="dcterms:W3CDTF">2019-09-14T11:01:43Z</dcterms:created>
  <dcterms:modified xsi:type="dcterms:W3CDTF">2021-09-22T07:09:52Z</dcterms:modified>
</cp:coreProperties>
</file>